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a:t>
            </a:r>
          </a:p>
          <a:p>
            <a:r>
              <a:t>"Good morning, respected Professor and dear classmates. Today, I am proud to present CuraCascade—an open-source clinical genomics data warehouse, automated audit engine, and machine-learned triage framework designed to resolve a critical, silent failure mode in modern clinical medicine: unpropagated gene-disease evidence downgrades.</a:t>
            </a:r>
          </a:p>
          <a:p/>
          <a:p>
            <a:r>
              <a:t>Over the next 15 minutes, I will walk you through the biological problem, our 3NF database architecture, the longitudinal latency kinetics we discovered, our machine learning triage engine, and the empirical validation benchmark. Let's begin with the clinical motivation."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2):</a:t>
            </a:r>
          </a:p>
          <a:p>
            <a:r>
              <a:t>"To appreciate the significance of this project, consider this: when an expert body like ClinGen proves that a gene does not cause a disease, it takes an average of 3.2 years before clinical databases reflect that reality.</a:t>
            </a:r>
          </a:p>
          <a:p/>
          <a:p>
            <a:r>
              <a:t>During those 3.2 years, genetic testing laboratories continue to classify mutations in those invalid genes as 'Pathogenic'. In our genome-wide warehouse, we identified 51,251 unpropagated discrepancies. </a:t>
            </a:r>
          </a:p>
          <a:p/>
          <a:p>
            <a:r>
              <a:t>CuraCascade is an end-to-end bioinformatics engine that achieves 96.3% join precision to catch these errors automatically, and deploys machine learning with an AUROC of 0.857 to forecast which genes will be downgraded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3):</a:t>
            </a:r>
          </a:p>
          <a:p>
            <a:r>
              <a:t>"Before diving into software, we must understand the biological context. In the 1990s and early 2000s, hundreds of genes were linked to human disease based on small family studies. Scientists didn't have reference population databases like gnomAD, so naturally benign polymorphisms were mistakenly labeled as disease-causing mutations.</a:t>
            </a:r>
          </a:p>
          <a:p/>
          <a:p>
            <a:r>
              <a:t>To fix this, the NIH-funded Clinical Genome Resource (ClinGen) established Gene Curation Expert Panels. They evaluate gene validity on a standardized point matrix into categories: Definitive, Moderate, Limited, Disputed, and Refuted.</a:t>
            </a:r>
          </a:p>
          <a:p/>
          <a:p>
            <a:r>
              <a:t>Remarkably, systematic reappraisals revealed that up to 40% of genes historically screened on cardiomyopathy and arrhythmia panels should actually be downgraded to Disputed or Refuted!"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4):</a:t>
            </a:r>
          </a:p>
          <a:p>
            <a:r>
              <a:t>"Now, why does this happen? Look at the diagram on the right, which is Figure 1 from our publication.</a:t>
            </a:r>
          </a:p>
          <a:p/>
          <a:p>
            <a:r>
              <a:t>At the top, we have the expert consortium level—ClinGen GCEPs re-appraise a gene and publish a downgrade. But biomedical informatics is decentralized. There are no automated push notifications or webhook architectures connecting ClinGen to NCBI ClinVar or Genomics England PanelApp.</a:t>
            </a:r>
          </a:p>
          <a:p/>
          <a:p>
            <a:r>
              <a:t>As a result, NCBI ClinVar continues to report Pathogenic variants in that gene, and diagnostic exome panels continue to test for it. When an NGS pipeline runs, automated software pulls these assertions and prints out a clinical report diagnosing a healthy individual with a fatal genetic condition. The median duration of this disconnect is 3.2 years."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5):</a:t>
            </a:r>
          </a:p>
          <a:p>
            <a:r>
              <a:t>"Let me ground this in real-world clinical consequences. This is not just a theoretical database discrepancy.</a:t>
            </a:r>
          </a:p>
          <a:p/>
          <a:p>
            <a:r>
              <a:t>Consider MYLK2. In 2018, the ClinGen Cardiovascular GCEP formally refuted MYLK2 as a cause of hypertrophic cardiomyopathy. Yet for years, ClinVar retained Pathogenic assertions. Cardiologists who trusted ClinVar misdiagnosed asymptomatic individuals with HCM, recommending surgical implantation of defibrillators.</a:t>
            </a:r>
          </a:p>
          <a:p/>
          <a:p>
            <a:r>
              <a:t>In SCN1B and Brugada syndrome, false-positive reports triggered cascade screening—subjecting healthy children and relatives to invasive electrophysiology tests and severe psychological anxiety.</a:t>
            </a:r>
          </a:p>
          <a:p/>
          <a:p>
            <a:r>
              <a:t>When we multiply this across all diagnostic gene panels, we calculate hundreds of thousands of 'patient-years at risk'."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6):</a:t>
            </a:r>
          </a:p>
          <a:p>
            <a:r>
              <a:t>"To solve this systemic challenge, we architected CuraCascade around four engineering pillars:</a:t>
            </a:r>
          </a:p>
          <a:p/>
          <a:p>
            <a:r>
              <a:t>Pillar 1 is our 3NF Relational Warehouse. It integrates multi-source genomic repositories and pairs transactional SQLite with high-performance DuckDB columnar scanning.</a:t>
            </a:r>
          </a:p>
          <a:p/>
          <a:p>
            <a:r>
              <a:t>Pillar 2 is our Deterministic Audit Engine. It runs formal heuristic rules that classify discrepancies into Classes A, B, and C, outputting POSIX status codes for automated CI/CD pipeline blocking.</a:t>
            </a:r>
          </a:p>
          <a:p/>
          <a:p>
            <a:r>
              <a:t>Pillar 3 is our Longitudinal Survival Kinetics framework. Using Kaplan-Meier curves and Cox regression, we mathematically quantify how long it takes for discrepancies to resolve.</a:t>
            </a:r>
          </a:p>
          <a:p/>
          <a:p>
            <a:r>
              <a:t>Pillar 4 is our Supervised Machine Learning Forecaster. Rather than just waiting for errors to happen, our Random Forest model flags currently supported genes that are biologically primed for an imminent downgrade."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7):</a:t>
            </a:r>
          </a:p>
          <a:p>
            <a:r>
              <a:t>"Slide 7 showcases our database engineering architecture, illustrated in Figure 2 on the right.</a:t>
            </a:r>
          </a:p>
          <a:p/>
          <a:p>
            <a:r>
              <a:t>We designed a normalized Third Normal Form schema. The central hub is the 'genes' entity, connected via primary-to-foreign keys to 'diseases', 'clingen_curations', 'clinvar_variants', and 'panelapp_entries'. </a:t>
            </a:r>
          </a:p>
          <a:p/>
          <a:p>
            <a:r>
              <a:t>One novel technical feature is our Dual-Engine design:</a:t>
            </a:r>
          </a:p>
          <a:p>
            <a:r>
              <a:t>For transactions, updates, and CLI scripts, we use standard SQLite with write-ahead logging and strict foreign keys. But when we need to run analytical cohort queries across 50,000 variants, we dynamically mount an in-memory DuckDB engine. DuckDB executes vectorized columnar aggregations directly on SQLite tables with zero-copy overhead, reducing query times from seconds to single-digit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8):</a:t>
            </a:r>
          </a:p>
          <a:p>
            <a:r>
              <a:t>"In Slide 8, we present our audit classification taxonomy, illustrated in Figure 3. Rather than treating all discrepancies equally, CuraCascade establishes three formal tiers based on clinical actionability:</a:t>
            </a:r>
          </a:p>
          <a:p/>
          <a:p>
            <a:r>
              <a:t>Class A is marked CRITICAL. This occurs when ClinVar asserts a variant is Pathogenic in a gene that ClinGen proved is Disputed or Refuted. This is an acute medical hazard because a patient will receive a definitive genetic diagnosis for a gene that does not cause the disease.</a:t>
            </a:r>
          </a:p>
          <a:p/>
          <a:p>
            <a:r>
              <a:t>Class B is marked HIGH. Here, ClinGen rates the gene as Limited evidence, but ClinVar still reports Pathogenic variants. This violates the ACMG guideline, which explicitly states that in a Limited gene, variants must be capped at Variant of Uncertain Significance (VUS).</a:t>
            </a:r>
          </a:p>
          <a:p/>
          <a:p>
            <a:r>
              <a:t>Class C is also CRITICAL. It flags diagnostic panel registries like Genomics England PanelApp that still maintain 'Green' diagnostic-grade tiering for refuted genes. This causes high-throughput automated exome pipelines to flag discredited genes on routine patient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9):</a:t>
            </a:r>
          </a:p>
          <a:p>
            <a:r>
              <a:t>"Slide 9 demonstrates how CuraCascade incorporates population genetics to validate and refute clinical claims.</a:t>
            </a:r>
          </a:p>
          <a:p/>
          <a:p>
            <a:r>
              <a:t>We implemented the statistical framework of Whiffin et al. (2017) to compute the Maximum Credible Allele Frequency, or MCAF. If a disease has a prevalence of 1 in 500, simple population genetics dictates that no single pathogenic mutation can exceed a specific mathematical frequency ceiling in gnomAD.</a:t>
            </a:r>
          </a:p>
          <a:p/>
          <a:p>
            <a:r>
              <a:t>CuraCascade annotates every ClinVar variant with gnomAD v4 Popmax frequencies. If a supposed 'Pathogenic' mutation exceeds MCAF, CuraCascade triggers ACMG Rule BS1, or Rule BA1 if it exceeds 5%. This provides independent, orthogonal proof that the downstream assertion is invalid, eliminating ancestry-related misclassification."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10):</a:t>
            </a:r>
          </a:p>
          <a:p>
            <a:r>
              <a:t>"Slide 10 presents our survival analysis and Cox Proportional Hazards regression, shown in Figure 4.</a:t>
            </a:r>
          </a:p>
          <a:p/>
          <a:p>
            <a:r>
              <a:t>We treated assertion retraction as a time-to-event survival problem. Panel A shows our Kaplan-Meier curves, and Panel B displays our Cox Hazard Ratios. The concordance index was 0.724.</a:t>
            </a:r>
          </a:p>
          <a:p/>
          <a:p>
            <a:r>
              <a:t>Two critical operational findings emerged:</a:t>
            </a:r>
          </a:p>
          <a:p>
            <a:r>
              <a:t>First, the 'Review Star Accelerator': variants with 2 or more ClinVar stars resolve 2.36 times faster. Laboratories actively monitor multi-star submissions, while 0-star submissions are often neglected.</a:t>
            </a:r>
          </a:p>
          <a:p/>
          <a:p>
            <a:r>
              <a:t>Second, what we term the 'Commercial Laboratory Latency Penalty': commercial testing labs exhibit a Hazard Ratio of 0.55. They resolve discrepancies at half the rate of academic medical centers. Why? Because retracting an assertion in a commercial lab carries legal liabilities, requiring them to issue amended reports to ordering physicians."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11):</a:t>
            </a:r>
          </a:p>
          <a:p>
            <a:r>
              <a:t>"In Slide 11, we transition from reactive auditing to predictive forecasting. </a:t>
            </a:r>
          </a:p>
          <a:p/>
          <a:p>
            <a:r>
              <a:t>Can we predict which genes currently rated as Definitive or Moderate will be downgraded in the future?</a:t>
            </a:r>
          </a:p>
          <a:p/>
          <a:p>
            <a:r>
              <a:t>To answer this, we engineered 7 biologically grounded features across ClinGen, ClinVar, PanelApp, and gnomAD. We deployed a Balanced Random Forest with inverse class weighting. </a:t>
            </a:r>
          </a:p>
          <a:p/>
          <a:p>
            <a:r>
              <a:t>Crucially, to prevent temporal data leakage, we enforced a strict temporal validation split: the model was trained only on curations evaluated before January 1, 2021, and tested on curations evaluated on or after that date. The model outputs a calibrated risk score that ranks genes into an actionable clinical triage queue."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12):</a:t>
            </a:r>
          </a:p>
          <a:p>
            <a:r>
              <a:t>"Slide 12 highlights one of the most intellectually honest aspects of our research, shown in Figure 5.</a:t>
            </a:r>
          </a:p>
          <a:p/>
          <a:p>
            <a:r>
              <a:t>In academic machine learning, papers often boast 1.0 AUROC without acknowledging that their benchmark was an artificial toy dataset. In CuraCascade, we explicitly report two distinct regimes:</a:t>
            </a:r>
          </a:p>
          <a:p/>
          <a:p>
            <a:r>
              <a:t>On our positive control benchmark of 34 historical landmark genes, the model achieves a perfect AUROC of 1.000. But we explicitly explain in our manuscript that this is a linearly separable sanity check where Curation Age accounts for 78.4% of the signal.</a:t>
            </a:r>
          </a:p>
          <a:p/>
          <a:p>
            <a:r>
              <a:t>When we scale to the unfiltered genome-wide corpus of 3,833 genes, the model achieves an AUROC of 0.857. Crucially, a dramatic mechanistic feature shift occurs: Curation Age drops, and predictive power is dominated by Low ClinVar Star Density (70.2%) and PanelApp disagreement (26.0%). This reflects the biological reality of how discredited genes behave."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13):</a:t>
            </a:r>
          </a:p>
          <a:p>
            <a:r>
              <a:t>"Slide 13 presents our clinical validation benchmark against blinded expert adjudication, shown in Figure 6.</a:t>
            </a:r>
          </a:p>
          <a:p/>
          <a:p>
            <a:r>
              <a:t>To verify that CuraCascade's automated SQL joins and heuristic logic don't produce false alarms, we compiled a gold-standard cohort of 100 genes—54 published downgrades and 46 definitive controls across heart disease, cancer, and neurology.</a:t>
            </a:r>
          </a:p>
          <a:p/>
          <a:p>
            <a:r>
              <a:t>Against manual clinical adjudication:</a:t>
            </a:r>
          </a:p>
          <a:p>
            <a:r>
              <a:t>- Automated Join Precision was 96.3%</a:t>
            </a:r>
          </a:p>
          <a:p>
            <a:r>
              <a:t>- Sensitivity was 96.3%</a:t>
            </a:r>
          </a:p>
          <a:p>
            <a:r>
              <a:t>- Specificity was 95.7%</a:t>
            </a:r>
          </a:p>
          <a:p>
            <a:r>
              <a:t>- And Cohen's Kappa coefficient was 0.920, representing near-perfect concordance.</a:t>
            </a:r>
          </a:p>
          <a:p/>
          <a:p>
            <a:r>
              <a:t>This proves that CuraCascade can operate safely as an automated clinical audit firewall in a hospital setting."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14):</a:t>
            </a:r>
          </a:p>
          <a:p>
            <a:r>
              <a:t>"Slide 14 demonstrates our commitment to software engineering best practices. </a:t>
            </a:r>
          </a:p>
          <a:p/>
          <a:p>
            <a:r>
              <a:t>CuraCascade is not just a collection of scripts; it is an enterprise CLI tool with strict POSIX exit code conventions:</a:t>
            </a:r>
          </a:p>
          <a:p>
            <a:r>
              <a:t>- Exit 0 indicates a clean audit.</a:t>
            </a:r>
          </a:p>
          <a:p>
            <a:r>
              <a:t>- Exit 1 indicates that unpropagated Class A findings were detected, which immediately halts any automated build or sequencing run.</a:t>
            </a:r>
          </a:p>
          <a:p>
            <a:r>
              <a:t>- Exit 2 indicates an internal database failure.</a:t>
            </a:r>
          </a:p>
          <a:p/>
          <a:p>
            <a:r>
              <a:t>Our GitHub Actions CI/CD pipeline runs `test_cli.py` and `test_dossier.py` on every commit, verifying foreign-key constraints and cryptographic checksums. Finally, the entire application is containerized with Docker, packaging the database, engine, and web interface into an immutable image."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15):</a:t>
            </a:r>
          </a:p>
          <a:p>
            <a:r>
              <a:t>"Slide 15 highlights our clinical decision support portal, deployed live at curacascade.streamlit.app.</a:t>
            </a:r>
          </a:p>
          <a:p/>
          <a:p>
            <a:r>
              <a:t>The dashboard is organized into 8 modular clinical interfaces:</a:t>
            </a:r>
          </a:p>
          <a:p>
            <a:r>
              <a:t>- Modules 1 and 2 give laboratory directors immediate KPI metrics and allow them to paste arbitrary gene lists for real-time audit.</a:t>
            </a:r>
          </a:p>
          <a:p>
            <a:r>
              <a:t>- Modules 3 and 4 allow deep exploration of ClinVar variant IDs, ClinGen panel URLs, and gnomAD popmax frequencies.</a:t>
            </a:r>
          </a:p>
          <a:p>
            <a:r>
              <a:t>- Modules 5 and 6 visualize our machine learning triage rankings and interactive Kaplan-Meier survival curves.</a:t>
            </a:r>
          </a:p>
          <a:p>
            <a:r>
              <a:t>- Modules 7 and 8 provide one-click exports of formal clinical governance dossiers and live benchmark concordance metrics."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16):</a:t>
            </a:r>
          </a:p>
          <a:p>
            <a:r>
              <a:t>"Slide 16 shows how CuraCascade bridges computation and regulatory compliance.</a:t>
            </a:r>
          </a:p>
          <a:p/>
          <a:p>
            <a:r>
              <a:t>Under ISO 15189:2022 Section 7.3, CLIA, and CAP standards, clinical laboratories are legally required to verify that their diagnostic panels remain scientifically valid.</a:t>
            </a:r>
          </a:p>
          <a:p/>
          <a:p>
            <a:r>
              <a:t>When an audit flags a Class A inconsistency, laboratory directors face an administrative headache: drafting remediation notices. To solve this, CuraCascade automatically compiles a 6-Section Clinical Governance Dossier:</a:t>
            </a:r>
          </a:p>
          <a:p>
            <a:r>
              <a:t>It documents the ClinGen consensus, provides orthogonal gnomAD proof, catalogs all affected ClinVar variation IDs, gives a step-by-step ACMG de-escalation checklist invoking Rules BA1 and BS1, and ends with formal signature sign-off blocks for the laboratory medical director."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17):</a:t>
            </a:r>
          </a:p>
          <a:p>
            <a:r>
              <a:t>"In Slide 17, we critically discuss limitations and ethical considerations:</a:t>
            </a:r>
          </a:p>
          <a:p/>
          <a:p>
            <a:r>
              <a:t>First, commercial laboratory inertia: our survival analysis proved commercial labs lag behind academic centers. This is driven by legal and operational friction—issuing amended reports is expensive and legally delicate.</a:t>
            </a:r>
          </a:p>
          <a:p/>
          <a:p>
            <a:r>
              <a:t>Second, ontology harmonization: mapping MONDO to OMIM and MedGen is challenging because phenotypic boundaries in rare disease are complex.</a:t>
            </a:r>
          </a:p>
          <a:p/>
          <a:p>
            <a:r>
              <a:t>Third, our ethical framework: CuraCascade is explicitly built with a human-in-the-loop philosophy. The machine learning model and audit rules serve as an advisory decision support firewall—they never autonomously delete clinical records without the oversight and signature of a board-certified clinical molecular geneticist."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18):</a:t>
            </a:r>
          </a:p>
          <a:p>
            <a:r>
              <a:t>"Looking toward future research horizons in Slide 18:</a:t>
            </a:r>
          </a:p>
          <a:p/>
          <a:p>
            <a:r>
              <a:t>Horizon 1 is real-time webhook streaming: replacing monthly batch flat-file dumps with event-driven webhooks so discrepancies are caught in minutes rather than months.</a:t>
            </a:r>
          </a:p>
          <a:p/>
          <a:p>
            <a:r>
              <a:t>Horizon 2 is LLM-assisted curation: using privacy-preserving local language models to parse PubMed literature and summarize newly discovered contradictory functional assays.</a:t>
            </a:r>
          </a:p>
          <a:p/>
          <a:p>
            <a:r>
              <a:t>Horizon 3 is hospital EHR and HL7 FHIR integration: connecting CuraCascade directly into hospital LIMS systems like Epic and Cerner to halt invalid reports at the diagnostic sign-out stage."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19):</a:t>
            </a:r>
          </a:p>
          <a:p>
            <a:r>
              <a:t>"In conclusion, CuraCascade delivers four major contributions:</a:t>
            </a:r>
          </a:p>
          <a:p>
            <a:r>
              <a:t>1. A 3NF clinical genomics warehouse harmonizing 4 major international databases with dual SQLite/DuckDB engines.</a:t>
            </a:r>
          </a:p>
          <a:p>
            <a:r>
              <a:t>2. The first time-to-event survival model quantifying evidence lag, uncovering a 3.2-year median delay and a commercial lab penalty.</a:t>
            </a:r>
          </a:p>
          <a:p>
            <a:r>
              <a:t>3. A supervised machine learning forecaster achieving an AUROC of 0.857 to triage impending gene downgrades.</a:t>
            </a:r>
          </a:p>
          <a:p>
            <a:r>
              <a:t>4. And a production-grade clinical software suite achieving 96.3% precision, with CI/CD gates, Docker containerization, and a live web dashboard.</a:t>
            </a:r>
          </a:p>
          <a:p/>
          <a:p>
            <a:r>
              <a:t>This framework transforms genomic quality control from sporadic, manual guesswork into an automated, continuous firewall."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20):</a:t>
            </a:r>
          </a:p>
          <a:p>
            <a:r>
              <a:t>"Thank you very much for your time, attention, and interest. </a:t>
            </a:r>
          </a:p>
          <a:p/>
          <a:p>
            <a:r>
              <a:t>The live cloud portal is running at curacascade.streamlit.app, the full open-source codebase is on GitHub, and our complete 15-page publication PDF report is compiled and available for inspection.</a:t>
            </a:r>
          </a:p>
          <a:p/>
          <a:p>
            <a:r>
              <a:t>I would now be delighted to answer any questions from the Professor and my classmates.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332720" cy="365760"/>
          </a:xfrm>
          <a:prstGeom prst="rect">
            <a:avLst/>
          </a:prstGeom>
          <a:noFill/>
        </p:spPr>
        <p:txBody>
          <a:bodyPr wrap="none">
            <a:spAutoFit/>
          </a:bodyPr>
          <a:lstStyle/>
          <a:p>
            <a:pPr>
              <a:defRPr sz="1100" b="1">
                <a:solidFill>
                  <a:srgbClr val="0D9488"/>
                </a:solidFill>
              </a:defRPr>
            </a:pPr>
            <a:r>
              <a:t>RESEARCH CAPSTONE &amp; ACADEMIC PROJECT DEFENSE • CLINICAL GENOMICS INFORMATICS</a:t>
            </a:r>
          </a:p>
        </p:txBody>
      </p:sp>
      <p:sp>
        <p:nvSpPr>
          <p:cNvPr id="5" name="TextBox 4"/>
          <p:cNvSpPr txBox="1"/>
          <p:nvPr/>
        </p:nvSpPr>
        <p:spPr>
          <a:xfrm>
            <a:off x="914400" y="1371600"/>
            <a:ext cx="10332720" cy="1280160"/>
          </a:xfrm>
          <a:prstGeom prst="rect">
            <a:avLst/>
          </a:prstGeom>
          <a:noFill/>
        </p:spPr>
        <p:txBody>
          <a:bodyPr wrap="square">
            <a:spAutoFit/>
          </a:bodyPr>
          <a:lstStyle/>
          <a:p>
            <a:pPr>
              <a:defRPr sz="4400" b="1">
                <a:solidFill>
                  <a:srgbClr val="FFFFFF"/>
                </a:solidFill>
              </a:defRPr>
            </a:pPr>
            <a:r>
              <a:t>CuraCascade</a:t>
            </a:r>
          </a:p>
          <a:p>
            <a:pPr>
              <a:spcBef>
                <a:spcPts val="800"/>
              </a:spcBef>
              <a:defRPr sz="1800">
                <a:solidFill>
                  <a:srgbClr val="94A3B8"/>
                </a:solidFill>
              </a:defRPr>
            </a:pPr>
            <a:r>
              <a:t>An Open-Source Clinical Genomics Audit Engine and Machine-Learned Triage Framework for Unpropagated Gene-Disease Evidence Downgrades</a:t>
            </a:r>
          </a:p>
        </p:txBody>
      </p:sp>
      <p:sp>
        <p:nvSpPr>
          <p:cNvPr id="6" name="Rectangle 5"/>
          <p:cNvSpPr/>
          <p:nvPr/>
        </p:nvSpPr>
        <p:spPr>
          <a:xfrm>
            <a:off x="914400" y="2926080"/>
            <a:ext cx="1036289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3200400"/>
            <a:ext cx="4937760" cy="24688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383280"/>
            <a:ext cx="4572000" cy="2103120"/>
          </a:xfrm>
          <a:prstGeom prst="rect">
            <a:avLst/>
          </a:prstGeom>
          <a:noFill/>
        </p:spPr>
        <p:txBody>
          <a:bodyPr wrap="square">
            <a:spAutoFit/>
          </a:bodyPr>
          <a:lstStyle/>
          <a:p>
            <a:pPr>
              <a:defRPr sz="1000" b="1">
                <a:solidFill>
                  <a:srgbClr val="2563EB"/>
                </a:solidFill>
              </a:defRPr>
            </a:pPr>
            <a:r>
              <a:t>RESEARCHER &amp; LEAD ARCHITECT</a:t>
            </a:r>
          </a:p>
          <a:p>
            <a:pPr>
              <a:spcBef>
                <a:spcPts val="400"/>
              </a:spcBef>
              <a:defRPr sz="1800" b="1">
                <a:solidFill>
                  <a:srgbClr val="FFFFFF"/>
                </a:solidFill>
              </a:defRPr>
            </a:pPr>
            <a:r>
              <a:t>Udit Shokeen</a:t>
            </a:r>
          </a:p>
          <a:p>
            <a:pPr>
              <a:spcBef>
                <a:spcPts val="600"/>
              </a:spcBef>
              <a:defRPr sz="1100">
                <a:solidFill>
                  <a:srgbClr val="94A3B8"/>
                </a:solidFill>
              </a:defRPr>
            </a:pPr>
            <a:r>
              <a:t>School of Computer Science and Engineering (SCOPE)</a:t>
            </a:r>
            <a:br/>
            <a:r>
              <a:t>Vellore Institute of Technology, Vellore, Tamil Nadu, India</a:t>
            </a:r>
            <a:br/>
            <a:r>
              <a:t>Contact: uditshokeen14@gmail.com</a:t>
            </a:r>
          </a:p>
          <a:p>
            <a:pPr>
              <a:spcBef>
                <a:spcPts val="600"/>
              </a:spcBef>
              <a:defRPr sz="1000" b="1">
                <a:solidFill>
                  <a:srgbClr val="10B981"/>
                </a:solidFill>
              </a:defRPr>
            </a:pPr>
            <a:r>
              <a:t>Academic Evaluation • Project Presentation &amp; Defense</a:t>
            </a:r>
          </a:p>
        </p:txBody>
      </p:sp>
      <p:sp>
        <p:nvSpPr>
          <p:cNvPr id="9" name="Rounded Rectangle 8"/>
          <p:cNvSpPr/>
          <p:nvPr/>
        </p:nvSpPr>
        <p:spPr>
          <a:xfrm>
            <a:off x="6217920" y="3200400"/>
            <a:ext cx="5029200" cy="24688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383280"/>
            <a:ext cx="4663440" cy="2103120"/>
          </a:xfrm>
          <a:prstGeom prst="rect">
            <a:avLst/>
          </a:prstGeom>
          <a:noFill/>
        </p:spPr>
        <p:txBody>
          <a:bodyPr wrap="square">
            <a:spAutoFit/>
          </a:bodyPr>
          <a:lstStyle/>
          <a:p>
            <a:pPr>
              <a:defRPr sz="1000" b="1">
                <a:solidFill>
                  <a:srgbClr val="0D9488"/>
                </a:solidFill>
              </a:defRPr>
            </a:pPr>
            <a:r>
              <a:t>SYSTEM HIGHLIGHTS &amp; DELIVERABLES</a:t>
            </a:r>
          </a:p>
          <a:p>
            <a:pPr>
              <a:spcBef>
                <a:spcPts val="300"/>
              </a:spcBef>
              <a:defRPr sz="1050">
                <a:solidFill>
                  <a:srgbClr val="E2E8F0"/>
                </a:solidFill>
              </a:defRPr>
            </a:pPr>
            <a:r>
              <a:t>•  Core Stack: Python 3.11+ | SQLite 3NF | DuckDB Columnar Engine</a:t>
            </a:r>
          </a:p>
          <a:p>
            <a:pPr>
              <a:spcBef>
                <a:spcPts val="300"/>
              </a:spcBef>
              <a:defRPr sz="1050">
                <a:solidFill>
                  <a:srgbClr val="E2E8F0"/>
                </a:solidFill>
              </a:defRPr>
            </a:pPr>
            <a:r>
              <a:t>•  Machine Learning: Balanced Random Forest &amp; Cox Proportional Hazards</a:t>
            </a:r>
          </a:p>
          <a:p>
            <a:pPr>
              <a:spcBef>
                <a:spcPts val="300"/>
              </a:spcBef>
              <a:defRPr sz="1050">
                <a:solidFill>
                  <a:srgbClr val="E2E8F0"/>
                </a:solidFill>
              </a:defRPr>
            </a:pPr>
            <a:r>
              <a:t>•  CI/CD Pipeline: GitHub Actions Automated Audit &amp; Docker Container</a:t>
            </a:r>
          </a:p>
          <a:p>
            <a:pPr>
              <a:spcBef>
                <a:spcPts val="300"/>
              </a:spcBef>
              <a:defRPr sz="1050">
                <a:solidFill>
                  <a:srgbClr val="E2E8F0"/>
                </a:solidFill>
              </a:defRPr>
            </a:pPr>
            <a:r>
              <a:t>•  Live Deployment: curacascade.streamlit.app (Interactive Portal)</a:t>
            </a:r>
          </a:p>
          <a:p>
            <a:pPr>
              <a:spcBef>
                <a:spcPts val="300"/>
              </a:spcBef>
              <a:defRPr sz="1050">
                <a:solidFill>
                  <a:srgbClr val="E2E8F0"/>
                </a:solidFill>
              </a:defRPr>
            </a:pPr>
            <a:r>
              <a:t>•  Open-Source Repository: github.com/uditshokeen14/curacascade</a:t>
            </a:r>
          </a:p>
          <a:p>
            <a:pPr>
              <a:spcBef>
                <a:spcPts val="300"/>
              </a:spcBef>
              <a:defRPr sz="1050">
                <a:solidFill>
                  <a:srgbClr val="E2E8F0"/>
                </a:solidFill>
              </a:defRPr>
            </a:pPr>
            <a:r>
              <a:t>•  Publication Manuscript: 15-Page Academic PDF &amp; Comprehensive Audit Dossier</a:t>
            </a:r>
          </a:p>
        </p:txBody>
      </p:sp>
      <p:sp>
        <p:nvSpPr>
          <p:cNvPr id="11" name="Rectangle 10"/>
          <p:cNvSpPr/>
          <p:nvPr/>
        </p:nvSpPr>
        <p:spPr>
          <a:xfrm>
            <a:off x="731520" y="635508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19088"/>
            <a:ext cx="10728655" cy="320040"/>
          </a:xfrm>
          <a:prstGeom prst="rect">
            <a:avLst/>
          </a:prstGeom>
          <a:noFill/>
        </p:spPr>
        <p:txBody>
          <a:bodyPr wrap="none" lIns="0" rIns="0" tIns="0" bIns="0">
            <a:spAutoFit/>
          </a:bodyPr>
          <a:lstStyle/>
          <a:p>
            <a:pPr>
              <a:defRPr sz="900">
                <a:solidFill>
                  <a:srgbClr val="94A3B8"/>
                </a:solidFill>
              </a:defRPr>
            </a:pPr>
            <a:r>
              <a:t>CuraCascade: Clinical Evidence Downgrade Audit Engine  •  Udit Shokeen (VIT CSE)  •  Academic Defense  •  Slide 1 of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EXECUTIVE SUMMARY</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The Clinical Genomics Dilemma at a Glance</a:t>
            </a:r>
          </a:p>
          <a:p>
            <a:pPr>
              <a:spcBef>
                <a:spcPts val="300"/>
              </a:spcBef>
              <a:defRPr sz="1200">
                <a:solidFill>
                  <a:srgbClr val="475569"/>
                </a:solidFill>
              </a:defRPr>
            </a:pPr>
            <a:r>
              <a:t>Why upstream evidence updates fail to reach hospital bedsides and how CuraCascade fixes it.</a:t>
            </a:r>
          </a:p>
        </p:txBody>
      </p:sp>
      <p:sp>
        <p:nvSpPr>
          <p:cNvPr id="5" name="Rounded Rectangle 4"/>
          <p:cNvSpPr/>
          <p:nvPr/>
        </p:nvSpPr>
        <p:spPr>
          <a:xfrm>
            <a:off x="731520" y="1554480"/>
            <a:ext cx="2468880" cy="123444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2194560" cy="1051560"/>
          </a:xfrm>
          <a:prstGeom prst="rect">
            <a:avLst/>
          </a:prstGeom>
          <a:noFill/>
        </p:spPr>
        <p:txBody>
          <a:bodyPr wrap="square" lIns="0" rIns="0" tIns="0" bIns="0">
            <a:spAutoFit/>
          </a:bodyPr>
          <a:lstStyle/>
          <a:p>
            <a:pPr>
              <a:defRPr sz="2200" b="1">
                <a:solidFill>
                  <a:srgbClr val="E11D48"/>
                </a:solidFill>
              </a:defRPr>
            </a:pPr>
            <a:r>
              <a:t>3.2 Years</a:t>
            </a:r>
          </a:p>
          <a:p>
            <a:pPr>
              <a:spcBef>
                <a:spcPts val="200"/>
              </a:spcBef>
              <a:defRPr sz="1100" b="1">
                <a:solidFill>
                  <a:srgbClr val="0F172A"/>
                </a:solidFill>
              </a:defRPr>
            </a:pPr>
            <a:r>
              <a:t>Median Latency</a:t>
            </a:r>
          </a:p>
          <a:p>
            <a:pPr>
              <a:spcBef>
                <a:spcPts val="200"/>
              </a:spcBef>
              <a:defRPr sz="900">
                <a:solidFill>
                  <a:srgbClr val="475569"/>
                </a:solidFill>
              </a:defRPr>
            </a:pPr>
            <a:r>
              <a:t>Delay before downstream retraction</a:t>
            </a:r>
          </a:p>
        </p:txBody>
      </p:sp>
      <p:sp>
        <p:nvSpPr>
          <p:cNvPr id="7" name="Rounded Rectangle 6"/>
          <p:cNvSpPr/>
          <p:nvPr/>
        </p:nvSpPr>
        <p:spPr>
          <a:xfrm>
            <a:off x="3429000" y="1554480"/>
            <a:ext cx="2468880" cy="123444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645920"/>
            <a:ext cx="2194560" cy="1051560"/>
          </a:xfrm>
          <a:prstGeom prst="rect">
            <a:avLst/>
          </a:prstGeom>
          <a:noFill/>
        </p:spPr>
        <p:txBody>
          <a:bodyPr wrap="square" lIns="0" rIns="0" tIns="0" bIns="0">
            <a:spAutoFit/>
          </a:bodyPr>
          <a:lstStyle/>
          <a:p>
            <a:pPr>
              <a:defRPr sz="2200" b="1">
                <a:solidFill>
                  <a:srgbClr val="D97706"/>
                </a:solidFill>
              </a:defRPr>
            </a:pPr>
            <a:r>
              <a:t>51,251</a:t>
            </a:r>
          </a:p>
          <a:p>
            <a:pPr>
              <a:spcBef>
                <a:spcPts val="200"/>
              </a:spcBef>
              <a:defRPr sz="1100" b="1">
                <a:solidFill>
                  <a:srgbClr val="0F172A"/>
                </a:solidFill>
              </a:defRPr>
            </a:pPr>
            <a:r>
              <a:t>Materialized Lag</a:t>
            </a:r>
          </a:p>
          <a:p>
            <a:pPr>
              <a:spcBef>
                <a:spcPts val="200"/>
              </a:spcBef>
              <a:defRPr sz="900">
                <a:solidFill>
                  <a:srgbClr val="475569"/>
                </a:solidFill>
              </a:defRPr>
            </a:pPr>
            <a:r>
              <a:t>Discrepancies flagged genome-wide</a:t>
            </a:r>
          </a:p>
        </p:txBody>
      </p:sp>
      <p:sp>
        <p:nvSpPr>
          <p:cNvPr id="9" name="Rounded Rectangle 8"/>
          <p:cNvSpPr/>
          <p:nvPr/>
        </p:nvSpPr>
        <p:spPr>
          <a:xfrm>
            <a:off x="6126480" y="1554480"/>
            <a:ext cx="2468880" cy="123444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645920"/>
            <a:ext cx="2194560" cy="1051560"/>
          </a:xfrm>
          <a:prstGeom prst="rect">
            <a:avLst/>
          </a:prstGeom>
          <a:noFill/>
        </p:spPr>
        <p:txBody>
          <a:bodyPr wrap="square" lIns="0" rIns="0" tIns="0" bIns="0">
            <a:spAutoFit/>
          </a:bodyPr>
          <a:lstStyle/>
          <a:p>
            <a:pPr>
              <a:defRPr sz="2200" b="1">
                <a:solidFill>
                  <a:srgbClr val="10B981"/>
                </a:solidFill>
              </a:defRPr>
            </a:pPr>
            <a:r>
              <a:t>96.3%</a:t>
            </a:r>
          </a:p>
          <a:p>
            <a:pPr>
              <a:spcBef>
                <a:spcPts val="200"/>
              </a:spcBef>
              <a:defRPr sz="1100" b="1">
                <a:solidFill>
                  <a:srgbClr val="0F172A"/>
                </a:solidFill>
              </a:defRPr>
            </a:pPr>
            <a:r>
              <a:t>Join Precision</a:t>
            </a:r>
          </a:p>
          <a:p>
            <a:pPr>
              <a:spcBef>
                <a:spcPts val="200"/>
              </a:spcBef>
              <a:defRPr sz="900">
                <a:solidFill>
                  <a:srgbClr val="475569"/>
                </a:solidFill>
              </a:defRPr>
            </a:pPr>
            <a:r>
              <a:t>PPV vs blinded expert adjudication</a:t>
            </a:r>
          </a:p>
        </p:txBody>
      </p:sp>
      <p:sp>
        <p:nvSpPr>
          <p:cNvPr id="11" name="Rounded Rectangle 10"/>
          <p:cNvSpPr/>
          <p:nvPr/>
        </p:nvSpPr>
        <p:spPr>
          <a:xfrm>
            <a:off x="8823960" y="1554480"/>
            <a:ext cx="2606040" cy="12344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645920"/>
            <a:ext cx="2331720" cy="1051560"/>
          </a:xfrm>
          <a:prstGeom prst="rect">
            <a:avLst/>
          </a:prstGeom>
          <a:noFill/>
        </p:spPr>
        <p:txBody>
          <a:bodyPr wrap="square" lIns="0" rIns="0" tIns="0" bIns="0">
            <a:spAutoFit/>
          </a:bodyPr>
          <a:lstStyle/>
          <a:p>
            <a:pPr>
              <a:defRPr sz="2200" b="1">
                <a:solidFill>
                  <a:srgbClr val="0F172A"/>
                </a:solidFill>
              </a:defRPr>
            </a:pPr>
            <a:r>
              <a:t>AUROC 0.857</a:t>
            </a:r>
          </a:p>
          <a:p>
            <a:pPr>
              <a:spcBef>
                <a:spcPts val="200"/>
              </a:spcBef>
              <a:defRPr sz="1100" b="1">
                <a:solidFill>
                  <a:srgbClr val="0F172A"/>
                </a:solidFill>
              </a:defRPr>
            </a:pPr>
            <a:r>
              <a:t>ML Prediction</a:t>
            </a:r>
          </a:p>
          <a:p>
            <a:pPr>
              <a:spcBef>
                <a:spcPts val="200"/>
              </a:spcBef>
              <a:defRPr sz="900">
                <a:solidFill>
                  <a:srgbClr val="475569"/>
                </a:solidFill>
              </a:defRPr>
            </a:pPr>
            <a:r>
              <a:t>Genome-wide downgrade vulnerability</a:t>
            </a:r>
          </a:p>
        </p:txBody>
      </p:sp>
      <p:sp>
        <p:nvSpPr>
          <p:cNvPr id="13" name="Rounded Rectangle 12"/>
          <p:cNvSpPr/>
          <p:nvPr/>
        </p:nvSpPr>
        <p:spPr>
          <a:xfrm>
            <a:off x="731520" y="2971800"/>
            <a:ext cx="5166360"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08960"/>
            <a:ext cx="4800600" cy="2834640"/>
          </a:xfrm>
          <a:prstGeom prst="rect">
            <a:avLst/>
          </a:prstGeom>
          <a:noFill/>
        </p:spPr>
        <p:txBody>
          <a:bodyPr wrap="square">
            <a:spAutoFit/>
          </a:bodyPr>
          <a:lstStyle/>
          <a:p>
            <a:pPr>
              <a:defRPr sz="1100" b="1">
                <a:solidFill>
                  <a:srgbClr val="E11D48"/>
                </a:solidFill>
              </a:defRPr>
            </a:pPr>
            <a:r>
              <a:t>THE ASYNCHRONOUS KNOWLEDGE DISCONNECT</a:t>
            </a:r>
          </a:p>
          <a:p>
            <a:pPr>
              <a:spcBef>
                <a:spcPts val="600"/>
              </a:spcBef>
              <a:defRPr sz="1050">
                <a:solidFill>
                  <a:srgbClr val="0F172A"/>
                </a:solidFill>
              </a:defRPr>
            </a:pPr>
            <a:r>
              <a:t>• Evidence Consensus Shift: Consortia like ClinGen systematically re-appraise published disease genes, downgrading up to 40% to Disputed, Refuted, or Limited.</a:t>
            </a:r>
          </a:p>
          <a:p>
            <a:pPr>
              <a:spcBef>
                <a:spcPts val="600"/>
              </a:spcBef>
              <a:defRPr sz="1050">
                <a:solidFill>
                  <a:srgbClr val="0F172A"/>
                </a:solidFill>
              </a:defRPr>
            </a:pPr>
            <a:r>
              <a:t>• Decentralized Lag: Downstream clinical registries (NCBI ClinVar, PanelApp) operate in decentralized silos and do NOT automatically retract assertions.</a:t>
            </a:r>
          </a:p>
          <a:p>
            <a:pPr>
              <a:spcBef>
                <a:spcPts val="600"/>
              </a:spcBef>
              <a:defRPr sz="1050">
                <a:solidFill>
                  <a:srgbClr val="0F172A"/>
                </a:solidFill>
              </a:defRPr>
            </a:pPr>
            <a:r>
              <a:t>• Direct Clinical Harm: Patients continue to receive false-positive reports, leading to unwarranted implantable cardiac defibrillators, prophylactic surgeries, and familial distress.</a:t>
            </a:r>
          </a:p>
          <a:p>
            <a:pPr>
              <a:spcBef>
                <a:spcPts val="600"/>
              </a:spcBef>
              <a:defRPr sz="1050">
                <a:solidFill>
                  <a:srgbClr val="0F172A"/>
                </a:solidFill>
              </a:defRPr>
            </a:pPr>
            <a:r>
              <a:t>• Absence of Tooling: Hospital molecular labs accredited under CAP/CLIA lack automated tools to continuously audit their variant master databases.</a:t>
            </a:r>
          </a:p>
        </p:txBody>
      </p:sp>
      <p:sp>
        <p:nvSpPr>
          <p:cNvPr id="15" name="Rounded Rectangle 14"/>
          <p:cNvSpPr/>
          <p:nvPr/>
        </p:nvSpPr>
        <p:spPr>
          <a:xfrm>
            <a:off x="6217920" y="2971800"/>
            <a:ext cx="5212080"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108960"/>
            <a:ext cx="4846320" cy="2834640"/>
          </a:xfrm>
          <a:prstGeom prst="rect">
            <a:avLst/>
          </a:prstGeom>
          <a:noFill/>
        </p:spPr>
        <p:txBody>
          <a:bodyPr wrap="square">
            <a:spAutoFit/>
          </a:bodyPr>
          <a:lstStyle/>
          <a:p>
            <a:pPr>
              <a:defRPr sz="1100" b="1">
                <a:solidFill>
                  <a:srgbClr val="0D9488"/>
                </a:solidFill>
              </a:defRPr>
            </a:pPr>
            <a:r>
              <a:t>THE CURACASCADE COMPUTATIONAL SOLUTION</a:t>
            </a:r>
          </a:p>
          <a:p>
            <a:pPr>
              <a:spcBef>
                <a:spcPts val="600"/>
              </a:spcBef>
              <a:defRPr sz="1050">
                <a:solidFill>
                  <a:srgbClr val="0F172A"/>
                </a:solidFill>
              </a:defRPr>
            </a:pPr>
            <a:r>
              <a:t>• 3NF Normalized Warehouse: Harmonizes ClinGen, ClinVar, PanelApp, and gnomAD v4 into a dual-engine transactional (SQLite) and analytical (DuckDB) core.</a:t>
            </a:r>
          </a:p>
          <a:p>
            <a:pPr>
              <a:spcBef>
                <a:spcPts val="600"/>
              </a:spcBef>
              <a:defRPr sz="1050">
                <a:solidFill>
                  <a:srgbClr val="0F172A"/>
                </a:solidFill>
              </a:defRPr>
            </a:pPr>
            <a:r>
              <a:t>• 3-Tier Audit Heuristics: Deterministically categorizes inconsistencies into Classes A, B, and C with automated CI/CD POSIX exit codes.</a:t>
            </a:r>
          </a:p>
          <a:p>
            <a:pPr>
              <a:spcBef>
                <a:spcPts val="600"/>
              </a:spcBef>
              <a:defRPr sz="1050">
                <a:solidFill>
                  <a:srgbClr val="0F172A"/>
                </a:solidFill>
              </a:defRPr>
            </a:pPr>
            <a:r>
              <a:t>• Survival Kinetics: Kaplan–Meier and multivariate Cox regression model assertion lifespans, identifying a 0.55x commercial laboratory latency penalty.</a:t>
            </a:r>
          </a:p>
          <a:p>
            <a:pPr>
              <a:spcBef>
                <a:spcPts val="600"/>
              </a:spcBef>
              <a:defRPr sz="1050">
                <a:solidFill>
                  <a:srgbClr val="0F172A"/>
                </a:solidFill>
              </a:defRPr>
            </a:pPr>
            <a:r>
              <a:t>• Supervised ML Forecaster: Balanced Random Forest flags currently supported genes at high risk of impending downgrade to prioritize curation queues.</a:t>
            </a:r>
          </a:p>
        </p:txBody>
      </p:sp>
      <p:sp>
        <p:nvSpPr>
          <p:cNvPr id="17" name="Rectangle 16"/>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2 of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BACKGROUND &amp; CLINICAL RELEVANCE</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Gene Curation &amp; The ClinGen Framework</a:t>
            </a:r>
          </a:p>
          <a:p>
            <a:pPr>
              <a:spcBef>
                <a:spcPts val="300"/>
              </a:spcBef>
              <a:defRPr sz="1200">
                <a:solidFill>
                  <a:srgbClr val="475569"/>
                </a:solidFill>
              </a:defRPr>
            </a:pPr>
            <a:r>
              <a:t>Understanding how genetic validity is determined and why historical gene associations fail.</a:t>
            </a:r>
          </a:p>
        </p:txBody>
      </p:sp>
      <p:sp>
        <p:nvSpPr>
          <p:cNvPr id="5" name="Rounded Rectangle 4"/>
          <p:cNvSpPr/>
          <p:nvPr/>
        </p:nvSpPr>
        <p:spPr>
          <a:xfrm>
            <a:off x="731520"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71800" cy="4114800"/>
          </a:xfrm>
          <a:prstGeom prst="rect">
            <a:avLst/>
          </a:prstGeom>
          <a:noFill/>
        </p:spPr>
        <p:txBody>
          <a:bodyPr wrap="square">
            <a:spAutoFit/>
          </a:bodyPr>
          <a:lstStyle/>
          <a:p>
            <a:pPr>
              <a:defRPr sz="1200" b="1">
                <a:solidFill>
                  <a:srgbClr val="1E293B"/>
                </a:solidFill>
              </a:defRPr>
            </a:pPr>
            <a:r>
              <a:t>1. THE HISTORICAL ERA</a:t>
            </a:r>
          </a:p>
          <a:p>
            <a:pPr>
              <a:spcBef>
                <a:spcPts val="800"/>
              </a:spcBef>
              <a:defRPr sz="1050">
                <a:solidFill>
                  <a:srgbClr val="475569"/>
                </a:solidFill>
              </a:defRPr>
            </a:pPr>
            <a:r>
              <a:t>• Candidate-Gene Era (1990s–2000s): Many monogenic disease genes were published based on small families (underpowered linkage analysis).</a:t>
            </a:r>
          </a:p>
          <a:p>
            <a:pPr>
              <a:spcBef>
                <a:spcPts val="800"/>
              </a:spcBef>
              <a:defRPr sz="1050">
                <a:solidFill>
                  <a:srgbClr val="475569"/>
                </a:solidFill>
              </a:defRPr>
            </a:pPr>
            <a:r>
              <a:t>• Absent Control Populations: Controls like ExAC and gnomAD did not exist; rare benign variants were mistaken for dominant mutations.</a:t>
            </a:r>
          </a:p>
          <a:p>
            <a:pPr>
              <a:spcBef>
                <a:spcPts val="800"/>
              </a:spcBef>
              <a:defRPr sz="1050">
                <a:solidFill>
                  <a:srgbClr val="475569"/>
                </a:solidFill>
              </a:defRPr>
            </a:pPr>
            <a:r>
              <a:t>• Over-Diagnosis: Hundreds of spurious genes made their way onto commercial diagnostic testing panels.</a:t>
            </a:r>
          </a:p>
        </p:txBody>
      </p:sp>
      <p:sp>
        <p:nvSpPr>
          <p:cNvPr id="7" name="Rounded Rectangle 6"/>
          <p:cNvSpPr/>
          <p:nvPr/>
        </p:nvSpPr>
        <p:spPr>
          <a:xfrm>
            <a:off x="4389120"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71800" cy="4114800"/>
          </a:xfrm>
          <a:prstGeom prst="rect">
            <a:avLst/>
          </a:prstGeom>
          <a:noFill/>
        </p:spPr>
        <p:txBody>
          <a:bodyPr wrap="square">
            <a:spAutoFit/>
          </a:bodyPr>
          <a:lstStyle/>
          <a:p>
            <a:pPr>
              <a:defRPr sz="1200" b="1">
                <a:solidFill>
                  <a:srgbClr val="2563EB"/>
                </a:solidFill>
              </a:defRPr>
            </a:pPr>
            <a:r>
              <a:t>2. CLINGEN VALIDITY TIERS</a:t>
            </a:r>
          </a:p>
          <a:p>
            <a:pPr>
              <a:spcBef>
                <a:spcPts val="800"/>
              </a:spcBef>
              <a:defRPr sz="1050">
                <a:solidFill>
                  <a:srgbClr val="475569"/>
                </a:solidFill>
              </a:defRPr>
            </a:pPr>
            <a:r>
              <a:t>• Semi-Quantitative Matrix: Gene Curation Expert Panels (GCEPs) score genetic evidence (max 12 pts) and experimental evidence (max 6 pts).</a:t>
            </a:r>
          </a:p>
          <a:p>
            <a:pPr>
              <a:spcBef>
                <a:spcPts val="800"/>
              </a:spcBef>
              <a:defRPr sz="1050">
                <a:solidFill>
                  <a:srgbClr val="475569"/>
                </a:solidFill>
              </a:defRPr>
            </a:pPr>
            <a:r>
              <a:t>• Clinical Validity Tiers:</a:t>
            </a:r>
            <a:br/>
            <a:r>
              <a:t>  - Definitive / Strong (12–18 pts)</a:t>
            </a:r>
            <a:br/>
            <a:r>
              <a:t>  - Moderate (7–11 pts)</a:t>
            </a:r>
            <a:br/>
            <a:r>
              <a:t>  - Limited (1–6 pts)</a:t>
            </a:r>
            <a:br/>
            <a:r>
              <a:t>  - Disputed (Convincing counter-evidence)</a:t>
            </a:r>
            <a:br/>
            <a:r>
              <a:t>  - Refuted (Proven not to cause disease)</a:t>
            </a:r>
          </a:p>
          <a:p>
            <a:pPr>
              <a:spcBef>
                <a:spcPts val="800"/>
              </a:spcBef>
              <a:defRPr sz="1050">
                <a:solidFill>
                  <a:srgbClr val="475569"/>
                </a:solidFill>
              </a:defRPr>
            </a:pPr>
            <a:r>
              <a:t>• Standardized Reappraisals: GCEPs perform systematic consensus reassessments across disease domains.</a:t>
            </a:r>
          </a:p>
        </p:txBody>
      </p:sp>
      <p:sp>
        <p:nvSpPr>
          <p:cNvPr id="9" name="Rounded Rectangle 8"/>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114800"/>
          </a:xfrm>
          <a:prstGeom prst="rect">
            <a:avLst/>
          </a:prstGeom>
          <a:noFill/>
        </p:spPr>
        <p:txBody>
          <a:bodyPr wrap="square">
            <a:spAutoFit/>
          </a:bodyPr>
          <a:lstStyle/>
          <a:p>
            <a:pPr>
              <a:defRPr sz="1200" b="1">
                <a:solidFill>
                  <a:srgbClr val="E11D48"/>
                </a:solidFill>
              </a:defRPr>
            </a:pPr>
            <a:r>
              <a:t>3. LANDMARK REAPPRAISALS</a:t>
            </a:r>
          </a:p>
          <a:p>
            <a:pPr>
              <a:spcBef>
                <a:spcPts val="800"/>
              </a:spcBef>
              <a:defRPr sz="1050">
                <a:solidFill>
                  <a:srgbClr val="475569"/>
                </a:solidFill>
              </a:defRPr>
            </a:pPr>
            <a:r>
              <a:t>• Cardiovascular Genetics: Landmark GCEP reappraisals (Ingles et al., 2019; Hosseini et al., 2018) revealed up to 40% of cardiomyopathy genes lacked validity.</a:t>
            </a:r>
          </a:p>
          <a:p>
            <a:pPr>
              <a:spcBef>
                <a:spcPts val="800"/>
              </a:spcBef>
              <a:defRPr sz="1050">
                <a:solidFill>
                  <a:srgbClr val="475569"/>
                </a:solidFill>
              </a:defRPr>
            </a:pPr>
            <a:r>
              <a:t>• Discredited Disease Genes: Genes like MYLK2, TCAP, MYOZ2, KCNE2, and SCN1B were downgraded to Disputed or Refuted.</a:t>
            </a:r>
          </a:p>
          <a:p>
            <a:pPr>
              <a:spcBef>
                <a:spcPts val="800"/>
              </a:spcBef>
              <a:defRPr sz="1050">
                <a:solidFill>
                  <a:srgbClr val="475569"/>
                </a:solidFill>
              </a:defRPr>
            </a:pPr>
            <a:r>
              <a:t>• ACMG Clinical Mandate: Guidelines mandate that variants in Disputed/Refuted genes should NEVER be interpreted as Pathogenic.</a:t>
            </a:r>
          </a:p>
        </p:txBody>
      </p:sp>
      <p:sp>
        <p:nvSpPr>
          <p:cNvPr id="11" name="Rectangle 10"/>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3 of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PROBLEM FORMULATION</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The 'Knowledge Cascade' Synchronization Lag</a:t>
            </a:r>
          </a:p>
          <a:p>
            <a:pPr>
              <a:spcBef>
                <a:spcPts val="300"/>
              </a:spcBef>
              <a:defRPr sz="1200">
                <a:solidFill>
                  <a:srgbClr val="475569"/>
                </a:solidFill>
              </a:defRPr>
            </a:pPr>
            <a:r>
              <a:t>Why downstream databases fail to synchronize when upstream evidence is invalidated.</a:t>
            </a:r>
          </a:p>
        </p:txBody>
      </p:sp>
      <p:sp>
        <p:nvSpPr>
          <p:cNvPr id="5" name="Rounded Rectangle 4"/>
          <p:cNvSpPr/>
          <p:nvPr/>
        </p:nvSpPr>
        <p:spPr>
          <a:xfrm>
            <a:off x="7315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389120" cy="4114800"/>
          </a:xfrm>
          <a:prstGeom prst="rect">
            <a:avLst/>
          </a:prstGeom>
          <a:noFill/>
        </p:spPr>
        <p:txBody>
          <a:bodyPr wrap="square">
            <a:spAutoFit/>
          </a:bodyPr>
          <a:lstStyle/>
          <a:p>
            <a:pPr>
              <a:defRPr sz="1100" b="1">
                <a:solidFill>
                  <a:srgbClr val="E11D48"/>
                </a:solidFill>
              </a:defRPr>
            </a:pPr>
            <a:r>
              <a:t>DECENTRALIZED ARCHITECTURAL FAILURE</a:t>
            </a:r>
          </a:p>
          <a:p>
            <a:pPr>
              <a:spcBef>
                <a:spcPts val="700"/>
              </a:spcBef>
              <a:defRPr sz="1050">
                <a:solidFill>
                  <a:srgbClr val="0F172A"/>
                </a:solidFill>
              </a:defRPr>
            </a:pPr>
            <a:r>
              <a:t>• The Decoupled Ecosystem: ClinGen (curation), NCBI ClinVar (variants), and PanelApp (diagnostic panels) are maintained by different global agencies with no unified event bus.</a:t>
            </a:r>
          </a:p>
          <a:p>
            <a:pPr>
              <a:spcBef>
                <a:spcPts val="700"/>
              </a:spcBef>
              <a:defRPr sz="1050">
                <a:solidFill>
                  <a:srgbClr val="0F172A"/>
                </a:solidFill>
              </a:defRPr>
            </a:pPr>
            <a:r>
              <a:t>• No Push Notifications: When ClinGen publishes a downgrade, downstream registries receive no automated webhooks or signals to trigger re-curation.</a:t>
            </a:r>
          </a:p>
          <a:p>
            <a:pPr>
              <a:spcBef>
                <a:spcPts val="700"/>
              </a:spcBef>
              <a:defRPr sz="1050">
                <a:solidFill>
                  <a:srgbClr val="0F172A"/>
                </a:solidFill>
              </a:defRPr>
            </a:pPr>
            <a:r>
              <a:t>• The Latency Clock: Downstream clinical databases lag by an empirical median of 3.2 years (and up to 7+ years in commercial laboratories).</a:t>
            </a:r>
          </a:p>
          <a:p>
            <a:pPr>
              <a:spcBef>
                <a:spcPts val="700"/>
              </a:spcBef>
              <a:defRPr sz="1050">
                <a:solidFill>
                  <a:srgbClr val="0F172A"/>
                </a:solidFill>
              </a:defRPr>
            </a:pPr>
            <a:r>
              <a:t>• Bedside Contamination: Pathogenic (P) and Likely Pathogenic (LP) variant assertions persist in ClinVar, while diagnostic panels continue routine screening.</a:t>
            </a:r>
          </a:p>
        </p:txBody>
      </p:sp>
      <p:sp>
        <p:nvSpPr>
          <p:cNvPr id="7" name="Rounded Rectangle 6"/>
          <p:cNvSpPr/>
          <p:nvPr/>
        </p:nvSpPr>
        <p:spPr>
          <a:xfrm>
            <a:off x="57607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_knowledge_lag.png"/>
          <p:cNvPicPr>
            <a:picLocks noChangeAspect="1"/>
          </p:cNvPicPr>
          <p:nvPr/>
        </p:nvPicPr>
        <p:blipFill>
          <a:blip r:embed="rId2"/>
          <a:stretch>
            <a:fillRect/>
          </a:stretch>
        </p:blipFill>
        <p:spPr>
          <a:xfrm>
            <a:off x="5943600" y="1828800"/>
            <a:ext cx="5303520" cy="4114800"/>
          </a:xfrm>
          <a:prstGeom prst="rect">
            <a:avLst/>
          </a:prstGeom>
        </p:spPr>
      </p:pic>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4 of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CLINICAL IMPACT &amp; BIOETHICS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Real-World Clinical Harm &amp; Patient Impact</a:t>
            </a:r>
          </a:p>
          <a:p>
            <a:pPr>
              <a:spcBef>
                <a:spcPts val="300"/>
              </a:spcBef>
              <a:defRPr sz="1200">
                <a:solidFill>
                  <a:srgbClr val="475569"/>
                </a:solidFill>
              </a:defRPr>
            </a:pPr>
            <a:r>
              <a:t>Tangible repercussions of unpropagated evidence downgrades on patients, families, and healthcare systems.</a:t>
            </a:r>
          </a:p>
        </p:txBody>
      </p:sp>
      <p:sp>
        <p:nvSpPr>
          <p:cNvPr id="5" name="Rounded Rectangle 4"/>
          <p:cNvSpPr/>
          <p:nvPr/>
        </p:nvSpPr>
        <p:spPr>
          <a:xfrm>
            <a:off x="731520" y="1645920"/>
            <a:ext cx="333756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71800" cy="2834640"/>
          </a:xfrm>
          <a:prstGeom prst="rect">
            <a:avLst/>
          </a:prstGeom>
          <a:noFill/>
        </p:spPr>
        <p:txBody>
          <a:bodyPr wrap="square">
            <a:spAutoFit/>
          </a:bodyPr>
          <a:lstStyle/>
          <a:p>
            <a:pPr>
              <a:defRPr sz="1200" b="1">
                <a:solidFill>
                  <a:srgbClr val="E11D48"/>
                </a:solidFill>
              </a:defRPr>
            </a:pPr>
            <a:r>
              <a:t>CASE 1: MYLK2 &amp; TCAP</a:t>
            </a:r>
          </a:p>
          <a:p>
            <a:pPr>
              <a:defRPr sz="950" i="1">
                <a:solidFill>
                  <a:srgbClr val="475569"/>
                </a:solidFill>
              </a:defRPr>
            </a:pPr>
            <a:r>
              <a:t>Hypertrophic Cardiomyopathy (HCM)</a:t>
            </a:r>
          </a:p>
          <a:p>
            <a:pPr>
              <a:spcBef>
                <a:spcPts val="500"/>
              </a:spcBef>
              <a:defRPr sz="1000">
                <a:solidFill>
                  <a:srgbClr val="0F172A"/>
                </a:solidFill>
              </a:defRPr>
            </a:pPr>
            <a:r>
              <a:t>• ClinGen Status: Refuted by Cardiovascular GCEP.</a:t>
            </a:r>
          </a:p>
          <a:p>
            <a:pPr>
              <a:spcBef>
                <a:spcPts val="500"/>
              </a:spcBef>
              <a:defRPr sz="1000">
                <a:solidFill>
                  <a:srgbClr val="0F172A"/>
                </a:solidFill>
              </a:defRPr>
            </a:pPr>
            <a:r>
              <a:t>• ClinVar Reality: Retained multiple 1-star Pathogenic assertions for years.</a:t>
            </a:r>
          </a:p>
          <a:p>
            <a:pPr>
              <a:spcBef>
                <a:spcPts val="500"/>
              </a:spcBef>
              <a:defRPr sz="1000">
                <a:solidFill>
                  <a:srgbClr val="0F172A"/>
                </a:solidFill>
              </a:defRPr>
            </a:pPr>
            <a:r>
              <a:t>• Clinical Harm: Healthy patients received false-positive HCM diagnoses, resulting in unjustified sports bans and prophylactic Implantable Cardioverter Defibrillator (ICD) surgery.</a:t>
            </a:r>
          </a:p>
        </p:txBody>
      </p:sp>
      <p:sp>
        <p:nvSpPr>
          <p:cNvPr id="7" name="Rounded Rectangle 6"/>
          <p:cNvSpPr/>
          <p:nvPr/>
        </p:nvSpPr>
        <p:spPr>
          <a:xfrm>
            <a:off x="4389120" y="1645920"/>
            <a:ext cx="333756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71800" cy="2834640"/>
          </a:xfrm>
          <a:prstGeom prst="rect">
            <a:avLst/>
          </a:prstGeom>
          <a:noFill/>
        </p:spPr>
        <p:txBody>
          <a:bodyPr wrap="square">
            <a:spAutoFit/>
          </a:bodyPr>
          <a:lstStyle/>
          <a:p>
            <a:pPr>
              <a:defRPr sz="1200" b="1">
                <a:solidFill>
                  <a:srgbClr val="E11D48"/>
                </a:solidFill>
              </a:defRPr>
            </a:pPr>
            <a:r>
              <a:t>CASE 2: SCN1B &amp; KCNE2</a:t>
            </a:r>
          </a:p>
          <a:p>
            <a:pPr>
              <a:defRPr sz="950" i="1">
                <a:solidFill>
                  <a:srgbClr val="475569"/>
                </a:solidFill>
              </a:defRPr>
            </a:pPr>
            <a:r>
              <a:t>Brugada Syndrome &amp; Long QT</a:t>
            </a:r>
          </a:p>
          <a:p>
            <a:pPr>
              <a:spcBef>
                <a:spcPts val="500"/>
              </a:spcBef>
              <a:defRPr sz="1000">
                <a:solidFill>
                  <a:srgbClr val="0F172A"/>
                </a:solidFill>
              </a:defRPr>
            </a:pPr>
            <a:r>
              <a:t>• ClinGen Status: Disputed as a cause of Brugada Syndrome.</a:t>
            </a:r>
          </a:p>
          <a:p>
            <a:pPr>
              <a:spcBef>
                <a:spcPts val="500"/>
              </a:spcBef>
              <a:defRPr sz="1000">
                <a:solidFill>
                  <a:srgbClr val="0F172A"/>
                </a:solidFill>
              </a:defRPr>
            </a:pPr>
            <a:r>
              <a:t>• ClinVar Reality: Multiple submitters asserting Pathogenic status.</a:t>
            </a:r>
          </a:p>
          <a:p>
            <a:pPr>
              <a:spcBef>
                <a:spcPts val="500"/>
              </a:spcBef>
              <a:defRPr sz="1000">
                <a:solidFill>
                  <a:srgbClr val="0F172A"/>
                </a:solidFill>
              </a:defRPr>
            </a:pPr>
            <a:r>
              <a:t>• Clinical Harm: Initiated inappropriate cascade family screening across multiple generations, causing severe psychological distress and unneeded antiarrhythmic medication.</a:t>
            </a:r>
          </a:p>
        </p:txBody>
      </p:sp>
      <p:sp>
        <p:nvSpPr>
          <p:cNvPr id="9" name="Rounded Rectangle 8"/>
          <p:cNvSpPr/>
          <p:nvPr/>
        </p:nvSpPr>
        <p:spPr>
          <a:xfrm>
            <a:off x="8046720" y="1645920"/>
            <a:ext cx="33832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2834640"/>
          </a:xfrm>
          <a:prstGeom prst="rect">
            <a:avLst/>
          </a:prstGeom>
          <a:noFill/>
        </p:spPr>
        <p:txBody>
          <a:bodyPr wrap="square">
            <a:spAutoFit/>
          </a:bodyPr>
          <a:lstStyle/>
          <a:p>
            <a:pPr>
              <a:defRPr sz="1200" b="1">
                <a:solidFill>
                  <a:srgbClr val="E11D48"/>
                </a:solidFill>
              </a:defRPr>
            </a:pPr>
            <a:r>
              <a:t>CASE 3: NBN &amp; RAD50</a:t>
            </a:r>
          </a:p>
          <a:p>
            <a:pPr>
              <a:defRPr sz="950" i="1">
                <a:solidFill>
                  <a:srgbClr val="475569"/>
                </a:solidFill>
              </a:defRPr>
            </a:pPr>
            <a:r>
              <a:t>Hereditary Breast &amp; Ovarian Cancer</a:t>
            </a:r>
          </a:p>
          <a:p>
            <a:pPr>
              <a:spcBef>
                <a:spcPts val="500"/>
              </a:spcBef>
              <a:defRPr sz="1000">
                <a:solidFill>
                  <a:srgbClr val="0F172A"/>
                </a:solidFill>
              </a:defRPr>
            </a:pPr>
            <a:r>
              <a:t>• ClinGen Status: Downgraded to Limited clinical validity.</a:t>
            </a:r>
          </a:p>
          <a:p>
            <a:pPr>
              <a:spcBef>
                <a:spcPts val="500"/>
              </a:spcBef>
              <a:defRPr sz="1000">
                <a:solidFill>
                  <a:srgbClr val="0F172A"/>
                </a:solidFill>
              </a:defRPr>
            </a:pPr>
            <a:r>
              <a:t>• ClinVar Reality: Variants classified above VUS ceiling.</a:t>
            </a:r>
          </a:p>
          <a:p>
            <a:pPr>
              <a:spcBef>
                <a:spcPts val="500"/>
              </a:spcBef>
              <a:defRPr sz="1000">
                <a:solidFill>
                  <a:srgbClr val="0F172A"/>
                </a:solidFill>
              </a:defRPr>
            </a:pPr>
            <a:r>
              <a:t>• Clinical Harm: Premature diagnostic closure. Patients may undergo unnecessary risk-reducing mastectomies while true genetic causes remain uninvestigated.</a:t>
            </a:r>
          </a:p>
        </p:txBody>
      </p:sp>
      <p:sp>
        <p:nvSpPr>
          <p:cNvPr id="11" name="Rounded Rectangle 10"/>
          <p:cNvSpPr/>
          <p:nvPr/>
        </p:nvSpPr>
        <p:spPr>
          <a:xfrm>
            <a:off x="731520" y="5029200"/>
            <a:ext cx="10698480" cy="1143000"/>
          </a:xfrm>
          <a:prstGeom prst="roundRect">
            <a:avLst/>
          </a:prstGeom>
          <a:solidFill>
            <a:srgbClr val="FFF1F2"/>
          </a:solidFill>
          <a:ln w="127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20640"/>
            <a:ext cx="10332720" cy="914400"/>
          </a:xfrm>
          <a:prstGeom prst="rect">
            <a:avLst/>
          </a:prstGeom>
          <a:noFill/>
        </p:spPr>
        <p:txBody>
          <a:bodyPr wrap="square">
            <a:spAutoFit/>
          </a:bodyPr>
          <a:lstStyle/>
          <a:p>
            <a:pPr>
              <a:defRPr sz="1100" b="1">
                <a:solidFill>
                  <a:srgbClr val="E11D48"/>
                </a:solidFill>
              </a:defRPr>
            </a:pPr>
            <a:r>
              <a:t>THE CONCEPT OF 'PATIENT-YEARS AT RISK'</a:t>
            </a:r>
          </a:p>
          <a:p>
            <a:pPr>
              <a:spcBef>
                <a:spcPts val="200"/>
              </a:spcBef>
              <a:defRPr sz="1050">
                <a:solidFill>
                  <a:srgbClr val="0F172A"/>
                </a:solidFill>
              </a:defRPr>
            </a:pPr>
            <a:r>
              <a:t>The duration between an upstream consortium refutation and downstream retraction represents active clinical exposure. Across thousands of active clinical testing panels globally, unpropagated refutations accumulate hundreds of thousands of patient-years at risk, where misclassified variants continue to be returned to patients.</a:t>
            </a:r>
          </a:p>
        </p:txBody>
      </p:sp>
      <p:sp>
        <p:nvSpPr>
          <p:cNvPr id="13" name="Rectangle 12"/>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5 of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SYSTEM ARCHITECTURE</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CuraCascade Solution Architecture: Four Core Pillars</a:t>
            </a:r>
          </a:p>
          <a:p>
            <a:pPr>
              <a:spcBef>
                <a:spcPts val="300"/>
              </a:spcBef>
              <a:defRPr sz="1200">
                <a:solidFill>
                  <a:srgbClr val="475569"/>
                </a:solidFill>
              </a:defRPr>
            </a:pPr>
            <a:r>
              <a:t>A modular, end-to-end framework integrating data warehousing, deterministic auditing, survival kinetics, and machine learning.</a:t>
            </a:r>
          </a:p>
        </p:txBody>
      </p:sp>
      <p:sp>
        <p:nvSpPr>
          <p:cNvPr id="5" name="Rounded Rectangle 4"/>
          <p:cNvSpPr/>
          <p:nvPr/>
        </p:nvSpPr>
        <p:spPr>
          <a:xfrm>
            <a:off x="731520" y="1645920"/>
            <a:ext cx="26060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2331720" cy="4114800"/>
          </a:xfrm>
          <a:prstGeom prst="rect">
            <a:avLst/>
          </a:prstGeom>
          <a:noFill/>
        </p:spPr>
        <p:txBody>
          <a:bodyPr wrap="square">
            <a:spAutoFit/>
          </a:bodyPr>
          <a:lstStyle/>
          <a:p>
            <a:pPr>
              <a:defRPr sz="1000" b="1">
                <a:solidFill>
                  <a:srgbClr val="2563EB"/>
                </a:solidFill>
              </a:defRPr>
            </a:pPr>
            <a:r>
              <a:t>PILLAR 1</a:t>
            </a:r>
          </a:p>
          <a:p>
            <a:pPr>
              <a:spcBef>
                <a:spcPts val="300"/>
              </a:spcBef>
              <a:defRPr sz="1200" b="1">
                <a:solidFill>
                  <a:srgbClr val="0F172A"/>
                </a:solidFill>
              </a:defRPr>
            </a:pPr>
            <a:r>
              <a:t>3NF Relational Data Warehouse</a:t>
            </a:r>
          </a:p>
          <a:p>
            <a:pPr>
              <a:spcBef>
                <a:spcPts val="600"/>
              </a:spcBef>
              <a:defRPr sz="1000">
                <a:solidFill>
                  <a:srgbClr val="475569"/>
                </a:solidFill>
              </a:defRPr>
            </a:pPr>
            <a:r>
              <a:t>• Normalizes ClinGen, ClinVar, PanelApp, and gnomAD v4.</a:t>
            </a:r>
          </a:p>
          <a:p>
            <a:pPr>
              <a:spcBef>
                <a:spcPts val="600"/>
              </a:spcBef>
              <a:defRPr sz="1000">
                <a:solidFill>
                  <a:srgbClr val="475569"/>
                </a:solidFill>
              </a:defRPr>
            </a:pPr>
            <a:r>
              <a:t>• Third Normal Form (3NF) relational architecture.</a:t>
            </a:r>
          </a:p>
          <a:p>
            <a:pPr>
              <a:spcBef>
                <a:spcPts val="600"/>
              </a:spcBef>
              <a:defRPr sz="1000">
                <a:solidFill>
                  <a:srgbClr val="475569"/>
                </a:solidFill>
              </a:defRPr>
            </a:pPr>
            <a:r>
              <a:t>• Dual-engine: Transactional SQLite + Columnar DuckDB in-memory scanner.</a:t>
            </a:r>
          </a:p>
          <a:p>
            <a:pPr>
              <a:spcBef>
                <a:spcPts val="600"/>
              </a:spcBef>
              <a:defRPr sz="1000">
                <a:solidFill>
                  <a:srgbClr val="475569"/>
                </a:solidFill>
              </a:defRPr>
            </a:pPr>
            <a:r>
              <a:t>• Composite indexing on (gene_symbol, disease_id).</a:t>
            </a:r>
          </a:p>
        </p:txBody>
      </p:sp>
      <p:sp>
        <p:nvSpPr>
          <p:cNvPr id="7" name="Rounded Rectangle 6"/>
          <p:cNvSpPr/>
          <p:nvPr/>
        </p:nvSpPr>
        <p:spPr>
          <a:xfrm>
            <a:off x="3447288" y="1645920"/>
            <a:ext cx="26060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4448" y="1828800"/>
            <a:ext cx="2331720" cy="4114800"/>
          </a:xfrm>
          <a:prstGeom prst="rect">
            <a:avLst/>
          </a:prstGeom>
          <a:noFill/>
        </p:spPr>
        <p:txBody>
          <a:bodyPr wrap="square">
            <a:spAutoFit/>
          </a:bodyPr>
          <a:lstStyle/>
          <a:p>
            <a:pPr>
              <a:defRPr sz="1000" b="1">
                <a:solidFill>
                  <a:srgbClr val="0D9488"/>
                </a:solidFill>
              </a:defRPr>
            </a:pPr>
            <a:r>
              <a:t>PILLAR 2</a:t>
            </a:r>
          </a:p>
          <a:p>
            <a:pPr>
              <a:spcBef>
                <a:spcPts val="300"/>
              </a:spcBef>
              <a:defRPr sz="1200" b="1">
                <a:solidFill>
                  <a:srgbClr val="0F172A"/>
                </a:solidFill>
              </a:defRPr>
            </a:pPr>
            <a:r>
              <a:t>Deterministic Audit Engine</a:t>
            </a:r>
          </a:p>
          <a:p>
            <a:pPr>
              <a:spcBef>
                <a:spcPts val="600"/>
              </a:spcBef>
              <a:defRPr sz="1000">
                <a:solidFill>
                  <a:srgbClr val="475569"/>
                </a:solidFill>
              </a:defRPr>
            </a:pPr>
            <a:r>
              <a:t>• Formal heuristics defining Classes A, B, and C.</a:t>
            </a:r>
          </a:p>
          <a:p>
            <a:pPr>
              <a:spcBef>
                <a:spcPts val="600"/>
              </a:spcBef>
              <a:defRPr sz="1000">
                <a:solidFill>
                  <a:srgbClr val="475569"/>
                </a:solidFill>
              </a:defRPr>
            </a:pPr>
            <a:r>
              <a:t>• Automated join engine materializing unpropagated lag.</a:t>
            </a:r>
          </a:p>
          <a:p>
            <a:pPr>
              <a:spcBef>
                <a:spcPts val="600"/>
              </a:spcBef>
              <a:defRPr sz="1000">
                <a:solidFill>
                  <a:srgbClr val="475569"/>
                </a:solidFill>
              </a:defRPr>
            </a:pPr>
            <a:r>
              <a:t>• Headless CLI (run.py audit) with POSIX exit codes (0/1/2).</a:t>
            </a:r>
          </a:p>
          <a:p>
            <a:pPr>
              <a:spcBef>
                <a:spcPts val="600"/>
              </a:spcBef>
              <a:defRPr sz="1000">
                <a:solidFill>
                  <a:srgbClr val="475569"/>
                </a:solidFill>
              </a:defRPr>
            </a:pPr>
            <a:r>
              <a:t>• CI/CD integration for automated quality gate checks.</a:t>
            </a:r>
          </a:p>
        </p:txBody>
      </p:sp>
      <p:sp>
        <p:nvSpPr>
          <p:cNvPr id="9" name="Rounded Rectangle 8"/>
          <p:cNvSpPr/>
          <p:nvPr/>
        </p:nvSpPr>
        <p:spPr>
          <a:xfrm>
            <a:off x="6163056" y="1645920"/>
            <a:ext cx="26060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0216" y="1828800"/>
            <a:ext cx="2331720" cy="4114800"/>
          </a:xfrm>
          <a:prstGeom prst="rect">
            <a:avLst/>
          </a:prstGeom>
          <a:noFill/>
        </p:spPr>
        <p:txBody>
          <a:bodyPr wrap="square">
            <a:spAutoFit/>
          </a:bodyPr>
          <a:lstStyle/>
          <a:p>
            <a:pPr>
              <a:defRPr sz="1000" b="1">
                <a:solidFill>
                  <a:srgbClr val="7C3AED"/>
                </a:solidFill>
              </a:defRPr>
            </a:pPr>
            <a:r>
              <a:t>PILLAR 3</a:t>
            </a:r>
          </a:p>
          <a:p>
            <a:pPr>
              <a:spcBef>
                <a:spcPts val="300"/>
              </a:spcBef>
              <a:defRPr sz="1200" b="1">
                <a:solidFill>
                  <a:srgbClr val="0F172A"/>
                </a:solidFill>
              </a:defRPr>
            </a:pPr>
            <a:r>
              <a:t>Longitudinal Survival Kinetics</a:t>
            </a:r>
          </a:p>
          <a:p>
            <a:pPr>
              <a:spcBef>
                <a:spcPts val="600"/>
              </a:spcBef>
              <a:defRPr sz="1000">
                <a:solidFill>
                  <a:srgbClr val="475569"/>
                </a:solidFill>
              </a:defRPr>
            </a:pPr>
            <a:r>
              <a:t>• Time-to-event formulation of assertion lifespan.</a:t>
            </a:r>
          </a:p>
          <a:p>
            <a:pPr>
              <a:spcBef>
                <a:spcPts val="600"/>
              </a:spcBef>
              <a:defRPr sz="1000">
                <a:solidFill>
                  <a:srgbClr val="475569"/>
                </a:solidFill>
              </a:defRPr>
            </a:pPr>
            <a:r>
              <a:t>• Kaplan–Meier non-parametric survival estimators.</a:t>
            </a:r>
          </a:p>
          <a:p>
            <a:pPr>
              <a:spcBef>
                <a:spcPts val="600"/>
              </a:spcBef>
              <a:defRPr sz="1000">
                <a:solidFill>
                  <a:srgbClr val="475569"/>
                </a:solidFill>
              </a:defRPr>
            </a:pPr>
            <a:r>
              <a:t>• Multivariate Cox Proportional Hazards regression.</a:t>
            </a:r>
          </a:p>
          <a:p>
            <a:pPr>
              <a:spcBef>
                <a:spcPts val="600"/>
              </a:spcBef>
              <a:defRPr sz="1000">
                <a:solidFill>
                  <a:srgbClr val="475569"/>
                </a:solidFill>
              </a:defRPr>
            </a:pPr>
            <a:r>
              <a:t>• Quantifies commercial laboratory and star-rating hazard ratios.</a:t>
            </a:r>
          </a:p>
        </p:txBody>
      </p:sp>
      <p:sp>
        <p:nvSpPr>
          <p:cNvPr id="11" name="Rounded Rectangle 10"/>
          <p:cNvSpPr/>
          <p:nvPr/>
        </p:nvSpPr>
        <p:spPr>
          <a:xfrm>
            <a:off x="8878824" y="1645920"/>
            <a:ext cx="26060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15984" y="1828800"/>
            <a:ext cx="2331720" cy="4114800"/>
          </a:xfrm>
          <a:prstGeom prst="rect">
            <a:avLst/>
          </a:prstGeom>
          <a:noFill/>
        </p:spPr>
        <p:txBody>
          <a:bodyPr wrap="square">
            <a:spAutoFit/>
          </a:bodyPr>
          <a:lstStyle/>
          <a:p>
            <a:pPr>
              <a:defRPr sz="1000" b="1">
                <a:solidFill>
                  <a:srgbClr val="D97706"/>
                </a:solidFill>
              </a:defRPr>
            </a:pPr>
            <a:r>
              <a:t>PILLAR 4</a:t>
            </a:r>
          </a:p>
          <a:p>
            <a:pPr>
              <a:spcBef>
                <a:spcPts val="300"/>
              </a:spcBef>
              <a:defRPr sz="1200" b="1">
                <a:solidFill>
                  <a:srgbClr val="0F172A"/>
                </a:solidFill>
              </a:defRPr>
            </a:pPr>
            <a:r>
              <a:t>Supervised ML Triage Forecaster</a:t>
            </a:r>
          </a:p>
          <a:p>
            <a:pPr>
              <a:spcBef>
                <a:spcPts val="600"/>
              </a:spcBef>
              <a:defRPr sz="1000">
                <a:solidFill>
                  <a:srgbClr val="475569"/>
                </a:solidFill>
              </a:defRPr>
            </a:pPr>
            <a:r>
              <a:t>• Balanced Random Forest predicting impending downgrades.</a:t>
            </a:r>
          </a:p>
          <a:p>
            <a:pPr>
              <a:spcBef>
                <a:spcPts val="600"/>
              </a:spcBef>
              <a:defRPr sz="1000">
                <a:solidFill>
                  <a:srgbClr val="475569"/>
                </a:solidFill>
              </a:defRPr>
            </a:pPr>
            <a:r>
              <a:t>• 7 engineered biological &amp; registry features.</a:t>
            </a:r>
          </a:p>
          <a:p>
            <a:pPr>
              <a:spcBef>
                <a:spcPts val="600"/>
              </a:spcBef>
              <a:defRPr sz="1000">
                <a:solidFill>
                  <a:srgbClr val="475569"/>
                </a:solidFill>
              </a:defRPr>
            </a:pPr>
            <a:r>
              <a:t>• Strict temporal train/test validation split (pre/post-2021).</a:t>
            </a:r>
          </a:p>
          <a:p>
            <a:pPr>
              <a:spcBef>
                <a:spcPts val="600"/>
              </a:spcBef>
              <a:defRPr sz="1000">
                <a:solidFill>
                  <a:srgbClr val="475569"/>
                </a:solidFill>
              </a:defRPr>
            </a:pPr>
            <a:r>
              <a:t>• Generates calibrated clinical triage priority queues.</a:t>
            </a:r>
          </a:p>
        </p:txBody>
      </p:sp>
      <p:sp>
        <p:nvSpPr>
          <p:cNvPr id="13" name="Rectangle 12"/>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6 of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DATABASE ARCHITECTURE &amp; DESIGN</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3NF Relational Warehouse Architecture</a:t>
            </a:r>
          </a:p>
          <a:p>
            <a:pPr>
              <a:spcBef>
                <a:spcPts val="300"/>
              </a:spcBef>
              <a:defRPr sz="1200">
                <a:solidFill>
                  <a:srgbClr val="475569"/>
                </a:solidFill>
              </a:defRPr>
            </a:pPr>
            <a:r>
              <a:t>Normalized schema design, foreign key integrity, and dual-engine transactional/analytical processing.</a:t>
            </a:r>
          </a:p>
        </p:txBody>
      </p:sp>
      <p:sp>
        <p:nvSpPr>
          <p:cNvPr id="5" name="Rounded Rectangle 4"/>
          <p:cNvSpPr/>
          <p:nvPr/>
        </p:nvSpPr>
        <p:spPr>
          <a:xfrm>
            <a:off x="7315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389120" cy="4114800"/>
          </a:xfrm>
          <a:prstGeom prst="rect">
            <a:avLst/>
          </a:prstGeom>
          <a:noFill/>
        </p:spPr>
        <p:txBody>
          <a:bodyPr wrap="square">
            <a:spAutoFit/>
          </a:bodyPr>
          <a:lstStyle/>
          <a:p>
            <a:pPr>
              <a:defRPr sz="1100" b="1">
                <a:solidFill>
                  <a:srgbClr val="2563EB"/>
                </a:solidFill>
              </a:defRPr>
            </a:pPr>
            <a:r>
              <a:t>DATABASE DESIGN PRINCIPLES</a:t>
            </a:r>
          </a:p>
          <a:p>
            <a:pPr>
              <a:spcBef>
                <a:spcPts val="700"/>
              </a:spcBef>
              <a:defRPr sz="1000">
                <a:solidFill>
                  <a:srgbClr val="0F172A"/>
                </a:solidFill>
              </a:defRPr>
            </a:pPr>
            <a:r>
              <a:t>• Entity Normalization (3NF): Eliminates biological data duplication across 5 core tables: genes, diseases, clingen_curations, clinvar_variants, and panelapp_entries.</a:t>
            </a:r>
          </a:p>
          <a:p>
            <a:pPr>
              <a:spcBef>
                <a:spcPts val="700"/>
              </a:spcBef>
              <a:defRPr sz="1000">
                <a:solidFill>
                  <a:srgbClr val="0F172A"/>
                </a:solidFill>
              </a:defRPr>
            </a:pPr>
            <a:r>
              <a:t>• Strict Integrity Constraints: Foreign keys enforce referential integrity with cascading checks (PRAGMA foreign_keys = ON).</a:t>
            </a:r>
          </a:p>
          <a:p>
            <a:pPr>
              <a:spcBef>
                <a:spcPts val="700"/>
              </a:spcBef>
              <a:defRPr sz="1000">
                <a:solidFill>
                  <a:srgbClr val="0F172A"/>
                </a:solidFill>
              </a:defRPr>
            </a:pPr>
            <a:r>
              <a:t>• Dual-Engine Architecture: Transactional SQLite manages point lookups, CRUD operations, and CLI execution. An in-memory DuckDB columnar scanner attaches directly to SQLite for vectorized cohort aggregation across 50,000+ variants.</a:t>
            </a:r>
          </a:p>
          <a:p>
            <a:pPr>
              <a:spcBef>
                <a:spcPts val="700"/>
              </a:spcBef>
              <a:defRPr sz="1000">
                <a:solidFill>
                  <a:srgbClr val="0F172A"/>
                </a:solidFill>
              </a:defRPr>
            </a:pPr>
            <a:r>
              <a:t>• Composite Indexing: Multi-column B-Tree indexes on (gene_symbol, disease_id) enable sub-millisecond multi-table cross-layer joins.</a:t>
            </a:r>
          </a:p>
        </p:txBody>
      </p:sp>
      <p:sp>
        <p:nvSpPr>
          <p:cNvPr id="7" name="Rounded Rectangle 6"/>
          <p:cNvSpPr/>
          <p:nvPr/>
        </p:nvSpPr>
        <p:spPr>
          <a:xfrm>
            <a:off x="57607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_schema_architecture.png"/>
          <p:cNvPicPr>
            <a:picLocks noChangeAspect="1"/>
          </p:cNvPicPr>
          <p:nvPr/>
        </p:nvPicPr>
        <p:blipFill>
          <a:blip r:embed="rId2"/>
          <a:stretch>
            <a:fillRect/>
          </a:stretch>
        </p:blipFill>
        <p:spPr>
          <a:xfrm>
            <a:off x="5943600" y="1828800"/>
            <a:ext cx="5303520" cy="4114800"/>
          </a:xfrm>
          <a:prstGeom prst="rect">
            <a:avLst/>
          </a:prstGeom>
        </p:spPr>
      </p:pic>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7 of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AUDIT ENGINE ALGORITHMS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Audit Classification Taxonomy &amp; Heuristics</a:t>
            </a:r>
          </a:p>
          <a:p>
            <a:pPr>
              <a:spcBef>
                <a:spcPts val="300"/>
              </a:spcBef>
              <a:defRPr sz="1200">
                <a:solidFill>
                  <a:srgbClr val="475569"/>
                </a:solidFill>
              </a:defRPr>
            </a:pPr>
            <a:r>
              <a:t>Deterministic rule-based stratification of downstream discrepancies into actionable clinical severity tiers.</a:t>
            </a:r>
          </a:p>
        </p:txBody>
      </p:sp>
      <p:sp>
        <p:nvSpPr>
          <p:cNvPr id="5" name="Rounded Rectangle 4"/>
          <p:cNvSpPr/>
          <p:nvPr/>
        </p:nvSpPr>
        <p:spPr>
          <a:xfrm>
            <a:off x="731520" y="1645920"/>
            <a:ext cx="50292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663440" cy="4114800"/>
          </a:xfrm>
          <a:prstGeom prst="rect">
            <a:avLst/>
          </a:prstGeom>
          <a:noFill/>
        </p:spPr>
        <p:txBody>
          <a:bodyPr wrap="square">
            <a:spAutoFit/>
          </a:bodyPr>
          <a:lstStyle/>
          <a:p>
            <a:pPr>
              <a:defRPr sz="1100" b="1">
                <a:solidFill>
                  <a:srgbClr val="0D9488"/>
                </a:solidFill>
              </a:defRPr>
            </a:pPr>
            <a:r>
              <a:t>THE THREE DISCREPANCY CLASSES</a:t>
            </a:r>
          </a:p>
          <a:p>
            <a:pPr>
              <a:spcBef>
                <a:spcPts val="800"/>
              </a:spcBef>
              <a:defRPr sz="1050" b="1">
                <a:solidFill>
                  <a:srgbClr val="E11D48"/>
                </a:solidFill>
              </a:defRPr>
            </a:pPr>
            <a:r>
              <a:t>CLASS A (CRITICAL SEVERITY)</a:t>
            </a:r>
          </a:p>
          <a:p>
            <a:pPr>
              <a:spcBef>
                <a:spcPts val="200"/>
              </a:spcBef>
              <a:defRPr sz="950">
                <a:solidFill>
                  <a:srgbClr val="0F172A"/>
                </a:solidFill>
              </a:defRPr>
            </a:pPr>
            <a:r>
              <a:t>ClinVar asserts Pathogenic (P) or Likely Pathogenic (LP) variants in Disputed or Refuted genes.</a:t>
            </a:r>
            <a:br/>
            <a:r>
              <a:t>• Risk: Acute false-positive diagnosis.</a:t>
            </a:r>
            <a:br/>
            <a:r>
              <a:t>• Rule: (ClinGen in {Disputed, Refuted}) AND (ClinVar is_plp = 1)</a:t>
            </a:r>
          </a:p>
          <a:p>
            <a:pPr>
              <a:spcBef>
                <a:spcPts val="800"/>
              </a:spcBef>
              <a:defRPr sz="1050" b="1">
                <a:solidFill>
                  <a:srgbClr val="D97706"/>
                </a:solidFill>
              </a:defRPr>
            </a:pPr>
            <a:r>
              <a:t>CLASS B (HIGH SEVERITY)</a:t>
            </a:r>
          </a:p>
          <a:p>
            <a:pPr>
              <a:spcBef>
                <a:spcPts val="200"/>
              </a:spcBef>
              <a:defRPr sz="950">
                <a:solidFill>
                  <a:srgbClr val="0F172A"/>
                </a:solidFill>
              </a:defRPr>
            </a:pPr>
            <a:r>
              <a:t>ClinVar asserts P/LP variants in Limited-evidence genes.</a:t>
            </a:r>
            <a:br/>
            <a:r>
              <a:t>• Risk: Violates ACMG ceiling (variants in Limited genes must not exceed VUS).</a:t>
            </a:r>
            <a:br/>
            <a:r>
              <a:t>• Rule: (ClinGen = Limited) AND (ClinVar is_plp = 1)</a:t>
            </a:r>
          </a:p>
          <a:p>
            <a:pPr>
              <a:spcBef>
                <a:spcPts val="800"/>
              </a:spcBef>
              <a:defRPr sz="1050" b="1">
                <a:solidFill>
                  <a:srgbClr val="E11D48"/>
                </a:solidFill>
              </a:defRPr>
            </a:pPr>
            <a:r>
              <a:t>CLASS C (CRITICAL SEVERITY)</a:t>
            </a:r>
          </a:p>
          <a:p>
            <a:pPr>
              <a:spcBef>
                <a:spcPts val="200"/>
              </a:spcBef>
              <a:defRPr sz="950">
                <a:solidFill>
                  <a:srgbClr val="0F172A"/>
                </a:solidFill>
              </a:defRPr>
            </a:pPr>
            <a:r>
              <a:t>PanelApp retains Green (diagnostic-grade) status in Disputed or Refuted genes.</a:t>
            </a:r>
            <a:br/>
            <a:r>
              <a:t>• Risk: Routine NHS GMS exome panels screen and report invalid genes.</a:t>
            </a:r>
            <a:br/>
            <a:r>
              <a:t>• Rule: (ClinGen in {Disputed, Refuted}) AND (PanelApp tier = Green)</a:t>
            </a:r>
          </a:p>
        </p:txBody>
      </p:sp>
      <p:sp>
        <p:nvSpPr>
          <p:cNvPr id="7" name="Rounded Rectangle 6"/>
          <p:cNvSpPr/>
          <p:nvPr/>
        </p:nvSpPr>
        <p:spPr>
          <a:xfrm>
            <a:off x="6035040" y="1645920"/>
            <a:ext cx="53949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ure_taxonomy_tree.png"/>
          <p:cNvPicPr>
            <a:picLocks noChangeAspect="1"/>
          </p:cNvPicPr>
          <p:nvPr/>
        </p:nvPicPr>
        <p:blipFill>
          <a:blip r:embed="rId2"/>
          <a:stretch>
            <a:fillRect/>
          </a:stretch>
        </p:blipFill>
        <p:spPr>
          <a:xfrm>
            <a:off x="6217920" y="1828800"/>
            <a:ext cx="5029200" cy="4114800"/>
          </a:xfrm>
          <a:prstGeom prst="rect">
            <a:avLst/>
          </a:prstGeom>
        </p:spPr>
      </p:pic>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8 of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POPULATION GENOMICS METHODOLOGY</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Population Genetics &amp; MCAF Ceiling Filter</a:t>
            </a:r>
          </a:p>
          <a:p>
            <a:pPr>
              <a:spcBef>
                <a:spcPts val="300"/>
              </a:spcBef>
              <a:defRPr sz="1200">
                <a:solidFill>
                  <a:srgbClr val="475569"/>
                </a:solidFill>
              </a:defRPr>
            </a:pPr>
            <a:r>
              <a:t>Using gnomAD v4 and mathematical allele frequency thresholds to refute false-positive assertions.</a:t>
            </a:r>
          </a:p>
        </p:txBody>
      </p:sp>
      <p:sp>
        <p:nvSpPr>
          <p:cNvPr id="5" name="Rounded Rectangle 4"/>
          <p:cNvSpPr/>
          <p:nvPr/>
        </p:nvSpPr>
        <p:spPr>
          <a:xfrm>
            <a:off x="731520" y="1645920"/>
            <a:ext cx="51663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00600" cy="4114800"/>
          </a:xfrm>
          <a:prstGeom prst="rect">
            <a:avLst/>
          </a:prstGeom>
          <a:noFill/>
        </p:spPr>
        <p:txBody>
          <a:bodyPr wrap="square">
            <a:spAutoFit/>
          </a:bodyPr>
          <a:lstStyle/>
          <a:p>
            <a:pPr>
              <a:defRPr sz="1100" b="1">
                <a:solidFill>
                  <a:srgbClr val="2563EB"/>
                </a:solidFill>
              </a:defRPr>
            </a:pPr>
            <a:r>
              <a:t>THE WHIFFIN ET AL. MCAF FRAMEWORK</a:t>
            </a:r>
          </a:p>
          <a:p>
            <a:pPr>
              <a:spcBef>
                <a:spcPts val="600"/>
              </a:spcBef>
              <a:defRPr sz="1000">
                <a:solidFill>
                  <a:srgbClr val="0F172A"/>
                </a:solidFill>
              </a:defRPr>
            </a:pPr>
            <a:r>
              <a:t>• Maximum Credible Allele Frequency (MCAF): The mathematical ceiling above which an allele is too common in the general population to cause a rare Mendelian disorder.</a:t>
            </a:r>
          </a:p>
          <a:p>
            <a:pPr>
              <a:spcBef>
                <a:spcPts val="600"/>
              </a:spcBef>
              <a:defRPr sz="1000">
                <a:solidFill>
                  <a:srgbClr val="0F172A"/>
                </a:solidFill>
              </a:defRPr>
            </a:pPr>
            <a:r>
              <a:t>• Dominant Disorders: MCAF_dom = (I * h) / (2 * P)</a:t>
            </a:r>
            <a:br/>
            <a:r>
              <a:t>Where I = Disease prevalence (Orphanet), h = Allelic heterogeneity (default 0.10), P = Penetrance (default 0.50).</a:t>
            </a:r>
          </a:p>
          <a:p>
            <a:pPr>
              <a:spcBef>
                <a:spcPts val="600"/>
              </a:spcBef>
              <a:defRPr sz="1000">
                <a:solidFill>
                  <a:srgbClr val="0F172A"/>
                </a:solidFill>
              </a:defRPr>
            </a:pPr>
            <a:r>
              <a:t>• Recessive Disorders: MCAF_rec = sqrt((I * h) / P)</a:t>
            </a:r>
          </a:p>
          <a:p>
            <a:pPr>
              <a:spcBef>
                <a:spcPts val="600"/>
              </a:spcBef>
              <a:defRPr sz="1000">
                <a:solidFill>
                  <a:srgbClr val="0F172A"/>
                </a:solidFill>
              </a:defRPr>
            </a:pPr>
            <a:r>
              <a:t>• gnomAD v4 Popmax Annotation: CuraCascade cross-references the maximum allele frequency across continental ancestries (African/African American, Latino, East Asian, European, South Asian).</a:t>
            </a:r>
          </a:p>
        </p:txBody>
      </p:sp>
      <p:sp>
        <p:nvSpPr>
          <p:cNvPr id="7" name="Rounded Rectangle 6"/>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114800"/>
          </a:xfrm>
          <a:prstGeom prst="rect">
            <a:avLst/>
          </a:prstGeom>
          <a:noFill/>
        </p:spPr>
        <p:txBody>
          <a:bodyPr wrap="square">
            <a:spAutoFit/>
          </a:bodyPr>
          <a:lstStyle/>
          <a:p>
            <a:pPr>
              <a:defRPr sz="1100" b="1">
                <a:solidFill>
                  <a:srgbClr val="10B981"/>
                </a:solidFill>
              </a:defRPr>
            </a:pPr>
            <a:r>
              <a:t>AUTOMATED ACMG BENIGN RULE INVOCATION</a:t>
            </a:r>
          </a:p>
          <a:p>
            <a:pPr>
              <a:spcBef>
                <a:spcPts val="600"/>
              </a:spcBef>
              <a:defRPr sz="1000">
                <a:solidFill>
                  <a:srgbClr val="0F172A"/>
                </a:solidFill>
              </a:defRPr>
            </a:pPr>
            <a:r>
              <a:t>• ACMG Rule BA1 (Stand-Alone Benign): If an allele frequency exceeds 5.0% in any continental population in gnomAD, it is stand-alone benign and cannot cause monogenic disease.</a:t>
            </a:r>
          </a:p>
          <a:p>
            <a:pPr>
              <a:spcBef>
                <a:spcPts val="600"/>
              </a:spcBef>
              <a:defRPr sz="1000">
                <a:solidFill>
                  <a:srgbClr val="0F172A"/>
                </a:solidFill>
              </a:defRPr>
            </a:pPr>
            <a:r>
              <a:t>• ACMG Rule BS1 (Strong Benign): If allele frequency exceeds the calculated MCAF ceiling for the specific disease indication, BS1 is automatically triggered.</a:t>
            </a:r>
          </a:p>
          <a:p>
            <a:pPr>
              <a:spcBef>
                <a:spcPts val="600"/>
              </a:spcBef>
              <a:defRPr sz="1000">
                <a:solidFill>
                  <a:srgbClr val="0F172A"/>
                </a:solidFill>
              </a:defRPr>
            </a:pPr>
            <a:r>
              <a:t>• Resolving Ancestral Disparities: Historically, rare variants in underrepresented minority ancestries were misclassified as pathogenic because control cohorts were predominantly European. Popmax filtering immediately catches these false positives.</a:t>
            </a:r>
          </a:p>
          <a:p>
            <a:pPr>
              <a:spcBef>
                <a:spcPts val="600"/>
              </a:spcBef>
              <a:defRPr sz="1000">
                <a:solidFill>
                  <a:srgbClr val="0F172A"/>
                </a:solidFill>
              </a:defRPr>
            </a:pPr>
            <a:r>
              <a:t>• Automated Evidence Dossier: CuraCascade embeds the fold-excess frequency multiplier directly into the clinical retraction memo.</a:t>
            </a:r>
          </a:p>
        </p:txBody>
      </p:sp>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9 of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EVIDENCE LATENCY &amp; SURVIVAL ANALYSIS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Longitudinal Latency &amp; Survival Kinetics</a:t>
            </a:r>
          </a:p>
          <a:p>
            <a:pPr>
              <a:spcBef>
                <a:spcPts val="300"/>
              </a:spcBef>
              <a:defRPr sz="1200">
                <a:solidFill>
                  <a:srgbClr val="475569"/>
                </a:solidFill>
              </a:defRPr>
            </a:pPr>
            <a:r>
              <a:t>Modeling downstream assertion resolution lifespans using Kaplan–Meier and multivariate Cox Proportional Hazards.</a:t>
            </a:r>
          </a:p>
        </p:txBody>
      </p:sp>
      <p:sp>
        <p:nvSpPr>
          <p:cNvPr id="5" name="Rounded Rectangle 4"/>
          <p:cNvSpPr/>
          <p:nvPr/>
        </p:nvSpPr>
        <p:spPr>
          <a:xfrm>
            <a:off x="7315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ure_survival_cox.png"/>
          <p:cNvPicPr>
            <a:picLocks noChangeAspect="1"/>
          </p:cNvPicPr>
          <p:nvPr/>
        </p:nvPicPr>
        <p:blipFill>
          <a:blip r:embed="rId2"/>
          <a:stretch>
            <a:fillRect/>
          </a:stretch>
        </p:blipFill>
        <p:spPr>
          <a:xfrm>
            <a:off x="914400" y="1828800"/>
            <a:ext cx="5303520" cy="4114800"/>
          </a:xfrm>
          <a:prstGeom prst="rect">
            <a:avLst/>
          </a:prstGeom>
        </p:spPr>
      </p:pic>
      <p:sp>
        <p:nvSpPr>
          <p:cNvPr id="7" name="Rounded Rectangle 6"/>
          <p:cNvSpPr/>
          <p:nvPr/>
        </p:nvSpPr>
        <p:spPr>
          <a:xfrm>
            <a:off x="66751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828800"/>
            <a:ext cx="4389120" cy="4114800"/>
          </a:xfrm>
          <a:prstGeom prst="rect">
            <a:avLst/>
          </a:prstGeom>
          <a:noFill/>
        </p:spPr>
        <p:txBody>
          <a:bodyPr wrap="square">
            <a:spAutoFit/>
          </a:bodyPr>
          <a:lstStyle/>
          <a:p>
            <a:pPr>
              <a:defRPr sz="1100" b="1">
                <a:solidFill>
                  <a:srgbClr val="7C3AED"/>
                </a:solidFill>
              </a:defRPr>
            </a:pPr>
            <a:r>
              <a:t>COX REGRESSION INSIGHTS (C-index = 0.724)</a:t>
            </a:r>
          </a:p>
          <a:p>
            <a:pPr>
              <a:spcBef>
                <a:spcPts val="600"/>
              </a:spcBef>
              <a:defRPr sz="980">
                <a:solidFill>
                  <a:srgbClr val="0F172A"/>
                </a:solidFill>
              </a:defRPr>
            </a:pPr>
            <a:r>
              <a:t>• The Review Star Accelerator (HR = 2.36, p &lt; 0.001): Assertions with &gt;=2 review stars resolve 2.36 times faster than 0-1 star assertions. High-star records are actively maintained, whereas 0-star submissions are often abandoned legacy files.</a:t>
            </a:r>
          </a:p>
          <a:p>
            <a:pPr>
              <a:spcBef>
                <a:spcPts val="600"/>
              </a:spcBef>
              <a:defRPr sz="980">
                <a:solidFill>
                  <a:srgbClr val="0F172A"/>
                </a:solidFill>
              </a:defRPr>
            </a:pPr>
            <a:r>
              <a:t>• The Commercial Lab Penalty (HR = 0.55, p &lt; 0.001): Commercial testing laboratories resolve assertions at nearly HALF the rate of academic centers. Why? Amending past patient reports incurs legal, operational, and financial friction.</a:t>
            </a:r>
          </a:p>
          <a:p>
            <a:pPr>
              <a:spcBef>
                <a:spcPts val="600"/>
              </a:spcBef>
              <a:defRPr sz="980">
                <a:solidFill>
                  <a:srgbClr val="0F172A"/>
                </a:solidFill>
              </a:defRPr>
            </a:pPr>
            <a:r>
              <a:t>• Severity Sensitivity (HR = 2.31, p &lt; 0.001): Acute Class A refutations resolve 2.3x faster than borderline Class B limited evidence.</a:t>
            </a:r>
          </a:p>
          <a:p>
            <a:pPr>
              <a:spcBef>
                <a:spcPts val="600"/>
              </a:spcBef>
              <a:defRPr sz="980">
                <a:solidFill>
                  <a:srgbClr val="0F172A"/>
                </a:solidFill>
              </a:defRPr>
            </a:pPr>
            <a:r>
              <a:t>• Domain Disparity: Cardiovascular (HR = 2.37) and cancer (HR = 1.71) resolve much faster than neurology (HR = 0.75).</a:t>
            </a:r>
          </a:p>
        </p:txBody>
      </p:sp>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10 of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MACHINE LEARNING ENGINE</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Machine-Learned Downgrade Triage Framework</a:t>
            </a:r>
          </a:p>
          <a:p>
            <a:pPr>
              <a:spcBef>
                <a:spcPts val="300"/>
              </a:spcBef>
              <a:defRPr sz="1200">
                <a:solidFill>
                  <a:srgbClr val="475569"/>
                </a:solidFill>
              </a:defRPr>
            </a:pPr>
            <a:r>
              <a:t>Supervised machine learning to forecast impending gene downgrades and prioritize curation queues.</a:t>
            </a:r>
          </a:p>
        </p:txBody>
      </p:sp>
      <p:sp>
        <p:nvSpPr>
          <p:cNvPr id="5" name="Rounded Rectangle 4"/>
          <p:cNvSpPr/>
          <p:nvPr/>
        </p:nvSpPr>
        <p:spPr>
          <a:xfrm>
            <a:off x="731520"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71800" cy="4114800"/>
          </a:xfrm>
          <a:prstGeom prst="rect">
            <a:avLst/>
          </a:prstGeom>
          <a:noFill/>
        </p:spPr>
        <p:txBody>
          <a:bodyPr wrap="square">
            <a:spAutoFit/>
          </a:bodyPr>
          <a:lstStyle/>
          <a:p>
            <a:pPr>
              <a:defRPr sz="1100" b="1">
                <a:solidFill>
                  <a:srgbClr val="D97706"/>
                </a:solidFill>
              </a:defRPr>
            </a:pPr>
            <a:r>
              <a:t>7 ENGINEERED FEATURES</a:t>
            </a:r>
          </a:p>
          <a:p>
            <a:pPr>
              <a:spcBef>
                <a:spcPts val="500"/>
              </a:spcBef>
              <a:defRPr sz="1000">
                <a:solidFill>
                  <a:srgbClr val="475569"/>
                </a:solidFill>
              </a:defRPr>
            </a:pPr>
            <a:r>
              <a:t>• 1. Curation Age (days since last ClinGen formal review)</a:t>
            </a:r>
          </a:p>
          <a:p>
            <a:pPr>
              <a:spcBef>
                <a:spcPts val="500"/>
              </a:spcBef>
              <a:defRPr sz="1000">
                <a:solidFill>
                  <a:srgbClr val="475569"/>
                </a:solidFill>
              </a:defRPr>
            </a:pPr>
            <a:r>
              <a:t>• 2. Total Variant Volume (total cataloged variants in ClinVar)</a:t>
            </a:r>
          </a:p>
          <a:p>
            <a:pPr>
              <a:spcBef>
                <a:spcPts val="500"/>
              </a:spcBef>
              <a:defRPr sz="1000">
                <a:solidFill>
                  <a:srgbClr val="475569"/>
                </a:solidFill>
              </a:defRPr>
            </a:pPr>
            <a:r>
              <a:t>• 3. Asserted P/LP Count (volume of pathogenic variants)</a:t>
            </a:r>
          </a:p>
          <a:p>
            <a:pPr>
              <a:spcBef>
                <a:spcPts val="500"/>
              </a:spcBef>
              <a:defRPr sz="1000">
                <a:solidFill>
                  <a:srgbClr val="475569"/>
                </a:solidFill>
              </a:defRPr>
            </a:pPr>
            <a:r>
              <a:t>• 4. Low ClinVar Star Ratio (fraction with &lt; 2 review stars)</a:t>
            </a:r>
          </a:p>
          <a:p>
            <a:pPr>
              <a:spcBef>
                <a:spcPts val="500"/>
              </a:spcBef>
              <a:defRPr sz="1000">
                <a:solidFill>
                  <a:srgbClr val="475569"/>
                </a:solidFill>
              </a:defRPr>
            </a:pPr>
            <a:r>
              <a:t>• 5. gnomAD Popmax AF (maximum continental frequency)</a:t>
            </a:r>
          </a:p>
          <a:p>
            <a:pPr>
              <a:spcBef>
                <a:spcPts val="500"/>
              </a:spcBef>
              <a:defRPr sz="1000">
                <a:solidFill>
                  <a:srgbClr val="475569"/>
                </a:solidFill>
              </a:defRPr>
            </a:pPr>
            <a:r>
              <a:t>• 6. MCAF Violation Rate (fraction exceeding disease frequency ceiling)</a:t>
            </a:r>
          </a:p>
          <a:p>
            <a:pPr>
              <a:spcBef>
                <a:spcPts val="500"/>
              </a:spcBef>
              <a:defRPr sz="1000">
                <a:solidFill>
                  <a:srgbClr val="475569"/>
                </a:solidFill>
              </a:defRPr>
            </a:pPr>
            <a:r>
              <a:t>• 7. PanelApp Amber/Red Count (non-green panel skepticisms)</a:t>
            </a:r>
          </a:p>
        </p:txBody>
      </p:sp>
      <p:sp>
        <p:nvSpPr>
          <p:cNvPr id="7" name="Rounded Rectangle 6"/>
          <p:cNvSpPr/>
          <p:nvPr/>
        </p:nvSpPr>
        <p:spPr>
          <a:xfrm>
            <a:off x="4389120"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2971800" cy="4114800"/>
          </a:xfrm>
          <a:prstGeom prst="rect">
            <a:avLst/>
          </a:prstGeom>
          <a:noFill/>
        </p:spPr>
        <p:txBody>
          <a:bodyPr wrap="square">
            <a:spAutoFit/>
          </a:bodyPr>
          <a:lstStyle/>
          <a:p>
            <a:pPr>
              <a:defRPr sz="1100" b="1">
                <a:solidFill>
                  <a:srgbClr val="2563EB"/>
                </a:solidFill>
              </a:defRPr>
            </a:pPr>
            <a:r>
              <a:t>MODEL ARCHITECTURE</a:t>
            </a:r>
          </a:p>
          <a:p>
            <a:pPr>
              <a:spcBef>
                <a:spcPts val="600"/>
              </a:spcBef>
              <a:defRPr sz="1000">
                <a:solidFill>
                  <a:srgbClr val="0F172A"/>
                </a:solidFill>
              </a:defRPr>
            </a:pPr>
            <a:r>
              <a:t>• Balanced Random Forest: 100 estimators, max depth 5, inverse class weighting to handle minority downgrade class.</a:t>
            </a:r>
          </a:p>
          <a:p>
            <a:pPr>
              <a:spcBef>
                <a:spcPts val="600"/>
              </a:spcBef>
              <a:defRPr sz="1000">
                <a:solidFill>
                  <a:srgbClr val="0F172A"/>
                </a:solidFill>
              </a:defRPr>
            </a:pPr>
            <a:r>
              <a:t>• Logistic Regression Baseline: L2 regularized balanced logistic regression for linear discrimination baseline.</a:t>
            </a:r>
          </a:p>
          <a:p>
            <a:pPr>
              <a:spcBef>
                <a:spcPts val="600"/>
              </a:spcBef>
              <a:defRPr sz="1000">
                <a:solidFill>
                  <a:srgbClr val="0F172A"/>
                </a:solidFill>
              </a:defRPr>
            </a:pPr>
            <a:r>
              <a:t>• Strict Temporal Split: Train on curations before Jan 1, 2021; Test on curations on/after Jan 1, 2021 to strictly avoid data leakage.</a:t>
            </a:r>
          </a:p>
          <a:p>
            <a:pPr>
              <a:spcBef>
                <a:spcPts val="600"/>
              </a:spcBef>
              <a:defRPr sz="1000">
                <a:solidFill>
                  <a:srgbClr val="0F172A"/>
                </a:solidFill>
              </a:defRPr>
            </a:pPr>
            <a:r>
              <a:t>• Permutation Importance: 10-fold permutation importance evaluates true non-linear feature contribution.</a:t>
            </a:r>
          </a:p>
        </p:txBody>
      </p:sp>
      <p:sp>
        <p:nvSpPr>
          <p:cNvPr id="9" name="Rounded Rectangle 8"/>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17520" cy="4114800"/>
          </a:xfrm>
          <a:prstGeom prst="rect">
            <a:avLst/>
          </a:prstGeom>
          <a:noFill/>
        </p:spPr>
        <p:txBody>
          <a:bodyPr wrap="square">
            <a:spAutoFit/>
          </a:bodyPr>
          <a:lstStyle/>
          <a:p>
            <a:pPr>
              <a:defRPr sz="1100" b="1">
                <a:solidFill>
                  <a:srgbClr val="10B981"/>
                </a:solidFill>
              </a:defRPr>
            </a:pPr>
            <a:r>
              <a:t>CLINICAL TRIAGE QUEUE</a:t>
            </a:r>
          </a:p>
          <a:p>
            <a:pPr>
              <a:spcBef>
                <a:spcPts val="600"/>
              </a:spcBef>
              <a:defRPr sz="1000">
                <a:solidFill>
                  <a:srgbClr val="0F172A"/>
                </a:solidFill>
              </a:defRPr>
            </a:pPr>
            <a:r>
              <a:t>• Calibrated Probability (S in [0, 1]): Converts raw ensemble votes into calibrated risk scores.</a:t>
            </a:r>
          </a:p>
          <a:p>
            <a:pPr>
              <a:spcBef>
                <a:spcPts val="600"/>
              </a:spcBef>
              <a:defRPr sz="1000">
                <a:solidFill>
                  <a:srgbClr val="0F172A"/>
                </a:solidFill>
              </a:defRPr>
            </a:pPr>
            <a:r>
              <a:t>• High-Risk Queue (S &gt;= 0.65): Flagged for immediate pre-emptive panel review by molecular geneticists.</a:t>
            </a:r>
          </a:p>
          <a:p>
            <a:pPr>
              <a:spcBef>
                <a:spcPts val="600"/>
              </a:spcBef>
              <a:defRPr sz="1000">
                <a:solidFill>
                  <a:srgbClr val="0F172A"/>
                </a:solidFill>
              </a:defRPr>
            </a:pPr>
            <a:r>
              <a:t>• Watch Queue (0.35 &lt;= S &lt; 0.65): Scheduled for targeted re-appraisal during annual overhaul.</a:t>
            </a:r>
          </a:p>
          <a:p>
            <a:pPr>
              <a:spcBef>
                <a:spcPts val="600"/>
              </a:spcBef>
              <a:defRPr sz="1000">
                <a:solidFill>
                  <a:srgbClr val="0F172A"/>
                </a:solidFill>
              </a:defRPr>
            </a:pPr>
            <a:r>
              <a:t>• Stable (S &lt; 0.35): High-concordance definitive disease genes.</a:t>
            </a:r>
          </a:p>
        </p:txBody>
      </p:sp>
      <p:sp>
        <p:nvSpPr>
          <p:cNvPr id="11" name="Rectangle 10"/>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11 of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ML EVALUATION &amp; BENCHMARKS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Empirical Results: Dual-Regime ML Reporting</a:t>
            </a:r>
          </a:p>
          <a:p>
            <a:pPr>
              <a:spcBef>
                <a:spcPts val="300"/>
              </a:spcBef>
              <a:defRPr sz="1200">
                <a:solidFill>
                  <a:srgbClr val="475569"/>
                </a:solidFill>
              </a:defRPr>
            </a:pPr>
            <a:r>
              <a:t>Transparent comparative evaluation between a curated positive control benchmark and the genome-wide empirical corpus.</a:t>
            </a:r>
          </a:p>
        </p:txBody>
      </p:sp>
      <p:sp>
        <p:nvSpPr>
          <p:cNvPr id="5" name="Rounded Rectangle 4"/>
          <p:cNvSpPr/>
          <p:nvPr/>
        </p:nvSpPr>
        <p:spPr>
          <a:xfrm>
            <a:off x="7315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ure_ml_benchmarks.png"/>
          <p:cNvPicPr>
            <a:picLocks noChangeAspect="1"/>
          </p:cNvPicPr>
          <p:nvPr/>
        </p:nvPicPr>
        <p:blipFill>
          <a:blip r:embed="rId2"/>
          <a:stretch>
            <a:fillRect/>
          </a:stretch>
        </p:blipFill>
        <p:spPr>
          <a:xfrm>
            <a:off x="914400" y="1828800"/>
            <a:ext cx="5303520" cy="4114800"/>
          </a:xfrm>
          <a:prstGeom prst="rect">
            <a:avLst/>
          </a:prstGeom>
        </p:spPr>
      </p:pic>
      <p:sp>
        <p:nvSpPr>
          <p:cNvPr id="7" name="Rounded Rectangle 6"/>
          <p:cNvSpPr/>
          <p:nvPr/>
        </p:nvSpPr>
        <p:spPr>
          <a:xfrm>
            <a:off x="66751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828800"/>
            <a:ext cx="4389120" cy="4114800"/>
          </a:xfrm>
          <a:prstGeom prst="rect">
            <a:avLst/>
          </a:prstGeom>
          <a:noFill/>
        </p:spPr>
        <p:txBody>
          <a:bodyPr wrap="square">
            <a:spAutoFit/>
          </a:bodyPr>
          <a:lstStyle/>
          <a:p>
            <a:pPr>
              <a:defRPr sz="1100" b="1">
                <a:solidFill>
                  <a:srgbClr val="2563EB"/>
                </a:solidFill>
              </a:defRPr>
            </a:pPr>
            <a:r>
              <a:t>HONEST DUAL-REGIME ANALYSIS</a:t>
            </a:r>
          </a:p>
          <a:p>
            <a:pPr>
              <a:spcBef>
                <a:spcPts val="600"/>
              </a:spcBef>
              <a:defRPr sz="980">
                <a:solidFill>
                  <a:srgbClr val="0F172A"/>
                </a:solidFill>
              </a:defRPr>
            </a:pPr>
            <a:r>
              <a:t>• 1. Positive Control Benchmark (N = 34): AUROC = 1.000, Precision@Top-20% = 100%. Linearly separable sanity verification where Curation Age dominates at 78.4% importance.</a:t>
            </a:r>
          </a:p>
          <a:p>
            <a:pPr>
              <a:spcBef>
                <a:spcPts val="600"/>
              </a:spcBef>
              <a:defRPr sz="980">
                <a:solidFill>
                  <a:srgbClr val="0F172A"/>
                </a:solidFill>
              </a:defRPr>
            </a:pPr>
            <a:r>
              <a:t>• 2. Genome-Wide Corpus (N = 3,833 genes, 51k variants): Random Forest AUROC = 0.857 (vs Logistic Regression 0.827), PR-AUC = 0.814, Precision@Top-20% = 75.8%.</a:t>
            </a:r>
          </a:p>
          <a:p>
            <a:pPr>
              <a:spcBef>
                <a:spcPts val="600"/>
              </a:spcBef>
              <a:defRPr sz="980">
                <a:solidFill>
                  <a:srgbClr val="0F172A"/>
                </a:solidFill>
              </a:defRPr>
            </a:pPr>
            <a:r>
              <a:t>• 3. The Mechanistic Feature Shift: In the genome-wide corpus, Curation Age drops to &lt;1%. Instead, Low ClinVar Star Density (70.2%) and PanelApp Discordance (26.0%) become the dominant predictors!</a:t>
            </a:r>
          </a:p>
          <a:p>
            <a:pPr>
              <a:spcBef>
                <a:spcPts val="600"/>
              </a:spcBef>
              <a:defRPr sz="980">
                <a:solidFill>
                  <a:srgbClr val="0F172A"/>
                </a:solidFill>
              </a:defRPr>
            </a:pPr>
            <a:r>
              <a:t>• 4. Scientific Takeaway: In real-world databases, impending downgrades are signaled by conflicting assertions and curator skepticism, not merely passage of time.</a:t>
            </a:r>
          </a:p>
        </p:txBody>
      </p:sp>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12 of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CLINICAL VALIDATION BENCHMARK</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Gold-Standard Validation Benchmark</a:t>
            </a:r>
          </a:p>
          <a:p>
            <a:pPr>
              <a:spcBef>
                <a:spcPts val="300"/>
              </a:spcBef>
              <a:defRPr sz="1200">
                <a:solidFill>
                  <a:srgbClr val="475569"/>
                </a:solidFill>
              </a:defRPr>
            </a:pPr>
            <a:r>
              <a:t>Evaluating automated join precision against manual blinded adjudication by expert clinical molecular geneticists.</a:t>
            </a:r>
          </a:p>
        </p:txBody>
      </p:sp>
      <p:sp>
        <p:nvSpPr>
          <p:cNvPr id="5" name="Rounded Rectangle 4"/>
          <p:cNvSpPr/>
          <p:nvPr/>
        </p:nvSpPr>
        <p:spPr>
          <a:xfrm>
            <a:off x="7315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ure_validation_matrix.png"/>
          <p:cNvPicPr>
            <a:picLocks noChangeAspect="1"/>
          </p:cNvPicPr>
          <p:nvPr/>
        </p:nvPicPr>
        <p:blipFill>
          <a:blip r:embed="rId2"/>
          <a:stretch>
            <a:fillRect/>
          </a:stretch>
        </p:blipFill>
        <p:spPr>
          <a:xfrm>
            <a:off x="914400" y="1828800"/>
            <a:ext cx="5303520" cy="4114800"/>
          </a:xfrm>
          <a:prstGeom prst="rect">
            <a:avLst/>
          </a:prstGeom>
        </p:spPr>
      </p:pic>
      <p:sp>
        <p:nvSpPr>
          <p:cNvPr id="7" name="Rounded Rectangle 6"/>
          <p:cNvSpPr/>
          <p:nvPr/>
        </p:nvSpPr>
        <p:spPr>
          <a:xfrm>
            <a:off x="66751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828800"/>
            <a:ext cx="4389120" cy="4114800"/>
          </a:xfrm>
          <a:prstGeom prst="rect">
            <a:avLst/>
          </a:prstGeom>
          <a:noFill/>
        </p:spPr>
        <p:txBody>
          <a:bodyPr wrap="square">
            <a:spAutoFit/>
          </a:bodyPr>
          <a:lstStyle/>
          <a:p>
            <a:pPr>
              <a:defRPr sz="1100" b="1">
                <a:solidFill>
                  <a:srgbClr val="10B981"/>
                </a:solidFill>
              </a:defRPr>
            </a:pPr>
            <a:r>
              <a:t>100-GENE CURATED BENCHMARK</a:t>
            </a:r>
          </a:p>
          <a:p>
            <a:pPr>
              <a:spcBef>
                <a:spcPts val="600"/>
              </a:spcBef>
              <a:defRPr sz="1000">
                <a:solidFill>
                  <a:srgbClr val="0F172A"/>
                </a:solidFill>
              </a:defRPr>
            </a:pPr>
            <a:r>
              <a:t>• Benchmark Cohort (N = 100): 54 true published downgrades (cardiovascular, hereditary cancer, neurodevelopmental) vs 46 definitive disease controls.</a:t>
            </a:r>
          </a:p>
          <a:p>
            <a:pPr>
              <a:spcBef>
                <a:spcPts val="600"/>
              </a:spcBef>
              <a:defRPr sz="1000">
                <a:solidFill>
                  <a:srgbClr val="0F172A"/>
                </a:solidFill>
              </a:defRPr>
            </a:pPr>
            <a:r>
              <a:t>• Precision (PPV) = 96.3%: Only 2 false positives out of 54 flagged genes, caused by historical gene symbol aliases that were resolved via HGNC crosswalk.</a:t>
            </a:r>
          </a:p>
          <a:p>
            <a:pPr>
              <a:spcBef>
                <a:spcPts val="600"/>
              </a:spcBef>
              <a:defRPr sz="1000">
                <a:solidFill>
                  <a:srgbClr val="0F172A"/>
                </a:solidFill>
              </a:defRPr>
            </a:pPr>
            <a:r>
              <a:t>• Recall (Sensitivity) = 96.3%: Successfully flagged 52 of 54 verified clinical evidence cascades.</a:t>
            </a:r>
          </a:p>
          <a:p>
            <a:pPr>
              <a:spcBef>
                <a:spcPts val="600"/>
              </a:spcBef>
              <a:defRPr sz="1000">
                <a:solidFill>
                  <a:srgbClr val="0F172A"/>
                </a:solidFill>
              </a:defRPr>
            </a:pPr>
            <a:r>
              <a:t>• Specificity = 95.7%: Accurately cleared 44 of 46 definitive control genes with zero inappropriate flags.</a:t>
            </a:r>
          </a:p>
          <a:p>
            <a:pPr>
              <a:spcBef>
                <a:spcPts val="600"/>
              </a:spcBef>
              <a:defRPr sz="1000">
                <a:solidFill>
                  <a:srgbClr val="0F172A"/>
                </a:solidFill>
              </a:defRPr>
            </a:pPr>
            <a:r>
              <a:t>• Cohen's Kappa (kappa = 0.920): Demonstrates near-perfect inter-rater agreement with blinded manual adjudication.</a:t>
            </a:r>
          </a:p>
        </p:txBody>
      </p:sp>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13 of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SOFTWARE ENGINEERING &amp; PRODUCTION INFRASTRUCTURE</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Headless CLI &amp; Automated CI/CD Gates</a:t>
            </a:r>
          </a:p>
          <a:p>
            <a:pPr>
              <a:spcBef>
                <a:spcPts val="300"/>
              </a:spcBef>
              <a:defRPr sz="1200">
                <a:solidFill>
                  <a:srgbClr val="475569"/>
                </a:solidFill>
              </a:defRPr>
            </a:pPr>
            <a:r>
              <a:t>Production-grade tooling, POSIX status conventions, Docker containerization, and GitHub Actions workflows.</a:t>
            </a:r>
          </a:p>
        </p:txBody>
      </p:sp>
      <p:sp>
        <p:nvSpPr>
          <p:cNvPr id="5" name="Rounded Rectangle 4"/>
          <p:cNvSpPr/>
          <p:nvPr/>
        </p:nvSpPr>
        <p:spPr>
          <a:xfrm>
            <a:off x="731520" y="1645920"/>
            <a:ext cx="51663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00600" cy="4114800"/>
          </a:xfrm>
          <a:prstGeom prst="rect">
            <a:avLst/>
          </a:prstGeom>
          <a:noFill/>
        </p:spPr>
        <p:txBody>
          <a:bodyPr wrap="square">
            <a:spAutoFit/>
          </a:bodyPr>
          <a:lstStyle/>
          <a:p>
            <a:pPr>
              <a:defRPr sz="1100" b="1">
                <a:solidFill>
                  <a:srgbClr val="2563EB"/>
                </a:solidFill>
              </a:defRPr>
            </a:pPr>
            <a:r>
              <a:t>UNIFIED HEADLESS CLI (run.py)</a:t>
            </a:r>
          </a:p>
          <a:p>
            <a:pPr>
              <a:spcBef>
                <a:spcPts val="600"/>
              </a:spcBef>
              <a:defRPr sz="1000">
                <a:solidFill>
                  <a:srgbClr val="0F172A"/>
                </a:solidFill>
              </a:defRPr>
            </a:pPr>
            <a:r>
              <a:t>• Subcommand 'audit': python run.py audit --genes BARD1,SCN1B --class all --format table</a:t>
            </a:r>
            <a:br/>
            <a:r>
              <a:t>Exports findings to ASCII tables, JSON payloads, or CSV.</a:t>
            </a:r>
          </a:p>
          <a:p>
            <a:pPr>
              <a:spcBef>
                <a:spcPts val="600"/>
              </a:spcBef>
              <a:defRPr sz="1000">
                <a:solidFill>
                  <a:srgbClr val="0F172A"/>
                </a:solidFill>
              </a:defRPr>
            </a:pPr>
            <a:r>
              <a:t>• POSIX Status Conventions for CI: • Exit 0: Clean audit / Success</a:t>
            </a:r>
            <a:br/>
            <a:r>
              <a:t>• Exit 1: Critical Class A findings detected (blocks deployment)</a:t>
            </a:r>
            <a:br/>
            <a:r>
              <a:t>• Exit 2: Integrity or query failure</a:t>
            </a:r>
          </a:p>
          <a:p>
            <a:pPr>
              <a:spcBef>
                <a:spcPts val="600"/>
              </a:spcBef>
              <a:defRPr sz="1000">
                <a:solidFill>
                  <a:srgbClr val="0F172A"/>
                </a:solidFill>
              </a:defRPr>
            </a:pPr>
            <a:r>
              <a:t>• Subcommand 'verify': python run.py verify</a:t>
            </a:r>
            <a:br/>
            <a:r>
              <a:t>Executes automated relational integrity suite (PRAGMA foreign_key_check) and SHA-256 cryptographic provenance checks.</a:t>
            </a:r>
          </a:p>
          <a:p>
            <a:pPr>
              <a:spcBef>
                <a:spcPts val="600"/>
              </a:spcBef>
              <a:defRPr sz="1000">
                <a:solidFill>
                  <a:srgbClr val="0F172A"/>
                </a:solidFill>
              </a:defRPr>
            </a:pPr>
            <a:r>
              <a:t>• Subcommand 'serve': python run.py serve</a:t>
            </a:r>
            <a:br/>
            <a:r>
              <a:t>Launches Streamlit dashboard locally on port 8501.</a:t>
            </a:r>
          </a:p>
        </p:txBody>
      </p:sp>
      <p:sp>
        <p:nvSpPr>
          <p:cNvPr id="7" name="Rounded Rectangle 6"/>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114800"/>
          </a:xfrm>
          <a:prstGeom prst="rect">
            <a:avLst/>
          </a:prstGeom>
          <a:noFill/>
        </p:spPr>
        <p:txBody>
          <a:bodyPr wrap="square">
            <a:spAutoFit/>
          </a:bodyPr>
          <a:lstStyle/>
          <a:p>
            <a:pPr>
              <a:defRPr sz="1100" b="1">
                <a:solidFill>
                  <a:srgbClr val="0D9488"/>
                </a:solidFill>
              </a:defRPr>
            </a:pPr>
            <a:r>
              <a:t>ENTERPRISE DEPLOYMENT &amp; CI WORKFLOWS</a:t>
            </a:r>
          </a:p>
          <a:p>
            <a:pPr>
              <a:spcBef>
                <a:spcPts val="600"/>
              </a:spcBef>
              <a:defRPr sz="1000">
                <a:solidFill>
                  <a:srgbClr val="0F172A"/>
                </a:solidFill>
              </a:defRPr>
            </a:pPr>
            <a:r>
              <a:t>• GitHub Actions Pipeline (.github/workflows/audit_ci.yml): Runs on every push/PR to main branch. Automatically provisions environment, runs integrity verification, and executes test suites.</a:t>
            </a:r>
          </a:p>
          <a:p>
            <a:pPr>
              <a:spcBef>
                <a:spcPts val="600"/>
              </a:spcBef>
              <a:defRPr sz="1000">
                <a:solidFill>
                  <a:srgbClr val="0F172A"/>
                </a:solidFill>
              </a:defRPr>
            </a:pPr>
            <a:r>
              <a:t>• Comprehensive Pytest Suite: • test_cli.py: Validates CLI status codes and formatting.</a:t>
            </a:r>
            <a:br/>
            <a:r>
              <a:t>• test_dossier.py: Validates clinical governance memo structure and mandatory regulatory sections.</a:t>
            </a:r>
          </a:p>
          <a:p>
            <a:pPr>
              <a:spcBef>
                <a:spcPts val="600"/>
              </a:spcBef>
              <a:defRPr sz="1000">
                <a:solidFill>
                  <a:srgbClr val="0F172A"/>
                </a:solidFill>
              </a:defRPr>
            </a:pPr>
            <a:r>
              <a:t>• Docker Containerization (Dockerfile): Lightweight, reproducible container image. Zero external database daemon dependencies—runs anywhere with 'docker run -p 8501:8501 curacascade'.</a:t>
            </a:r>
          </a:p>
          <a:p>
            <a:pPr>
              <a:spcBef>
                <a:spcPts val="600"/>
              </a:spcBef>
              <a:defRPr sz="1000">
                <a:solidFill>
                  <a:srgbClr val="0F172A"/>
                </a:solidFill>
              </a:defRPr>
            </a:pPr>
            <a:r>
              <a:t>• Automated Build Artifacts: Publishes JSON audit summaries and publication PDF directly to workflow artifacts.</a:t>
            </a:r>
          </a:p>
        </p:txBody>
      </p:sp>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14 of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USER INTERFACE &amp; CLINICAL TOOLS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Clinical Decision Support &amp; Web Portal</a:t>
            </a:r>
          </a:p>
          <a:p>
            <a:pPr>
              <a:spcBef>
                <a:spcPts val="300"/>
              </a:spcBef>
              <a:defRPr sz="1200">
                <a:solidFill>
                  <a:srgbClr val="475569"/>
                </a:solidFill>
              </a:defRPr>
            </a:pPr>
            <a:r>
              <a:t>An interactive, executive-grade clinical portal deployed at curacascade.streamlit.app.</a:t>
            </a:r>
          </a:p>
        </p:txBody>
      </p:sp>
      <p:sp>
        <p:nvSpPr>
          <p:cNvPr id="5" name="Rounded Rectangle 4"/>
          <p:cNvSpPr/>
          <p:nvPr/>
        </p:nvSpPr>
        <p:spPr>
          <a:xfrm>
            <a:off x="7315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4937760" cy="1920240"/>
          </a:xfrm>
          <a:prstGeom prst="rect">
            <a:avLst/>
          </a:prstGeom>
          <a:noFill/>
        </p:spPr>
        <p:txBody>
          <a:bodyPr wrap="square">
            <a:spAutoFit/>
          </a:bodyPr>
          <a:lstStyle/>
          <a:p>
            <a:pPr>
              <a:defRPr sz="1050" b="1">
                <a:solidFill>
                  <a:srgbClr val="2563EB"/>
                </a:solidFill>
              </a:defRPr>
            </a:pPr>
            <a:r>
              <a:t>MODULES 1 &amp; 2: EXECUTIVE KPIS &amp; CUSTOM AUDIT</a:t>
            </a:r>
          </a:p>
          <a:p>
            <a:pPr>
              <a:spcBef>
                <a:spcPts val="300"/>
              </a:spcBef>
              <a:defRPr sz="980">
                <a:solidFill>
                  <a:srgbClr val="0F172A"/>
                </a:solidFill>
              </a:defRPr>
            </a:pPr>
            <a:r>
              <a:t>• Headline metric banners (3,833 genes, 51,251 findings).</a:t>
            </a:r>
          </a:p>
          <a:p>
            <a:pPr>
              <a:spcBef>
                <a:spcPts val="300"/>
              </a:spcBef>
              <a:defRPr sz="980">
                <a:solidFill>
                  <a:srgbClr val="0F172A"/>
                </a:solidFill>
              </a:defRPr>
            </a:pPr>
            <a:r>
              <a:t>• Multi-Gene Custom Audit Portal: laboratory geneticists can paste arbitrary gene lists for instant multi-database cross-referencing.</a:t>
            </a:r>
          </a:p>
          <a:p>
            <a:pPr>
              <a:spcBef>
                <a:spcPts val="300"/>
              </a:spcBef>
              <a:defRPr sz="980">
                <a:solidFill>
                  <a:srgbClr val="0F172A"/>
                </a:solidFill>
              </a:defRPr>
            </a:pPr>
            <a:r>
              <a:t>• Instant summary of downstream ClinVar and PanelApp status.</a:t>
            </a:r>
          </a:p>
        </p:txBody>
      </p:sp>
      <p:sp>
        <p:nvSpPr>
          <p:cNvPr id="7" name="Rounded Rectangle 6"/>
          <p:cNvSpPr/>
          <p:nvPr/>
        </p:nvSpPr>
        <p:spPr>
          <a:xfrm>
            <a:off x="62179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83080"/>
            <a:ext cx="4937760" cy="1920240"/>
          </a:xfrm>
          <a:prstGeom prst="rect">
            <a:avLst/>
          </a:prstGeom>
          <a:noFill/>
        </p:spPr>
        <p:txBody>
          <a:bodyPr wrap="square">
            <a:spAutoFit/>
          </a:bodyPr>
          <a:lstStyle/>
          <a:p>
            <a:pPr>
              <a:defRPr sz="1050" b="1">
                <a:solidFill>
                  <a:srgbClr val="0D9488"/>
                </a:solidFill>
              </a:defRPr>
            </a:pPr>
            <a:r>
              <a:t>MODULES 3 &amp; 4: INCONSISTENCIES &amp; POPULATION GENETICS</a:t>
            </a:r>
          </a:p>
          <a:p>
            <a:pPr>
              <a:spcBef>
                <a:spcPts val="300"/>
              </a:spcBef>
              <a:defRPr sz="980">
                <a:solidFill>
                  <a:srgbClr val="0F172A"/>
                </a:solidFill>
              </a:defRPr>
            </a:pPr>
            <a:r>
              <a:t>• Interactive discrepancy explorer with sortable variation IDs, ClinGen GCEP links, and elapsed unresolved days.</a:t>
            </a:r>
          </a:p>
          <a:p>
            <a:pPr>
              <a:spcBef>
                <a:spcPts val="300"/>
              </a:spcBef>
              <a:defRPr sz="980">
                <a:solidFill>
                  <a:srgbClr val="0F172A"/>
                </a:solidFill>
              </a:defRPr>
            </a:pPr>
            <a:r>
              <a:t>• gnomAD v4 Population Genetics Inspector with continental popmax frequencies and interactive MCAF ceiling sliders.</a:t>
            </a:r>
          </a:p>
        </p:txBody>
      </p:sp>
      <p:sp>
        <p:nvSpPr>
          <p:cNvPr id="9" name="Rounded Rectangle 8"/>
          <p:cNvSpPr/>
          <p:nvPr/>
        </p:nvSpPr>
        <p:spPr>
          <a:xfrm>
            <a:off x="731520" y="3931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69080"/>
            <a:ext cx="4937760" cy="1920240"/>
          </a:xfrm>
          <a:prstGeom prst="rect">
            <a:avLst/>
          </a:prstGeom>
          <a:noFill/>
        </p:spPr>
        <p:txBody>
          <a:bodyPr wrap="square">
            <a:spAutoFit/>
          </a:bodyPr>
          <a:lstStyle/>
          <a:p>
            <a:pPr>
              <a:defRPr sz="1050" b="1">
                <a:solidFill>
                  <a:srgbClr val="7C3AED"/>
                </a:solidFill>
              </a:defRPr>
            </a:pPr>
            <a:r>
              <a:t>MODULES 5 &amp; 6: ML TRIAGE QUEUE &amp; SURVIVAL ANALYTICS</a:t>
            </a:r>
          </a:p>
          <a:p>
            <a:pPr>
              <a:spcBef>
                <a:spcPts val="300"/>
              </a:spcBef>
              <a:defRPr sz="980">
                <a:solidFill>
                  <a:srgbClr val="0F172A"/>
                </a:solidFill>
              </a:defRPr>
            </a:pPr>
            <a:r>
              <a:t>• Downgrade Vulnerability Forecaster: ranks supported genes by calibrated risk score and reveals top feature drivers.</a:t>
            </a:r>
          </a:p>
          <a:p>
            <a:pPr>
              <a:spcBef>
                <a:spcPts val="300"/>
              </a:spcBef>
              <a:defRPr sz="980">
                <a:solidFill>
                  <a:srgbClr val="0F172A"/>
                </a:solidFill>
              </a:defRPr>
            </a:pPr>
            <a:r>
              <a:t>• Longitudinal Survival Modeling: interactive Kaplan-Meier curves and multivariate Cox hazard ratio exploration.</a:t>
            </a:r>
          </a:p>
        </p:txBody>
      </p:sp>
      <p:sp>
        <p:nvSpPr>
          <p:cNvPr id="11" name="Rounded Rectangle 10"/>
          <p:cNvSpPr/>
          <p:nvPr/>
        </p:nvSpPr>
        <p:spPr>
          <a:xfrm>
            <a:off x="6217920" y="3931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069080"/>
            <a:ext cx="4937760" cy="1920240"/>
          </a:xfrm>
          <a:prstGeom prst="rect">
            <a:avLst/>
          </a:prstGeom>
          <a:noFill/>
        </p:spPr>
        <p:txBody>
          <a:bodyPr wrap="square">
            <a:spAutoFit/>
          </a:bodyPr>
          <a:lstStyle/>
          <a:p>
            <a:pPr>
              <a:defRPr sz="1050" b="1">
                <a:solidFill>
                  <a:srgbClr val="10B981"/>
                </a:solidFill>
              </a:defRPr>
            </a:pPr>
            <a:r>
              <a:t>MODULES 7 &amp; 8: CLINICAL DOSSIERS &amp; VALIDATION BENCHMARK</a:t>
            </a:r>
          </a:p>
          <a:p>
            <a:pPr>
              <a:spcBef>
                <a:spcPts val="300"/>
              </a:spcBef>
              <a:defRPr sz="980">
                <a:solidFill>
                  <a:srgbClr val="0F172A"/>
                </a:solidFill>
              </a:defRPr>
            </a:pPr>
            <a:r>
              <a:t>• Clinical Governance Dossier Generator: one-click export of regulatory clinical memos in Markdown and PDF format.</a:t>
            </a:r>
          </a:p>
          <a:p>
            <a:pPr>
              <a:spcBef>
                <a:spcPts val="300"/>
              </a:spcBef>
              <a:defRPr sz="980">
                <a:solidFill>
                  <a:srgbClr val="0F172A"/>
                </a:solidFill>
              </a:defRPr>
            </a:pPr>
            <a:r>
              <a:t>• Cross-Layer Validation Benchmark: real-time reporting of PPV (96.3%), Sensitivity, and Cohen's Kappa concordance.</a:t>
            </a:r>
          </a:p>
        </p:txBody>
      </p:sp>
      <p:sp>
        <p:nvSpPr>
          <p:cNvPr id="13" name="Rectangle 12"/>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15 of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REGULATORY COMPLIANCE &amp; ACCREDITATION</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Clinical Governance &amp; Remediation Dossiers</a:t>
            </a:r>
          </a:p>
          <a:p>
            <a:pPr>
              <a:spcBef>
                <a:spcPts val="300"/>
              </a:spcBef>
              <a:defRPr sz="1200">
                <a:solidFill>
                  <a:srgbClr val="475569"/>
                </a:solidFill>
              </a:defRPr>
            </a:pPr>
            <a:r>
              <a:t>Automating regulatory compliance under CAP, CLIA, and ISO 15189:2022 standards.</a:t>
            </a:r>
          </a:p>
        </p:txBody>
      </p:sp>
      <p:sp>
        <p:nvSpPr>
          <p:cNvPr id="5" name="Rounded Rectangle 4"/>
          <p:cNvSpPr/>
          <p:nvPr/>
        </p:nvSpPr>
        <p:spPr>
          <a:xfrm>
            <a:off x="731520" y="1645920"/>
            <a:ext cx="47548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389120" cy="4114800"/>
          </a:xfrm>
          <a:prstGeom prst="rect">
            <a:avLst/>
          </a:prstGeom>
          <a:noFill/>
        </p:spPr>
        <p:txBody>
          <a:bodyPr wrap="square">
            <a:spAutoFit/>
          </a:bodyPr>
          <a:lstStyle/>
          <a:p>
            <a:pPr>
              <a:defRPr sz="1100" b="1">
                <a:solidFill>
                  <a:srgbClr val="E11D48"/>
                </a:solidFill>
              </a:defRPr>
            </a:pPr>
            <a:r>
              <a:t>REGULATORY ACCREDITATION MANDATES</a:t>
            </a:r>
          </a:p>
          <a:p>
            <a:pPr>
              <a:spcBef>
                <a:spcPts val="600"/>
              </a:spcBef>
              <a:defRPr sz="1000">
                <a:solidFill>
                  <a:srgbClr val="0F172A"/>
                </a:solidFill>
              </a:defRPr>
            </a:pPr>
            <a:r>
              <a:t>• ISO 15189:2022 Section 7.3: Mandates that medical laboratories continuously review examination procedures and diagnostic panel contents to ensure ongoing validity.</a:t>
            </a:r>
          </a:p>
          <a:p>
            <a:pPr>
              <a:spcBef>
                <a:spcPts val="600"/>
              </a:spcBef>
              <a:defRPr sz="1000">
                <a:solidFill>
                  <a:srgbClr val="0F172A"/>
                </a:solidFill>
              </a:defRPr>
            </a:pPr>
            <a:r>
              <a:t>• CLIA / CAP Requirements: Requires clinical laboratories to maintain active quality assurance protocols to identify and remediate diagnostic discrepancies.</a:t>
            </a:r>
          </a:p>
          <a:p>
            <a:pPr>
              <a:spcBef>
                <a:spcPts val="600"/>
              </a:spcBef>
              <a:defRPr sz="1000">
                <a:solidFill>
                  <a:srgbClr val="0F172A"/>
                </a:solidFill>
              </a:defRPr>
            </a:pPr>
            <a:r>
              <a:t>• The Retraction Dilemma: When an audit flags a Class A inconsistency, laboratory directors must decide: Which past patient reports require amendment? How should ClinVar submissions be retracted?</a:t>
            </a:r>
          </a:p>
          <a:p>
            <a:pPr>
              <a:spcBef>
                <a:spcPts val="600"/>
              </a:spcBef>
              <a:defRPr sz="1000">
                <a:solidFill>
                  <a:srgbClr val="0F172A"/>
                </a:solidFill>
              </a:defRPr>
            </a:pPr>
            <a:r>
              <a:t>• The CuraCascade Firewall: Acts as an automated pre-report audit firewall in LIMS workflows, halting misclassified variant reports before they reach patients.</a:t>
            </a:r>
          </a:p>
        </p:txBody>
      </p:sp>
      <p:sp>
        <p:nvSpPr>
          <p:cNvPr id="7" name="Rounded Rectangle 6"/>
          <p:cNvSpPr/>
          <p:nvPr/>
        </p:nvSpPr>
        <p:spPr>
          <a:xfrm>
            <a:off x="5760720" y="1645920"/>
            <a:ext cx="5669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1828800"/>
            <a:ext cx="5303520" cy="4114800"/>
          </a:xfrm>
          <a:prstGeom prst="rect">
            <a:avLst/>
          </a:prstGeom>
          <a:noFill/>
        </p:spPr>
        <p:txBody>
          <a:bodyPr wrap="square">
            <a:spAutoFit/>
          </a:bodyPr>
          <a:lstStyle/>
          <a:p>
            <a:pPr>
              <a:defRPr sz="1100" b="1">
                <a:solidFill>
                  <a:srgbClr val="2563EB"/>
                </a:solidFill>
              </a:defRPr>
            </a:pPr>
            <a:r>
              <a:t>THE 6-SECTION CLINICAL DOSSIER (pipeline/remediation.py)</a:t>
            </a:r>
          </a:p>
          <a:p>
            <a:pPr>
              <a:spcBef>
                <a:spcPts val="400"/>
              </a:spcBef>
              <a:defRPr sz="950">
                <a:solidFill>
                  <a:srgbClr val="0F172A"/>
                </a:solidFill>
              </a:defRPr>
            </a:pPr>
            <a:r>
              <a:t>• 1. Header Directive: Formal regulatory clinical directive with target gene symbol and evaluation timestamp.</a:t>
            </a:r>
          </a:p>
          <a:p>
            <a:pPr>
              <a:spcBef>
                <a:spcPts val="400"/>
              </a:spcBef>
              <a:defRPr sz="950">
                <a:solidFill>
                  <a:srgbClr val="0F172A"/>
                </a:solidFill>
              </a:defRPr>
            </a:pPr>
            <a:r>
              <a:t>• 2. Consensus Metadata Table: ClinGen GCEP panel identification, classification date, MONDO ID, and evidence URL.</a:t>
            </a:r>
          </a:p>
          <a:p>
            <a:pPr>
              <a:spcBef>
                <a:spcPts val="400"/>
              </a:spcBef>
              <a:defRPr sz="950">
                <a:solidFill>
                  <a:srgbClr val="0F172A"/>
                </a:solidFill>
              </a:defRPr>
            </a:pPr>
            <a:r>
              <a:t>• 3. Orthogonal Population Genetics Summary: gnomAD v4 global &amp; popmax frequency, disease MCAF ceiling, fold-excess multiplier, and ancestry disparity statement.</a:t>
            </a:r>
          </a:p>
          <a:p>
            <a:pPr>
              <a:spcBef>
                <a:spcPts val="400"/>
              </a:spcBef>
              <a:defRPr sz="950">
                <a:solidFill>
                  <a:srgbClr val="0F172A"/>
                </a:solidFill>
              </a:defRPr>
            </a:pPr>
            <a:r>
              <a:t>• 4. Downstream Assertions Catalog: Tabular inventory of all active ClinVar variation IDs and PanelApp diagnostic memberships requiring retraction.</a:t>
            </a:r>
          </a:p>
          <a:p>
            <a:pPr>
              <a:spcBef>
                <a:spcPts val="400"/>
              </a:spcBef>
              <a:defRPr sz="950">
                <a:solidFill>
                  <a:srgbClr val="0F172A"/>
                </a:solidFill>
              </a:defRPr>
            </a:pPr>
            <a:r>
              <a:t>• 5. Prescriptive ACMG Remediation Checklist: Step-by-step guidance to invoke ACMG Rules BA1/BS1, de-escalate variant to Benign/VUS, and initiate patient re-contact protocols.</a:t>
            </a:r>
          </a:p>
          <a:p>
            <a:pPr>
              <a:spcBef>
                <a:spcPts val="400"/>
              </a:spcBef>
              <a:defRPr sz="950">
                <a:solidFill>
                  <a:srgbClr val="0F172A"/>
                </a:solidFill>
              </a:defRPr>
            </a:pPr>
            <a:r>
              <a:t>• 6. Formal Attestation Sign-Off Block: Structured signature blocks for Lead Clinical Molecular Geneticist and Laboratory Medical Director.</a:t>
            </a:r>
          </a:p>
        </p:txBody>
      </p:sp>
      <p:sp>
        <p:nvSpPr>
          <p:cNvPr id="9" name="Rectangle 8"/>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16 of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CRITICAL DISCUSSION &amp; LIMITATIONS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Critical Discussion, Limitations &amp; Ethics</a:t>
            </a:r>
          </a:p>
          <a:p>
            <a:pPr>
              <a:spcBef>
                <a:spcPts val="300"/>
              </a:spcBef>
              <a:defRPr sz="1200">
                <a:solidFill>
                  <a:srgbClr val="475569"/>
                </a:solidFill>
              </a:defRPr>
            </a:pPr>
            <a:r>
              <a:t>Proactively addressing operational roadblocks, institutional friction, and ethical responsibilities.</a:t>
            </a:r>
          </a:p>
        </p:txBody>
      </p:sp>
      <p:sp>
        <p:nvSpPr>
          <p:cNvPr id="5" name="Rounded Rectangle 4"/>
          <p:cNvSpPr/>
          <p:nvPr/>
        </p:nvSpPr>
        <p:spPr>
          <a:xfrm>
            <a:off x="731520" y="164592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3200400" cy="4114800"/>
          </a:xfrm>
          <a:prstGeom prst="rect">
            <a:avLst/>
          </a:prstGeom>
          <a:noFill/>
        </p:spPr>
        <p:txBody>
          <a:bodyPr wrap="square">
            <a:spAutoFit/>
          </a:bodyPr>
          <a:lstStyle/>
          <a:p>
            <a:pPr>
              <a:defRPr sz="1100" b="1">
                <a:solidFill>
                  <a:srgbClr val="E11D48"/>
                </a:solidFill>
              </a:defRPr>
            </a:pPr>
            <a:r>
              <a:t>COMMERCIAL LABORATORY INERTIA</a:t>
            </a:r>
          </a:p>
          <a:p>
            <a:pPr>
              <a:spcBef>
                <a:spcPts val="800"/>
              </a:spcBef>
              <a:defRPr sz="1000">
                <a:solidFill>
                  <a:srgbClr val="475569"/>
                </a:solidFill>
              </a:defRPr>
            </a:pPr>
            <a:r>
              <a:t>• Why do commercial laboratories take longer to retract assertions (HR = 0.55)?</a:t>
            </a:r>
          </a:p>
          <a:p>
            <a:pPr>
              <a:spcBef>
                <a:spcPts val="800"/>
              </a:spcBef>
              <a:defRPr sz="1000">
                <a:solidFill>
                  <a:srgbClr val="475569"/>
                </a:solidFill>
              </a:defRPr>
            </a:pPr>
            <a:r>
              <a:t>• Legal &amp; Liability Concerns: Re-contacting ordering physicians and issuing amended diagnostic reports invites legal liability and administrative costs.</a:t>
            </a:r>
          </a:p>
          <a:p>
            <a:pPr>
              <a:spcBef>
                <a:spcPts val="800"/>
              </a:spcBef>
              <a:defRPr sz="1000">
                <a:solidFill>
                  <a:srgbClr val="475569"/>
                </a:solidFill>
              </a:defRPr>
            </a:pPr>
            <a:r>
              <a:t>• Regulatory Disincentive: Laboratories often wait for annual panel overhauls rather than executing real-time retract-and-replace updates.</a:t>
            </a:r>
          </a:p>
        </p:txBody>
      </p:sp>
      <p:sp>
        <p:nvSpPr>
          <p:cNvPr id="7" name="Rounded Rectangle 6"/>
          <p:cNvSpPr/>
          <p:nvPr/>
        </p:nvSpPr>
        <p:spPr>
          <a:xfrm>
            <a:off x="4343400" y="164592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828800"/>
            <a:ext cx="3200400" cy="4114800"/>
          </a:xfrm>
          <a:prstGeom prst="rect">
            <a:avLst/>
          </a:prstGeom>
          <a:noFill/>
        </p:spPr>
        <p:txBody>
          <a:bodyPr wrap="square">
            <a:spAutoFit/>
          </a:bodyPr>
          <a:lstStyle/>
          <a:p>
            <a:pPr>
              <a:defRPr sz="1100" b="1">
                <a:solidFill>
                  <a:srgbClr val="D97706"/>
                </a:solidFill>
              </a:defRPr>
            </a:pPr>
            <a:r>
              <a:t>ONTOLOGY &amp; PHENOTYPE HARMONIZATION</a:t>
            </a:r>
          </a:p>
          <a:p>
            <a:pPr>
              <a:spcBef>
                <a:spcPts val="800"/>
              </a:spcBef>
              <a:defRPr sz="1000">
                <a:solidFill>
                  <a:srgbClr val="475569"/>
                </a:solidFill>
              </a:defRPr>
            </a:pPr>
            <a:r>
              <a:t>• Decentralized Ontology Dialects: ClinGen indexes MONDO concepts, ClinVar indexes MedGen/OMIM, and PanelApp indexes disease names.</a:t>
            </a:r>
          </a:p>
          <a:p>
            <a:pPr>
              <a:spcBef>
                <a:spcPts val="800"/>
              </a:spcBef>
              <a:defRPr sz="1000">
                <a:solidFill>
                  <a:srgbClr val="475569"/>
                </a:solidFill>
              </a:defRPr>
            </a:pPr>
            <a:r>
              <a:t>• Crosswalk Gaps: While CuraCascade implements deterministic ontology crosswalks, rare disease subtypes with overlapping phenotypes require ongoing manual curation.</a:t>
            </a:r>
          </a:p>
          <a:p>
            <a:pPr>
              <a:spcBef>
                <a:spcPts val="800"/>
              </a:spcBef>
              <a:defRPr sz="1000">
                <a:solidFill>
                  <a:srgbClr val="475569"/>
                </a:solidFill>
              </a:defRPr>
            </a:pPr>
            <a:r>
              <a:t>• Variable Penetrance: Certain genes exhibit reduced penetrance, complicating strict Mendelian MCAF filtering.</a:t>
            </a:r>
          </a:p>
        </p:txBody>
      </p:sp>
      <p:sp>
        <p:nvSpPr>
          <p:cNvPr id="9" name="Rounded Rectangle 8"/>
          <p:cNvSpPr/>
          <p:nvPr/>
        </p:nvSpPr>
        <p:spPr>
          <a:xfrm>
            <a:off x="7955280" y="164592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828800"/>
            <a:ext cx="3200400" cy="4114800"/>
          </a:xfrm>
          <a:prstGeom prst="rect">
            <a:avLst/>
          </a:prstGeom>
          <a:noFill/>
        </p:spPr>
        <p:txBody>
          <a:bodyPr wrap="square">
            <a:spAutoFit/>
          </a:bodyPr>
          <a:lstStyle/>
          <a:p>
            <a:pPr>
              <a:defRPr sz="1100" b="1">
                <a:solidFill>
                  <a:srgbClr val="2563EB"/>
                </a:solidFill>
              </a:defRPr>
            </a:pPr>
            <a:r>
              <a:t>ETHICAL &amp; HUMAN-IN-THE-LOOP TRIAGE</a:t>
            </a:r>
          </a:p>
          <a:p>
            <a:pPr>
              <a:spcBef>
                <a:spcPts val="800"/>
              </a:spcBef>
              <a:defRPr sz="1000">
                <a:solidFill>
                  <a:srgbClr val="475569"/>
                </a:solidFill>
              </a:defRPr>
            </a:pPr>
            <a:r>
              <a:t>• Advisory, Not Autonomous: CuraCascade is designed as a Decision Support Firewall, not an automated report deleter.</a:t>
            </a:r>
          </a:p>
          <a:p>
            <a:pPr>
              <a:spcBef>
                <a:spcPts val="800"/>
              </a:spcBef>
              <a:defRPr sz="1000">
                <a:solidFill>
                  <a:srgbClr val="475569"/>
                </a:solidFill>
              </a:defRPr>
            </a:pPr>
            <a:r>
              <a:t>• Human-in-the-Loop: All flagged Class A findings and ML predictions require review and sign-off by a board-certified clinical geneticist.</a:t>
            </a:r>
          </a:p>
          <a:p>
            <a:pPr>
              <a:spcBef>
                <a:spcPts val="800"/>
              </a:spcBef>
              <a:defRPr sz="1000">
                <a:solidFill>
                  <a:srgbClr val="475569"/>
                </a:solidFill>
              </a:defRPr>
            </a:pPr>
            <a:r>
              <a:t>• Preventing Harm: The ethical priority is protecting patients from unnecessary surgeries while ensuring legitimate disease genes are not prematurely dismissed.</a:t>
            </a:r>
          </a:p>
        </p:txBody>
      </p:sp>
      <p:sp>
        <p:nvSpPr>
          <p:cNvPr id="11" name="Rectangle 10"/>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17 of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FUTURE WORK &amp; EXTENSIONS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Future Directions &amp; System Roadmap</a:t>
            </a:r>
          </a:p>
          <a:p>
            <a:pPr>
              <a:spcBef>
                <a:spcPts val="300"/>
              </a:spcBef>
              <a:defRPr sz="1200">
                <a:solidFill>
                  <a:srgbClr val="475569"/>
                </a:solidFill>
              </a:defRPr>
            </a:pPr>
            <a:r>
              <a:t>Strategic extensions for scaling real-time interoperability, natural language processing, and hospital deployment.</a:t>
            </a:r>
          </a:p>
        </p:txBody>
      </p:sp>
      <p:sp>
        <p:nvSpPr>
          <p:cNvPr id="5" name="Rounded Rectangle 4"/>
          <p:cNvSpPr/>
          <p:nvPr/>
        </p:nvSpPr>
        <p:spPr>
          <a:xfrm>
            <a:off x="731520" y="164592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3200400" cy="4114800"/>
          </a:xfrm>
          <a:prstGeom prst="rect">
            <a:avLst/>
          </a:prstGeom>
          <a:noFill/>
        </p:spPr>
        <p:txBody>
          <a:bodyPr wrap="square">
            <a:spAutoFit/>
          </a:bodyPr>
          <a:lstStyle/>
          <a:p>
            <a:pPr>
              <a:defRPr sz="1100" b="1">
                <a:solidFill>
                  <a:srgbClr val="2563EB"/>
                </a:solidFill>
              </a:defRPr>
            </a:pPr>
            <a:r>
              <a:t>HORIZON 1: REAL-TIME WEBHOOK ARCHITECTURE</a:t>
            </a:r>
          </a:p>
          <a:p>
            <a:pPr>
              <a:spcBef>
                <a:spcPts val="800"/>
              </a:spcBef>
              <a:defRPr sz="1000">
                <a:solidFill>
                  <a:srgbClr val="475569"/>
                </a:solidFill>
              </a:defRPr>
            </a:pPr>
            <a:r>
              <a:t>• Event-Driven Microservices: Implement Kafka/RabbitMQ message queues listening for real-time ClinGen API webhooks.</a:t>
            </a:r>
          </a:p>
          <a:p>
            <a:pPr>
              <a:spcBef>
                <a:spcPts val="800"/>
              </a:spcBef>
              <a:defRPr sz="1000">
                <a:solidFill>
                  <a:srgbClr val="475569"/>
                </a:solidFill>
              </a:defRPr>
            </a:pPr>
            <a:r>
              <a:t>• Sub-Hour Synchronization: Reduce downstream audit latency from monthly batch dumps to minutes following formal GCEP publishing.</a:t>
            </a:r>
          </a:p>
          <a:p>
            <a:pPr>
              <a:spcBef>
                <a:spcPts val="800"/>
              </a:spcBef>
              <a:defRPr sz="1000">
                <a:solidFill>
                  <a:srgbClr val="475569"/>
                </a:solidFill>
              </a:defRPr>
            </a:pPr>
            <a:r>
              <a:t>• Automated Notification Bus: Push automated Slack, Teams, or email alerts directly to diagnostic laboratory directors.</a:t>
            </a:r>
          </a:p>
        </p:txBody>
      </p:sp>
      <p:sp>
        <p:nvSpPr>
          <p:cNvPr id="7" name="Rounded Rectangle 6"/>
          <p:cNvSpPr/>
          <p:nvPr/>
        </p:nvSpPr>
        <p:spPr>
          <a:xfrm>
            <a:off x="4343400" y="164592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828800"/>
            <a:ext cx="3200400" cy="4114800"/>
          </a:xfrm>
          <a:prstGeom prst="rect">
            <a:avLst/>
          </a:prstGeom>
          <a:noFill/>
        </p:spPr>
        <p:txBody>
          <a:bodyPr wrap="square">
            <a:spAutoFit/>
          </a:bodyPr>
          <a:lstStyle/>
          <a:p>
            <a:pPr>
              <a:defRPr sz="1100" b="1">
                <a:solidFill>
                  <a:srgbClr val="0D9488"/>
                </a:solidFill>
              </a:defRPr>
            </a:pPr>
            <a:r>
              <a:t>HORIZON 2: LLM-ASSISTED LITERATURE CURATION</a:t>
            </a:r>
          </a:p>
          <a:p>
            <a:pPr>
              <a:spcBef>
                <a:spcPts val="800"/>
              </a:spcBef>
              <a:defRPr sz="1000">
                <a:solidFill>
                  <a:srgbClr val="475569"/>
                </a:solidFill>
              </a:defRPr>
            </a:pPr>
            <a:r>
              <a:t>• Literature Parsing: Deploy quantized local Large Language Models (LLMs) to scan newly published PubMed abstracts.</a:t>
            </a:r>
          </a:p>
          <a:p>
            <a:pPr>
              <a:spcBef>
                <a:spcPts val="800"/>
              </a:spcBef>
              <a:defRPr sz="1000">
                <a:solidFill>
                  <a:srgbClr val="475569"/>
                </a:solidFill>
              </a:defRPr>
            </a:pPr>
            <a:r>
              <a:t>• Evidence Extraction: Automatically extract case kindred counts, functional assay metrics, and segregation ratios for candidate genes.</a:t>
            </a:r>
          </a:p>
          <a:p>
            <a:pPr>
              <a:spcBef>
                <a:spcPts val="800"/>
              </a:spcBef>
              <a:defRPr sz="1000">
                <a:solidFill>
                  <a:srgbClr val="475569"/>
                </a:solidFill>
              </a:defRPr>
            </a:pPr>
            <a:r>
              <a:t>• Conflict Summarization: Generate automated synthetic summaries explaining why historical evidence was contradicted.</a:t>
            </a:r>
          </a:p>
        </p:txBody>
      </p:sp>
      <p:sp>
        <p:nvSpPr>
          <p:cNvPr id="9" name="Rounded Rectangle 8"/>
          <p:cNvSpPr/>
          <p:nvPr/>
        </p:nvSpPr>
        <p:spPr>
          <a:xfrm>
            <a:off x="7955280" y="1645920"/>
            <a:ext cx="34747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828800"/>
            <a:ext cx="3200400" cy="4114800"/>
          </a:xfrm>
          <a:prstGeom prst="rect">
            <a:avLst/>
          </a:prstGeom>
          <a:noFill/>
        </p:spPr>
        <p:txBody>
          <a:bodyPr wrap="square">
            <a:spAutoFit/>
          </a:bodyPr>
          <a:lstStyle/>
          <a:p>
            <a:pPr>
              <a:defRPr sz="1100" b="1">
                <a:solidFill>
                  <a:srgbClr val="7C3AED"/>
                </a:solidFill>
              </a:defRPr>
            </a:pPr>
            <a:r>
              <a:t>HORIZON 3: EHR &amp; FHIR GENOMICS INTEROPERABILITY</a:t>
            </a:r>
          </a:p>
          <a:p>
            <a:pPr>
              <a:spcBef>
                <a:spcPts val="800"/>
              </a:spcBef>
              <a:defRPr sz="1000">
                <a:solidFill>
                  <a:srgbClr val="475569"/>
                </a:solidFill>
              </a:defRPr>
            </a:pPr>
            <a:r>
              <a:t>• HL7 FHIR Genomics API: Integrate directly into hospital Electronic Health Record (EHR) systems (Epic, Cerner).</a:t>
            </a:r>
          </a:p>
          <a:p>
            <a:pPr>
              <a:spcBef>
                <a:spcPts val="800"/>
              </a:spcBef>
              <a:defRPr sz="1000">
                <a:solidFill>
                  <a:srgbClr val="475569"/>
                </a:solidFill>
              </a:defRPr>
            </a:pPr>
            <a:r>
              <a:t>• Pre-Report Diagnostic Firewall: Intercept outgoing molecular reports in the Laboratory Information Management System (LIMS).</a:t>
            </a:r>
          </a:p>
          <a:p>
            <a:pPr>
              <a:spcBef>
                <a:spcPts val="800"/>
              </a:spcBef>
              <a:defRPr sz="1000">
                <a:solidFill>
                  <a:srgbClr val="475569"/>
                </a:solidFill>
              </a:defRPr>
            </a:pPr>
            <a:r>
              <a:t>• Continuous Patient Re-Contact: Automatically alert genetic counselors when a historical patient's reported variant is downgraded.</a:t>
            </a:r>
          </a:p>
        </p:txBody>
      </p:sp>
      <p:sp>
        <p:nvSpPr>
          <p:cNvPr id="11" name="Rectangle 10"/>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18 of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defRPr>
            </a:pPr>
            <a:r>
              <a:t>CONCLUSION &amp; SUMMARY</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0F172A"/>
                </a:solidFill>
              </a:defRPr>
            </a:pPr>
            <a:r>
              <a:t>Conclusion &amp; Key Project Contributions</a:t>
            </a:r>
          </a:p>
          <a:p>
            <a:pPr>
              <a:spcBef>
                <a:spcPts val="300"/>
              </a:spcBef>
              <a:defRPr sz="1200">
                <a:solidFill>
                  <a:srgbClr val="475569"/>
                </a:solidFill>
              </a:defRPr>
            </a:pPr>
            <a:r>
              <a:t>Recapitulating the four foundational innovations delivered by CuraCascade.</a:t>
            </a:r>
          </a:p>
        </p:txBody>
      </p:sp>
      <p:sp>
        <p:nvSpPr>
          <p:cNvPr id="5" name="Rounded Rectangle 4"/>
          <p:cNvSpPr/>
          <p:nvPr/>
        </p:nvSpPr>
        <p:spPr>
          <a:xfrm>
            <a:off x="7315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4937760" cy="1920240"/>
          </a:xfrm>
          <a:prstGeom prst="rect">
            <a:avLst/>
          </a:prstGeom>
          <a:noFill/>
        </p:spPr>
        <p:txBody>
          <a:bodyPr wrap="square">
            <a:spAutoFit/>
          </a:bodyPr>
          <a:lstStyle/>
          <a:p>
            <a:pPr>
              <a:defRPr sz="1100" b="1">
                <a:solidFill>
                  <a:srgbClr val="2563EB"/>
                </a:solidFill>
              </a:defRPr>
            </a:pPr>
            <a:r>
              <a:t>1. FIRST UNIFIED 3NF AUDIT WAREHOUSE</a:t>
            </a:r>
          </a:p>
          <a:p>
            <a:pPr>
              <a:spcBef>
                <a:spcPts val="400"/>
              </a:spcBef>
              <a:defRPr sz="1000">
                <a:solidFill>
                  <a:srgbClr val="0F172A"/>
                </a:solidFill>
              </a:defRPr>
            </a:pPr>
            <a:r>
              <a:t>• Created a normalized 3NF schema integrating ClinGen, ClinVar, PanelApp, and gnomAD v4.</a:t>
            </a:r>
          </a:p>
          <a:p>
            <a:pPr>
              <a:spcBef>
                <a:spcPts val="400"/>
              </a:spcBef>
              <a:defRPr sz="1000">
                <a:solidFill>
                  <a:srgbClr val="0F172A"/>
                </a:solidFill>
              </a:defRPr>
            </a:pPr>
            <a:r>
              <a:t>• Pioneered a dual-engine architecture combining ACID SQLite with DuckDB in-memory columnar scanning.</a:t>
            </a:r>
          </a:p>
        </p:txBody>
      </p:sp>
      <p:sp>
        <p:nvSpPr>
          <p:cNvPr id="7" name="Rounded Rectangle 6"/>
          <p:cNvSpPr/>
          <p:nvPr/>
        </p:nvSpPr>
        <p:spPr>
          <a:xfrm>
            <a:off x="62179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83080"/>
            <a:ext cx="4937760" cy="1920240"/>
          </a:xfrm>
          <a:prstGeom prst="rect">
            <a:avLst/>
          </a:prstGeom>
          <a:noFill/>
        </p:spPr>
        <p:txBody>
          <a:bodyPr wrap="square">
            <a:spAutoFit/>
          </a:bodyPr>
          <a:lstStyle/>
          <a:p>
            <a:pPr>
              <a:defRPr sz="1100" b="1">
                <a:solidFill>
                  <a:srgbClr val="7C3AED"/>
                </a:solidFill>
              </a:defRPr>
            </a:pPr>
            <a:r>
              <a:t>2. LONGITUDINAL SURVIVAL KINETICS</a:t>
            </a:r>
          </a:p>
          <a:p>
            <a:pPr>
              <a:spcBef>
                <a:spcPts val="400"/>
              </a:spcBef>
              <a:defRPr sz="1000">
                <a:solidFill>
                  <a:srgbClr val="0F172A"/>
                </a:solidFill>
              </a:defRPr>
            </a:pPr>
            <a:r>
              <a:t>• First study to mathematically model assertion lifespan with Kaplan-Meier and Cox regression.</a:t>
            </a:r>
          </a:p>
          <a:p>
            <a:pPr>
              <a:spcBef>
                <a:spcPts val="400"/>
              </a:spcBef>
              <a:defRPr sz="1000">
                <a:solidFill>
                  <a:srgbClr val="0F172A"/>
                </a:solidFill>
              </a:defRPr>
            </a:pPr>
            <a:r>
              <a:t>• Uncovered the 2.36x Review Star Accelerator and the 0.55x Commercial Laboratory Latency Penalty.</a:t>
            </a:r>
          </a:p>
        </p:txBody>
      </p:sp>
      <p:sp>
        <p:nvSpPr>
          <p:cNvPr id="9" name="Rounded Rectangle 8"/>
          <p:cNvSpPr/>
          <p:nvPr/>
        </p:nvSpPr>
        <p:spPr>
          <a:xfrm>
            <a:off x="731520" y="3931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69080"/>
            <a:ext cx="4937760" cy="1920240"/>
          </a:xfrm>
          <a:prstGeom prst="rect">
            <a:avLst/>
          </a:prstGeom>
          <a:noFill/>
        </p:spPr>
        <p:txBody>
          <a:bodyPr wrap="square">
            <a:spAutoFit/>
          </a:bodyPr>
          <a:lstStyle/>
          <a:p>
            <a:pPr>
              <a:defRPr sz="1100" b="1">
                <a:solidFill>
                  <a:srgbClr val="D97706"/>
                </a:solidFill>
              </a:defRPr>
            </a:pPr>
            <a:r>
              <a:t>3. SUPERVISED ML TRIAGE FORECASTER</a:t>
            </a:r>
          </a:p>
          <a:p>
            <a:pPr>
              <a:spcBef>
                <a:spcPts val="400"/>
              </a:spcBef>
              <a:defRPr sz="1000">
                <a:solidFill>
                  <a:srgbClr val="0F172A"/>
                </a:solidFill>
              </a:defRPr>
            </a:pPr>
            <a:r>
              <a:t>• Demonstrated predictive downgrade triage with an AUROC of 0.857 across 3,833 genes.</a:t>
            </a:r>
          </a:p>
          <a:p>
            <a:pPr>
              <a:spcBef>
                <a:spcPts val="400"/>
              </a:spcBef>
              <a:defRPr sz="1000">
                <a:solidFill>
                  <a:srgbClr val="0F172A"/>
                </a:solidFill>
              </a:defRPr>
            </a:pPr>
            <a:r>
              <a:t>• Provided rigorous dual-regime reporting, proving the mechanistic shift toward star density and panel discordance.</a:t>
            </a:r>
          </a:p>
        </p:txBody>
      </p:sp>
      <p:sp>
        <p:nvSpPr>
          <p:cNvPr id="11" name="Rounded Rectangle 10"/>
          <p:cNvSpPr/>
          <p:nvPr/>
        </p:nvSpPr>
        <p:spPr>
          <a:xfrm>
            <a:off x="6217920" y="3931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069080"/>
            <a:ext cx="4937760" cy="1920240"/>
          </a:xfrm>
          <a:prstGeom prst="rect">
            <a:avLst/>
          </a:prstGeom>
          <a:noFill/>
        </p:spPr>
        <p:txBody>
          <a:bodyPr wrap="square">
            <a:spAutoFit/>
          </a:bodyPr>
          <a:lstStyle/>
          <a:p>
            <a:pPr>
              <a:defRPr sz="1100" b="1">
                <a:solidFill>
                  <a:srgbClr val="10B981"/>
                </a:solidFill>
              </a:defRPr>
            </a:pPr>
            <a:r>
              <a:t>4. PRODUCTION-READY CLINICAL PLATFORM</a:t>
            </a:r>
          </a:p>
          <a:p>
            <a:pPr>
              <a:spcBef>
                <a:spcPts val="400"/>
              </a:spcBef>
              <a:defRPr sz="1000">
                <a:solidFill>
                  <a:srgbClr val="0F172A"/>
                </a:solidFill>
              </a:defRPr>
            </a:pPr>
            <a:r>
              <a:t>• Delivered 96.3% join precision (kappa = 0.920) on a 100-gene gold-standard benchmark.</a:t>
            </a:r>
          </a:p>
          <a:p>
            <a:pPr>
              <a:spcBef>
                <a:spcPts val="400"/>
              </a:spcBef>
              <a:defRPr sz="1000">
                <a:solidFill>
                  <a:srgbClr val="0F172A"/>
                </a:solidFill>
              </a:defRPr>
            </a:pPr>
            <a:r>
              <a:t>• Engineered headless CLI with CI/CD exit codes, Docker deployment, and live cloud portal at curacascade.streamlit.app.</a:t>
            </a:r>
          </a:p>
        </p:txBody>
      </p:sp>
      <p:sp>
        <p:nvSpPr>
          <p:cNvPr id="13" name="Rectangle 12"/>
          <p:cNvSpPr/>
          <p:nvPr/>
        </p:nvSpPr>
        <p:spPr>
          <a:xfrm>
            <a:off x="731520" y="635508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19088"/>
            <a:ext cx="10728655" cy="320040"/>
          </a:xfrm>
          <a:prstGeom prst="rect">
            <a:avLst/>
          </a:prstGeom>
          <a:noFill/>
        </p:spPr>
        <p:txBody>
          <a:bodyPr wrap="none" lIns="0" rIns="0" tIns="0" bIns="0">
            <a:spAutoFit/>
          </a:bodyPr>
          <a:lstStyle/>
          <a:p>
            <a:pPr>
              <a:defRPr sz="900">
                <a:solidFill>
                  <a:srgbClr val="475569"/>
                </a:solidFill>
              </a:defRPr>
            </a:pPr>
            <a:r>
              <a:t>CuraCascade: Clinical Evidence Downgrade Audit Engine  •  Udit Shokeen (VIT CSE)  •  Academic Defense  •  Slide 19 of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332720" cy="365760"/>
          </a:xfrm>
          <a:prstGeom prst="rect">
            <a:avLst/>
          </a:prstGeom>
          <a:noFill/>
        </p:spPr>
        <p:txBody>
          <a:bodyPr wrap="none">
            <a:spAutoFit/>
          </a:bodyPr>
          <a:lstStyle/>
          <a:p>
            <a:pPr>
              <a:defRPr sz="1100" b="1">
                <a:solidFill>
                  <a:srgbClr val="0D9488"/>
                </a:solidFill>
              </a:defRPr>
            </a:pPr>
            <a:r>
              <a:t>QUESTIONS &amp; ACADEMIC DISCUSSION • PROJECT DEFENSE</a:t>
            </a:r>
          </a:p>
        </p:txBody>
      </p:sp>
      <p:sp>
        <p:nvSpPr>
          <p:cNvPr id="5" name="TextBox 4"/>
          <p:cNvSpPr txBox="1"/>
          <p:nvPr/>
        </p:nvSpPr>
        <p:spPr>
          <a:xfrm>
            <a:off x="914400" y="1371600"/>
            <a:ext cx="10332720" cy="1097280"/>
          </a:xfrm>
          <a:prstGeom prst="rect">
            <a:avLst/>
          </a:prstGeom>
          <a:noFill/>
        </p:spPr>
        <p:txBody>
          <a:bodyPr wrap="none">
            <a:spAutoFit/>
          </a:bodyPr>
          <a:lstStyle/>
          <a:p>
            <a:pPr>
              <a:defRPr sz="4000" b="1">
                <a:solidFill>
                  <a:srgbClr val="FFFFFF"/>
                </a:solidFill>
              </a:defRPr>
            </a:pPr>
            <a:r>
              <a:t>Thank You! Questions &amp; Discussion</a:t>
            </a:r>
          </a:p>
          <a:p>
            <a:pPr>
              <a:spcBef>
                <a:spcPts val="600"/>
              </a:spcBef>
              <a:defRPr sz="1600">
                <a:solidFill>
                  <a:srgbClr val="94A3B8"/>
                </a:solidFill>
              </a:defRPr>
            </a:pPr>
            <a:r>
              <a:t>Open floor for Professor feedback, defense questions, and classmate discussion.</a:t>
            </a:r>
          </a:p>
        </p:txBody>
      </p:sp>
      <p:sp>
        <p:nvSpPr>
          <p:cNvPr id="6" name="Rounded Rectangle 5"/>
          <p:cNvSpPr/>
          <p:nvPr/>
        </p:nvSpPr>
        <p:spPr>
          <a:xfrm>
            <a:off x="914400" y="2926080"/>
            <a:ext cx="3337560" cy="29260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108960"/>
            <a:ext cx="3063240" cy="2560320"/>
          </a:xfrm>
          <a:prstGeom prst="rect">
            <a:avLst/>
          </a:prstGeom>
          <a:noFill/>
        </p:spPr>
        <p:txBody>
          <a:bodyPr wrap="square">
            <a:spAutoFit/>
          </a:bodyPr>
          <a:lstStyle/>
          <a:p>
            <a:pPr>
              <a:defRPr sz="1100" b="1">
                <a:solidFill>
                  <a:srgbClr val="2563EB"/>
                </a:solidFill>
              </a:defRPr>
            </a:pPr>
            <a:r>
              <a:t>LIVE WEB PORTAL</a:t>
            </a:r>
          </a:p>
          <a:p>
            <a:pPr>
              <a:spcBef>
                <a:spcPts val="600"/>
              </a:spcBef>
              <a:defRPr sz="1000">
                <a:solidFill>
                  <a:srgbClr val="E2E8F0"/>
                </a:solidFill>
              </a:defRPr>
            </a:pPr>
            <a:r>
              <a:t>• URL: curacascade.streamlit.app</a:t>
            </a:r>
          </a:p>
          <a:p>
            <a:pPr>
              <a:spcBef>
                <a:spcPts val="600"/>
              </a:spcBef>
              <a:defRPr sz="1000">
                <a:solidFill>
                  <a:srgbClr val="E2E8F0"/>
                </a:solidFill>
              </a:defRPr>
            </a:pPr>
            <a:r>
              <a:t>• Interactive multi-gene audit portal</a:t>
            </a:r>
          </a:p>
          <a:p>
            <a:pPr>
              <a:spcBef>
                <a:spcPts val="600"/>
              </a:spcBef>
              <a:defRPr sz="1000">
                <a:solidFill>
                  <a:srgbClr val="E2E8F0"/>
                </a:solidFill>
              </a:defRPr>
            </a:pPr>
            <a:r>
              <a:t>• Real-time gnomAD popmax frequency explorer</a:t>
            </a:r>
          </a:p>
          <a:p>
            <a:pPr>
              <a:spcBef>
                <a:spcPts val="600"/>
              </a:spcBef>
              <a:defRPr sz="1000">
                <a:solidFill>
                  <a:srgbClr val="E2E8F0"/>
                </a:solidFill>
              </a:defRPr>
            </a:pPr>
            <a:r>
              <a:t>• One-click PDF clinical dossier generator</a:t>
            </a:r>
          </a:p>
        </p:txBody>
      </p:sp>
      <p:sp>
        <p:nvSpPr>
          <p:cNvPr id="8" name="Rounded Rectangle 7"/>
          <p:cNvSpPr/>
          <p:nvPr/>
        </p:nvSpPr>
        <p:spPr>
          <a:xfrm>
            <a:off x="4434840" y="2926080"/>
            <a:ext cx="3337560" cy="29260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108960"/>
            <a:ext cx="3063240" cy="2560320"/>
          </a:xfrm>
          <a:prstGeom prst="rect">
            <a:avLst/>
          </a:prstGeom>
          <a:noFill/>
        </p:spPr>
        <p:txBody>
          <a:bodyPr wrap="square">
            <a:spAutoFit/>
          </a:bodyPr>
          <a:lstStyle/>
          <a:p>
            <a:pPr>
              <a:defRPr sz="1100" b="1">
                <a:solidFill>
                  <a:srgbClr val="0D9488"/>
                </a:solidFill>
              </a:defRPr>
            </a:pPr>
            <a:r>
              <a:t>GITHUB REPOSITORY</a:t>
            </a:r>
          </a:p>
          <a:p>
            <a:pPr>
              <a:spcBef>
                <a:spcPts val="600"/>
              </a:spcBef>
              <a:defRPr sz="1000">
                <a:solidFill>
                  <a:srgbClr val="E2E8F0"/>
                </a:solidFill>
              </a:defRPr>
            </a:pPr>
            <a:r>
              <a:t>• URL: github.com/uditshokeen14/curacascade</a:t>
            </a:r>
          </a:p>
          <a:p>
            <a:pPr>
              <a:spcBef>
                <a:spcPts val="600"/>
              </a:spcBef>
              <a:defRPr sz="1000">
                <a:solidFill>
                  <a:srgbClr val="E2E8F0"/>
                </a:solidFill>
              </a:defRPr>
            </a:pPr>
            <a:r>
              <a:t>• Full source code under MIT License</a:t>
            </a:r>
          </a:p>
          <a:p>
            <a:pPr>
              <a:spcBef>
                <a:spcPts val="600"/>
              </a:spcBef>
              <a:defRPr sz="1000">
                <a:solidFill>
                  <a:srgbClr val="E2E8F0"/>
                </a:solidFill>
              </a:defRPr>
            </a:pPr>
            <a:r>
              <a:t>• Automated CI/CD regression workflows</a:t>
            </a:r>
          </a:p>
          <a:p>
            <a:pPr>
              <a:spcBef>
                <a:spcPts val="600"/>
              </a:spcBef>
              <a:defRPr sz="1000">
                <a:solidFill>
                  <a:srgbClr val="E2E8F0"/>
                </a:solidFill>
              </a:defRPr>
            </a:pPr>
            <a:r>
              <a:t>• Docker build &amp; reproducible seed scripts</a:t>
            </a:r>
          </a:p>
        </p:txBody>
      </p:sp>
      <p:sp>
        <p:nvSpPr>
          <p:cNvPr id="10" name="Rounded Rectangle 9"/>
          <p:cNvSpPr/>
          <p:nvPr/>
        </p:nvSpPr>
        <p:spPr>
          <a:xfrm>
            <a:off x="7955279" y="2926080"/>
            <a:ext cx="3337560" cy="292608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3108960"/>
            <a:ext cx="3063240" cy="2560320"/>
          </a:xfrm>
          <a:prstGeom prst="rect">
            <a:avLst/>
          </a:prstGeom>
          <a:noFill/>
        </p:spPr>
        <p:txBody>
          <a:bodyPr wrap="square">
            <a:spAutoFit/>
          </a:bodyPr>
          <a:lstStyle/>
          <a:p>
            <a:pPr>
              <a:defRPr sz="1100" b="1">
                <a:solidFill>
                  <a:srgbClr val="10B981"/>
                </a:solidFill>
              </a:defRPr>
            </a:pPr>
            <a:r>
              <a:t>PUBLICATION REPORT</a:t>
            </a:r>
          </a:p>
          <a:p>
            <a:pPr>
              <a:spcBef>
                <a:spcPts val="600"/>
              </a:spcBef>
              <a:defRPr sz="1000">
                <a:solidFill>
                  <a:srgbClr val="E2E8F0"/>
                </a:solidFill>
              </a:defRPr>
            </a:pPr>
            <a:r>
              <a:t>• File: CuraCascade_Publication_Report.pdf</a:t>
            </a:r>
          </a:p>
          <a:p>
            <a:pPr>
              <a:spcBef>
                <a:spcPts val="600"/>
              </a:spcBef>
              <a:defRPr sz="1000">
                <a:solidFill>
                  <a:srgbClr val="E2E8F0"/>
                </a:solidFill>
              </a:defRPr>
            </a:pPr>
            <a:r>
              <a:t>• 15-page academic journal format</a:t>
            </a:r>
          </a:p>
          <a:p>
            <a:pPr>
              <a:spcBef>
                <a:spcPts val="600"/>
              </a:spcBef>
              <a:defRPr sz="1000">
                <a:solidFill>
                  <a:srgbClr val="E2E8F0"/>
                </a:solidFill>
              </a:defRPr>
            </a:pPr>
            <a:r>
              <a:t>• Comprehensive methodology, proofs &amp; data dictionary</a:t>
            </a:r>
          </a:p>
          <a:p>
            <a:pPr>
              <a:spcBef>
                <a:spcPts val="600"/>
              </a:spcBef>
              <a:defRPr sz="1000">
                <a:solidFill>
                  <a:srgbClr val="E2E8F0"/>
                </a:solidFill>
              </a:defRPr>
            </a:pPr>
            <a:r>
              <a:t>• High-resolution vector figures &amp; bibliography</a:t>
            </a:r>
          </a:p>
        </p:txBody>
      </p:sp>
      <p:sp>
        <p:nvSpPr>
          <p:cNvPr id="12" name="Rectangle 11"/>
          <p:cNvSpPr/>
          <p:nvPr/>
        </p:nvSpPr>
        <p:spPr>
          <a:xfrm>
            <a:off x="731520" y="635508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19088"/>
            <a:ext cx="10728655" cy="320040"/>
          </a:xfrm>
          <a:prstGeom prst="rect">
            <a:avLst/>
          </a:prstGeom>
          <a:noFill/>
        </p:spPr>
        <p:txBody>
          <a:bodyPr wrap="none" lIns="0" rIns="0" tIns="0" bIns="0">
            <a:spAutoFit/>
          </a:bodyPr>
          <a:lstStyle/>
          <a:p>
            <a:pPr>
              <a:defRPr sz="900">
                <a:solidFill>
                  <a:srgbClr val="94A3B8"/>
                </a:solidFill>
              </a:defRPr>
            </a:pPr>
            <a:r>
              <a:t>CuraCascade: Clinical Evidence Downgrade Audit Engine  •  Udit Shokeen (VIT CSE)  •  Academic Defense  •  Slide 20 of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