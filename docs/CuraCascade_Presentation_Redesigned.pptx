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Respected professors and committee members, welcome to my project defense for CuraCascade. CuraCascade is an integrated bioinformatics data warehouse and automated discrepancy audit engine. It addresses a silent but critical bottleneck in translational genomics: the multi-year latency between upstream gene-disease validity reassessments and downstream clinical variant databases. Over the next 12 minutes, I will walk you through the clinical challenge, our 3NF relational design, our disease-aware matching engine, the 100-gene validation benchmark, and the live deployed software.</a:t>
            </a:r>
          </a:p>
          <a:p/>
          <a:p>
            <a:r>
              <a:t>[CORE TAKEAWAY]</a:t>
            </a:r>
          </a:p>
          <a:p>
            <a:r>
              <a:t>CuraCascade is an end-to-end, reproducible bioinformatics platform designed to audit and triage unpropagated gene validity downgrades across clinical databases.</a:t>
            </a:r>
          </a:p>
          <a:p/>
          <a:p>
            <a:r>
              <a:t>[SCIENTIFIC INTEGRITY GUARDRAIL - WHAT NOT TO OVERCLAIM]</a:t>
            </a:r>
          </a:p>
          <a:p>
            <a:r>
              <a:t>Do not claim that CuraCascade directly diagnoses patients or autonomously reclassifies variants. It is a research-oriented audit and clinical decision support framework for laboratory geneticists.</a:t>
            </a:r>
          </a:p>
          <a:p/>
          <a:p>
            <a:r>
              <a:t>[EXPECTED FACULTY VIVA QUESTION]</a:t>
            </a:r>
          </a:p>
          <a:p>
            <a:r>
              <a:t>Q: What is the primary motivation for building this tool rather than relying on existing variant interpretation portals?</a:t>
            </a:r>
          </a:p>
          <a:p>
            <a:r>
              <a:t>A: Existing tools like ClinVar focus on variant-level curation under the assumption that the gene-disease relationship is valid. When an expert panel like ClinGen refutes an entire gene, downstream variant records often sit un-updated for years. CuraCascade bridges this semantic gap between gene validity and variant assertions.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To understand the clinical stakes, consider how genomics knowledge evolves. In the 1990s and 2000s, hundreds of genes were linked to human disease using small kindred studies without population sequencing controls. Today, ClinGen expert panels re-evaluate these claims and frequently refute them. However, our empirical audit shows that downstream databases like ClinVar take a median of 2.82 years to reflect these downgrades. During this multi-year lag, diagnostic laboratories continue classifying variants as Pathogenic in refuted genes. CuraCascade was designed specifically to catch these discrepancies automatically.</a:t>
            </a:r>
          </a:p>
          <a:p/>
          <a:p>
            <a:r>
              <a:t>[CORE TAKEAWAY]</a:t>
            </a:r>
          </a:p>
          <a:p>
            <a:r>
              <a:t>Gene validity reappraisals do not propagate instantaneously; a median 2.82-year inertia creates dangerous discrepancies between expert knowledge and routine testing.</a:t>
            </a:r>
          </a:p>
          <a:p/>
          <a:p>
            <a:r>
              <a:t>[SCIENTIFIC INTEGRITY GUARDRAIL - WHAT NOT TO OVERCLAIM]</a:t>
            </a:r>
          </a:p>
          <a:p>
            <a:r>
              <a:t>Avoid stating that every downstream variant becomes completely benign when a gene is downgraded. Rather, the gene-disease attribution is invalidated under that specific phenotype, requiring expert re-curation review.</a:t>
            </a:r>
          </a:p>
          <a:p/>
          <a:p>
            <a:r>
              <a:t>[EXPECTED FACULTY VIVA QUESTION]</a:t>
            </a:r>
          </a:p>
          <a:p>
            <a:r>
              <a:t>Q: Does a ClinGen downgrade to Disputed mean all variants in that gene are completely harmless?</a:t>
            </a:r>
          </a:p>
          <a:p>
            <a:r>
              <a:t>A: No. Downgrading a gene means the evidence linking that gene to that specific disease entity is insufficient or disputed. Variants cannot be claimed as Pathogenic for that indication under ACMG guidelines, but they may represent variants of uncertain significance or pertain to a different clinical disorder.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Why doesn't this problem fix itself? Because the clinical genomics ecosystem is deeply fragmented across four major silos. ClinGen curates at the gene-disease level using MONDO ontologies. ClinVar stores variant assertions using MedGen terms submitted voluntarily by testing labs. PanelApp curates panel BED files for diagnostic exome filtering. And gnomAD tracks allele frequencies across ancestry groups. None of these systems share a common relational primary key or automated synchronization pipeline. Without an automated crosswalk like CuraCascade, tracking evidence updates requires tedious, error-prone manual cross-referencing.</a:t>
            </a:r>
          </a:p>
          <a:p/>
          <a:p>
            <a:r>
              <a:t>[CORE TAKEAWAY]</a:t>
            </a:r>
          </a:p>
          <a:p>
            <a:r>
              <a:t>The lack of unified relational identifiers and cross-database synchronization creates a systemic structural barrier to keeping diagnostic records up to date.</a:t>
            </a:r>
          </a:p>
          <a:p/>
          <a:p>
            <a:r>
              <a:t>[SCIENTIFIC INTEGRITY GUARDRAIL - WHAT NOT TO OVERCLAIM]</a:t>
            </a:r>
          </a:p>
          <a:p>
            <a:r>
              <a:t>Do not imply that ClinVar or PanelApp are defective databases; they serve different purposes with different governance models.</a:t>
            </a:r>
          </a:p>
          <a:p/>
          <a:p>
            <a:r>
              <a:t>[EXPECTED FACULTY VIVA QUESTION]</a:t>
            </a:r>
          </a:p>
          <a:p>
            <a:r>
              <a:t>Q: Why can't ClinVar simply delete pathogenic variants when ClinGen downgrades a gene?</a:t>
            </a:r>
          </a:p>
          <a:p>
            <a:r>
              <a:t>A: ClinVar is an archival database of laboratory assertions, not an arbiter of primary truth. It preserves submitter records historically. Automatic deletion would violate its charter and erase valuable submission history; what is needed is automated discrepancy flagging and triage, which CuraCascade provides.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CuraCascade solves this semantic disconnect through a 5-stage automated pipeline. First, we ingest raw public data with SHA-256 checksums to ensure reproducibility. Second, we normalize disparate disease vocabularies into unified concept clusters. Third, we load the harmonized data into a 3NF relational warehouse backed by SQLite and DuckDB. Fourth, our deterministic audit engine joins upstream validity records against downstream assertions, classifying discrepancies into Class A, B, or C. Finally, we expose the findings through an interactive web portal and exportable clinical remediation dossiers.</a:t>
            </a:r>
          </a:p>
          <a:p/>
          <a:p>
            <a:r>
              <a:t>[CORE TAKEAWAY]</a:t>
            </a:r>
          </a:p>
          <a:p>
            <a:r>
              <a:t>CuraCascade replaces manual cross-referencing with a deterministic, reproducible, 5-stage automated audit pipeline.</a:t>
            </a:r>
          </a:p>
          <a:p/>
          <a:p>
            <a:r>
              <a:t>[SCIENTIFIC INTEGRITY GUARDRAIL - WHAT NOT TO OVERCLAIM]</a:t>
            </a:r>
          </a:p>
          <a:p>
            <a:r>
              <a:t>Be clear that this pipeline operates deterministically based on defined clinical rules, not black-box uninterpretable algorithms.</a:t>
            </a:r>
          </a:p>
          <a:p/>
          <a:p>
            <a:r>
              <a:t>[EXPECTED FACULTY VIVA QUESTION]</a:t>
            </a:r>
          </a:p>
          <a:p>
            <a:r>
              <a:t>Q: Why did you choose a 5-stage pipeline architecture instead of directly querying the source APIs on demand?</a:t>
            </a:r>
          </a:p>
          <a:p>
            <a:r>
              <a:t>A: Direct API querying is non-deterministic and computationally slow across thousands of genes and tens of thousands of variants. By staging ingestion into a normalized relational warehouse, we guarantee millisecond join performance, cryptographic provenance, and offline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5 details our system architecture. To balance data integrity with high-throughput query performance, we implemented a hybrid dual-engine warehouse. The core transactional store is built in SQLite in strict Third Normal Form across 9 tables. SQLite enforces foreign keys, unique compound constraints, and SHA-256 provenance logging. For complex aggregations across 50,000 variants, we bind DuckDB as an analytical acceleration layer, achieving sub-10 millisecond join speeds. Finally, the system supports both automated headless execution via run.py and an interactive clinical portal in Streamlit.</a:t>
            </a:r>
          </a:p>
          <a:p/>
          <a:p>
            <a:r>
              <a:t>[CORE TAKEAWAY]</a:t>
            </a:r>
          </a:p>
          <a:p>
            <a:r>
              <a:t>CuraCascade combines SQLite's strict 3NF relational constraints with DuckDB's in-memory columnar join speed for reproducible, low-latency execution.</a:t>
            </a:r>
          </a:p>
          <a:p/>
          <a:p>
            <a:r>
              <a:t>[SCIENTIFIC INTEGRITY GUARDRAIL - WHAT NOT TO OVERCLAIM]</a:t>
            </a:r>
          </a:p>
          <a:p>
            <a:r>
              <a:t>Ensure that claims of 3NF schema compliance are backed by the actual 9-table schema definition in database/schema.py.</a:t>
            </a:r>
          </a:p>
          <a:p/>
          <a:p>
            <a:r>
              <a:t>[EXPECTED FACULTY VIVA QUESTION]</a:t>
            </a:r>
          </a:p>
          <a:p>
            <a:r>
              <a:t>Q: Why did you use SQLite and DuckDB instead of an enterprise client-server database like PostgreSQL?</a:t>
            </a:r>
          </a:p>
          <a:p>
            <a:r>
              <a:t>A: Clinical bioinformatics pipelines frequently run in containerized or air-gapped high-performance computing clusters. Serverless, embedded file-based engines like SQLite and DuckDB allow CuraCascade to be distributed as a self-contained Docker container without external database administration overhead, while maintaining full SQL compliance.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6 represents one of our most important technical contributions: disease-aware concept matching. In clinical genomics, matching by gene symbol alone produces disastrous false positives. Consider ACTN2: ClinGen refuted its role in Hypertrophic Cardiomyopathy, but confirmed its role as Definitive for Distal Myopathy. A naive algorithm flags all ACTN2 variants as erroneous. CuraCascade resolves the asserted disease phenotype through a 3-tier ontology crosswalk. If a variant belongs to distal myopathy, it is excluded from auditing. Furthermore, our engine strictly distinguishes Limited, Disputed, and Refuted classifications.</a:t>
            </a:r>
          </a:p>
          <a:p/>
          <a:p>
            <a:r>
              <a:t>[CORE TAKEAWAY]</a:t>
            </a:r>
          </a:p>
          <a:p>
            <a:r>
              <a:t>CuraCascade prevents false positive alerts by requiring disease-level ontology matching rather than simplistic gene-symbol matching.</a:t>
            </a:r>
          </a:p>
          <a:p/>
          <a:p>
            <a:r>
              <a:t>[SCIENTIFIC INTEGRITY GUARDRAIL - WHAT NOT TO OVERCLAIM]</a:t>
            </a:r>
          </a:p>
          <a:p>
            <a:r>
              <a:t>Never treat Limited, Disputed, and Refuted as synonyms. Limited represents unconfirmed evidence, Disputed represents conflicting evidence, and Refuted represents conclusive evidence against causality.</a:t>
            </a:r>
          </a:p>
          <a:p/>
          <a:p>
            <a:r>
              <a:t>[EXPECTED FACULTY VIVA QUESTION]</a:t>
            </a:r>
          </a:p>
          <a:p>
            <a:r>
              <a:t>Q: How does your system handle variants in ClinVar where the submitter wrote 'not provided' for the disease?</a:t>
            </a:r>
          </a:p>
          <a:p>
            <a:r>
              <a:t>A: When a phenotype is listed as 'not provided', our engine flags it with match status DATA_QUALITY_ISSUE. It refuses to confirm a clinical discrepancy because the necessary disease assertion is absent, thereby preventing alert fatigue.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7 shows the genuine running web application, deployed live at curacascadev2.streamlit.app. On the upper left, you see our real-time database HUD tracking active records. At the top, five executive KPI cards summarize discrepancy counts and cumulative patient-years at risk. Below, the Inconsistency Audit Explorer displays materialized findings. Notice how every discrepancy is paired with an actionable clinical directive, such as applying ACMG benign frequency criteria or demoting a panel to Red tier.</a:t>
            </a:r>
          </a:p>
          <a:p/>
          <a:p>
            <a:r>
              <a:t>[CORE TAKEAWAY]</a:t>
            </a:r>
          </a:p>
          <a:p>
            <a:r>
              <a:t>CuraCascade provides an intuitive, high-throughput web portal that transforms raw database queries into prioritized clinical governance actions.</a:t>
            </a:r>
          </a:p>
          <a:p/>
          <a:p>
            <a:r>
              <a:t>[SCIENTIFIC INTEGRITY GUARDRAIL - WHAT NOT TO OVERCLAIM]</a:t>
            </a:r>
          </a:p>
          <a:p>
            <a:r>
              <a:t>Do not present this interface as a diagnostic device. It is a decision support and quality-assurance portal for clinical laboratories.</a:t>
            </a:r>
          </a:p>
          <a:p/>
          <a:p>
            <a:r>
              <a:t>[EXPECTED FACULTY VIVA QUESTION]</a:t>
            </a:r>
          </a:p>
          <a:p>
            <a:r>
              <a:t>Q: Can external laboratories use this interface with their own internal variant lists?</a:t>
            </a:r>
          </a:p>
          <a:p>
            <a:r>
              <a:t>A: Yes. The platform includes an interactive multi-gene evaluator where laboratory geneticists can paste a custom list of gene symbols and instantly receive cross-layer audit verdicts and evidence links.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8 demonstrates actual audit findings from our database. In the upper screenshot, you see our gene detail inspector for ACTN2, validating its adherence to clinical validity ratings. In the lower screenshot, our live multi-gene evaluator audits a cardiovascular cohort including ANK2, MYLK2, and TCAP. Consider SCN1B: the ClinGen Arrhythmia panel disputed its association with Brugada syndrome in 2021. Yet in ClinVar, 18 variants remain labeled Pathogenic. If an asymptomatic patient receives a report with an SCN1B pathogenic variant, they risk being recommended for invasive ICD surgery. CuraCascade catches this discrepancy before reports reach the clinic.</a:t>
            </a:r>
          </a:p>
          <a:p/>
          <a:p>
            <a:r>
              <a:t>[CORE TAKEAWAY]</a:t>
            </a:r>
          </a:p>
          <a:p>
            <a:r>
              <a:t>Real audit findings in SCN1B and MYLK2 illustrate tangible clinical hazards where laboratory testing lags authoritative evidence.</a:t>
            </a:r>
          </a:p>
          <a:p/>
          <a:p>
            <a:r>
              <a:t>[SCIENTIFIC INTEGRITY GUARDRAIL - WHAT NOT TO OVERCLAIM]</a:t>
            </a:r>
          </a:p>
          <a:p>
            <a:r>
              <a:t>Do not claim that CuraCascade investigated specific individual hospital patients. These are real database assertions evaluated against published expert consensus.</a:t>
            </a:r>
          </a:p>
          <a:p/>
          <a:p>
            <a:r>
              <a:t>[EXPECTED FACULTY VIVA QUESTION]</a:t>
            </a:r>
          </a:p>
          <a:p>
            <a:r>
              <a:t>Q: Why did the ClinGen Arrhythmia panel dispute SCN1B?</a:t>
            </a:r>
          </a:p>
          <a:p>
            <a:r>
              <a:t>A: Comprehensive international re-evaluations showed that early candidate-gene publications lacked statistical power and adequate control cohorts; subsequent large-scale case-control sequencing demonstrated that SCN1B variants occur at similar frequencies in healthy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9 establishes our validation benchmark methodology. We curated an independent 100-case gold standard: 54 published downgraded genes and 46 definitive ACMG controls. In earlier versions of our codebase, there were hardcoded exception lists; in this revised implementation, all overrides have been completely removed. We also transparently partition the cohort: 94 cases are evaluable, while 6 cases are designated NOT_EVALUABLE because their curation records were absent from the static snapshot. Queries execute live against the database, and we compute exact Wilson score confidence intervals.</a:t>
            </a:r>
          </a:p>
          <a:p/>
          <a:p>
            <a:r>
              <a:t>[CORE TAKEAWAY]</a:t>
            </a:r>
          </a:p>
          <a:p>
            <a:r>
              <a:t>The 100-gene validation benchmark enforces a strict label firewall with zero hardcoded prediction overrides and live relational query execution.</a:t>
            </a:r>
          </a:p>
          <a:p/>
          <a:p>
            <a:r>
              <a:t>[SCIENTIFIC INTEGRITY GUARDRAIL - WHAT NOT TO OVERCLAIM]</a:t>
            </a:r>
          </a:p>
          <a:p>
            <a:r>
              <a:t>Do not claim that the 100 benchmark cases were evaluated by multiple blinded human curators; this is a single-curator literature-derived benchmark.</a:t>
            </a:r>
          </a:p>
          <a:p/>
          <a:p>
            <a:r>
              <a:t>[EXPECTED FACULTY VIVA QUESTION]</a:t>
            </a:r>
          </a:p>
          <a:p>
            <a:r>
              <a:t>Q: Why did you exclude 6 cases as NOT_EVALUABLE instead of counting them as false negatives?</a:t>
            </a:r>
          </a:p>
          <a:p>
            <a:r>
              <a:t>A: Counting unobserved data as algorithmic false negatives conflates data availability with classifier logic. In statistical epidemiology, evaluating an algorithm requires that the input data exist. However, to remain completely transparent, we also report unadjusted sensitivity analyses across all 100 cases in our manuscript.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10 presents our empirical benchmark results. In the 94 evaluable cases, our system achieved 18 True Positives, 42 True Negatives, 0 False Positives, and 34 False Negatives. This translates to 100% Precision, 100% Specificity, and 34.6% Recall. Why is precision 100% while recall is 34.6%? Because in clinical genomics software, false positives cause alert fatigue—if an algorithm floods geneticists with false alarms, it gets turned off. We intentionally prioritized high specificity and precision. In the next slide, we will dissect why those 34 false negatives occurred.</a:t>
            </a:r>
          </a:p>
          <a:p/>
          <a:p>
            <a:r>
              <a:t>[CORE TAKEAWAY]</a:t>
            </a:r>
          </a:p>
          <a:p>
            <a:r>
              <a:t>CuraCascade operates with high precision (100.0%) and zero false positives, accepting lower recall (34.6%) to avoid clinical alert fatigue.</a:t>
            </a:r>
          </a:p>
          <a:p/>
          <a:p>
            <a:r>
              <a:t>[SCIENTIFIC INTEGRITY GUARDRAIL - WHAT NOT TO OVERCLAIM]</a:t>
            </a:r>
          </a:p>
          <a:p>
            <a:r>
              <a:t>Do not present 100% precision as proof that the software is perfect. Disclose that recall is 34.6% and explain why false negatives occurred.</a:t>
            </a:r>
          </a:p>
          <a:p/>
          <a:p>
            <a:r>
              <a:t>[EXPECTED FACULTY VIVA QUESTION]</a:t>
            </a:r>
          </a:p>
          <a:p>
            <a:r>
              <a:t>Q: Doesn't a recall of 34.6% mean the tool misses nearly two-thirds of valid discrepancies?</a:t>
            </a:r>
          </a:p>
          <a:p>
            <a:r>
              <a:t>A: It means two-thirds of the benchmark cases were not flagged by our automated join. However, as our failure-mode audit proves, nearly half of those unflagged cases were due to the local database snapshot lacking downstream assertions, and another half were due to phenotypic specificity where variants pertained to different disorders.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11 addresses the 34 false negatives directly. We audited every single case. Fifteen cases—44%—were due to absent downstream assertions in our static snapshot. The literature reports a downgrade, but ClinVar simply had zero pathogenic variants submitted for that gene. Three cases were due to curations not yet ingested into the snapshot. The remaining 16 cases—47%—were cross-disease phenotypic mismatches, such as BARD1 and RAD51C. Downstream variants in those genes were asserted for related cancer subtypes, not the specific isolated indication ClinGen evaluated. Relaxing our matching threshold would flag them, but it would also destroy our 100% specificity.</a:t>
            </a:r>
          </a:p>
          <a:p/>
          <a:p>
            <a:r>
              <a:t>[CORE TAKEAWAY]</a:t>
            </a:r>
          </a:p>
          <a:p>
            <a:r>
              <a:t>The 34 false negatives reflect static snapshot coverage limits and deliberate biological specificity to protect against false positive joins.</a:t>
            </a:r>
          </a:p>
          <a:p/>
          <a:p>
            <a:r>
              <a:t>[SCIENTIFIC INTEGRITY GUARDRAIL - WHAT NOT TO OVERCLAIM]</a:t>
            </a:r>
          </a:p>
          <a:p>
            <a:r>
              <a:t>Do not dismiss the false negatives as unimportant. Acknowledge that expanding vocabulary crosswalks is necessary future work.</a:t>
            </a:r>
          </a:p>
          <a:p/>
          <a:p>
            <a:r>
              <a:t>[EXPECTED FACULTY VIVA QUESTION]</a:t>
            </a:r>
          </a:p>
          <a:p>
            <a:r>
              <a:t>Q: Could you improve recall by using fuzzy string matching on disease names?</a:t>
            </a:r>
          </a:p>
          <a:p>
            <a:r>
              <a:t>A: We experimented with broad keyword overlap, but it created 12 false positives—for example, matching Lynch syndrome assertions to unrelated colorectal conditions. In clinical genomics, high specificity must take precedence over heuristic keyword matching.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12 covers our exploratory analytics. First, we explored whether supervised machine learning could prioritize genes at risk of future downgrade. Using a Balanced Random Forest across 7 features like gnomAD popmax frequency and low-star ratios, we achieved an AUROC of 0.857 and a Brier score of 0.1508. However, we explicitly disclose that this model was trained on static snapshot data; it is an exploratory triage tool, not a prospectively validated clinical predictor. Second, our latency analysis of 51,007 assertions reveals an overall median lag of 2.82 years, with Class B limited evidence genes persisting even longer at 3.77 years.</a:t>
            </a:r>
          </a:p>
          <a:p/>
          <a:p>
            <a:r>
              <a:t>[CORE TAKEAWAY]</a:t>
            </a:r>
          </a:p>
          <a:p>
            <a:r>
              <a:t>CuraCascade demonstrates strong retrospective triage capability (AUROC 0.857) and quantifies a 2.82-year cross-sectional evidence propagation lag.</a:t>
            </a:r>
          </a:p>
          <a:p/>
          <a:p>
            <a:r>
              <a:t>[SCIENTIFIC INTEGRITY GUARDRAIL - WHAT NOT TO OVERCLAIM]</a:t>
            </a:r>
          </a:p>
          <a:p>
            <a:r>
              <a:t>Never claim this machine learning model is clinically validated or ready for diagnostic deployment. Explicitly cite potential temporal leakage.</a:t>
            </a:r>
          </a:p>
          <a:p/>
          <a:p>
            <a:r>
              <a:t>[EXPECTED FACULTY VIVA QUESTION]</a:t>
            </a:r>
          </a:p>
          <a:p>
            <a:r>
              <a:t>Q: What is the primary risk of temporal leakage in your machine learning experiment?</a:t>
            </a:r>
          </a:p>
          <a:p>
            <a:r>
              <a:t>A: Because features like variant count and allele frequencies were extracted from a 2024 snapshot rather than reconstructed historically from the exact day before each ClinGen downgrade, some post-downgrade evidence shifts may have leaked into the features. That is why we treat this as exploratory retrospective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13 highlights our engineering standards. Software in biomedical informatics must be reproducible and robust. CuraCascade is backed by a 47-test automated suite with 100% pass rate in pytest, verifying database schema constraints, biological matching rules, and statistical formulas. We implement a dedicated cryptographic provenance table recording SHA-256 hashes of all ingested files. The system compiles ISO 15189-aligned remediation memos citing ClinGen GCEP URLs, and the entire platform is packaged as a lightweight Docker container for one-command deployment.</a:t>
            </a:r>
          </a:p>
          <a:p/>
          <a:p>
            <a:r>
              <a:t>[CORE TAKEAWAY]</a:t>
            </a:r>
          </a:p>
          <a:p>
            <a:r>
              <a:t>CuraCascade adheres to production software standards with 47 automated tests, SHA-256 provenance logging, and Docker containerization.</a:t>
            </a:r>
          </a:p>
          <a:p/>
          <a:p>
            <a:r>
              <a:t>[SCIENTIFIC INTEGRITY GUARDRAIL - WHAT NOT TO OVERCLAIM]</a:t>
            </a:r>
          </a:p>
          <a:p>
            <a:r>
              <a:t>Do not confuse passing 47 software tests with prospective clinical validation. Software tests prove the code runs correctly per specifications, not that the clinical guidelines are infallible.</a:t>
            </a:r>
          </a:p>
          <a:p/>
          <a:p>
            <a:r>
              <a:t>[EXPECTED FACULTY VIVA QUESTION]</a:t>
            </a:r>
          </a:p>
          <a:p>
            <a:r>
              <a:t>Q: How do you guarantee that a database query will produce the exact same audit finding six months from now?</a:t>
            </a:r>
          </a:p>
          <a:p>
            <a:r>
              <a:t>A: Through our provenance table and deterministic matching rules. Every raw dataset is hashed with SHA-256 upon ingest, and the audit engine relies solely on deterministic database joins without stochastic or unseeded elements.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Slide 14 summarizes our four key research contributions. First, we established an automated data pipeline linking gene-level validity to variant-level assertions. Second, we formulated a biologically aware matching engine that successfully prevents false positives caused by gene pleiotropy. Third, we empirically characterized the 2.82-year knowledge propagation lag across 51,000 assertions. And fourth, we provided an open-source clinical decision support tool that enables diagnostic labs to triage these discrepancies efficiently.</a:t>
            </a:r>
          </a:p>
          <a:p/>
          <a:p>
            <a:r>
              <a:t>[CORE TAKEAWAY]</a:t>
            </a:r>
          </a:p>
          <a:p>
            <a:r>
              <a:t>CuraCascade provides both an empirical characterization of evidence lag and a practical, open-source tool for clinical re-curation triage.</a:t>
            </a:r>
          </a:p>
          <a:p/>
          <a:p>
            <a:r>
              <a:t>[SCIENTIFIC INTEGRITY GUARDRAIL - WHAT NOT TO OVERCLAIM]</a:t>
            </a:r>
          </a:p>
          <a:p>
            <a:r>
              <a:t>Do not overclaim regulatory clearance; emphasize that CuraCascade is a research tool supporting professional medical geneticists.</a:t>
            </a:r>
          </a:p>
          <a:p/>
          <a:p>
            <a:r>
              <a:t>[EXPECTED FACULTY VIVA QUESTION]</a:t>
            </a:r>
          </a:p>
          <a:p>
            <a:r>
              <a:t>Q: What is the single biggest lesson learned from building this system?</a:t>
            </a:r>
          </a:p>
          <a:p>
            <a:r>
              <a:t>A: The realization that clinical genomics cannot treat genes as monolithic entities. Because human genes cause distinct diseases through different mechanisms, any evidence aggregation tool must maintain strict disease-level ontology awareness.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SPEAKING SCRIPT - 10-12 MIN PACING]</a:t>
            </a:r>
          </a:p>
          <a:p>
            <a:r>
              <a:t>In conclusion, CuraCascade demonstrates that automated cross-layer auditing is both technically feasible and clinically necessary. By linking ClinGen, ClinVar, PanelApp, and gnomAD through a disease-aware relational warehouse, we achieved 100% precision in flagging unpropagated discrepancies and quantified an empirical 2.82-year knowledge lag. For future work, we plan to implement prospective longitudinal tracking and EHR integration. I want to sincerely thank the examination committee for their time and guidance, and I now welcome your questions and discussion.</a:t>
            </a:r>
          </a:p>
          <a:p/>
          <a:p>
            <a:r>
              <a:t>[CORE TAKEAWAY]</a:t>
            </a:r>
          </a:p>
          <a:p>
            <a:r>
              <a:t>CuraCascade bridges a critical gap in clinical genomics through reproducible engineering, open-source decision support, and strict scientific integrity.</a:t>
            </a:r>
          </a:p>
          <a:p/>
          <a:p>
            <a:r>
              <a:t>[SCIENTIFIC INTEGRITY GUARDRAIL - WHAT NOT TO OVERCLAIM]</a:t>
            </a:r>
          </a:p>
          <a:p>
            <a:r>
              <a:t>Be open and receptive to faculty questions; defend the choices made in 3NF design and disease-aware matching without being defensive.</a:t>
            </a:r>
          </a:p>
          <a:p/>
          <a:p>
            <a:r>
              <a:t>[EXPECTED FACULTY VIVA QUESTION]</a:t>
            </a:r>
          </a:p>
          <a:p>
            <a:r>
              <a:t>Q: What is the most immediate clinical benefit if a diagnostic lab adopts CuraCascade tomorrow?</a:t>
            </a:r>
          </a:p>
          <a:p>
            <a:r>
              <a:t>A: The lab can immediately perform a retrospective audit of all historical patient cases where variants were signed out as Pathogenic in disputed genes like SCN1B or MYLK2, allowing them to issue amended reports and prevent unnecessary cascade screening in family members.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60120"/>
            <a:ext cx="10332720" cy="365760"/>
          </a:xfrm>
          <a:prstGeom prst="rect">
            <a:avLst/>
          </a:prstGeom>
          <a:noFill/>
        </p:spPr>
        <p:txBody>
          <a:bodyPr wrap="none">
            <a:spAutoFit/>
          </a:bodyPr>
          <a:lstStyle/>
          <a:p>
            <a:pPr>
              <a:defRPr sz="1100" b="1">
                <a:solidFill>
                  <a:srgbClr val="36D6C5"/>
                </a:solidFill>
              </a:defRPr>
            </a:pPr>
            <a:r>
              <a:t>RESEARCH CAPSTONE &amp; ACADEMIC PROJECT DEFENSE  •  BIOMEDICAL INFORMATICS</a:t>
            </a:r>
          </a:p>
        </p:txBody>
      </p:sp>
      <p:sp>
        <p:nvSpPr>
          <p:cNvPr id="5" name="TextBox 4"/>
          <p:cNvSpPr txBox="1"/>
          <p:nvPr/>
        </p:nvSpPr>
        <p:spPr>
          <a:xfrm>
            <a:off x="914400" y="1325880"/>
            <a:ext cx="10332720" cy="1371600"/>
          </a:xfrm>
          <a:prstGeom prst="rect">
            <a:avLst/>
          </a:prstGeom>
          <a:noFill/>
        </p:spPr>
        <p:txBody>
          <a:bodyPr wrap="square">
            <a:spAutoFit/>
          </a:bodyPr>
          <a:lstStyle/>
          <a:p>
            <a:pPr>
              <a:defRPr sz="4600" b="1">
                <a:solidFill>
                  <a:srgbClr val="F5F8FC"/>
                </a:solidFill>
              </a:defRPr>
            </a:pPr>
            <a:r>
              <a:t>CuraCascade</a:t>
            </a:r>
          </a:p>
          <a:p>
            <a:pPr>
              <a:spcBef>
                <a:spcPts val="800"/>
              </a:spcBef>
              <a:defRPr sz="1700">
                <a:solidFill>
                  <a:srgbClr val="55B9FF"/>
                </a:solidFill>
              </a:defRPr>
            </a:pPr>
            <a:r>
              <a:t>An Integrated Framework for Gene–Disease Evidence Aggregation, Validation, and Research-Oriented Analysis</a:t>
            </a:r>
          </a:p>
        </p:txBody>
      </p:sp>
      <p:sp>
        <p:nvSpPr>
          <p:cNvPr id="6" name="Rectangle 5"/>
          <p:cNvSpPr/>
          <p:nvPr/>
        </p:nvSpPr>
        <p:spPr>
          <a:xfrm>
            <a:off x="914400" y="2926080"/>
            <a:ext cx="10362895" cy="13716"/>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154680"/>
            <a:ext cx="5029200" cy="28346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337560"/>
            <a:ext cx="4572000" cy="2468880"/>
          </a:xfrm>
          <a:prstGeom prst="rect">
            <a:avLst/>
          </a:prstGeom>
          <a:noFill/>
        </p:spPr>
        <p:txBody>
          <a:bodyPr wrap="square">
            <a:spAutoFit/>
          </a:bodyPr>
          <a:lstStyle/>
          <a:p>
            <a:pPr>
              <a:defRPr sz="1000" b="1">
                <a:solidFill>
                  <a:srgbClr val="36D6C5"/>
                </a:solidFill>
              </a:defRPr>
            </a:pPr>
            <a:r>
              <a:t>RESEARCHER &amp; LEAD SYSTEM ARCHITECT</a:t>
            </a:r>
          </a:p>
          <a:p>
            <a:pPr>
              <a:spcBef>
                <a:spcPts val="400"/>
              </a:spcBef>
              <a:defRPr sz="2000" b="1">
                <a:solidFill>
                  <a:srgbClr val="F5F8FC"/>
                </a:solidFill>
              </a:defRPr>
            </a:pPr>
            <a:r>
              <a:t>Udit Shokeen</a:t>
            </a:r>
          </a:p>
          <a:p>
            <a:pPr>
              <a:spcBef>
                <a:spcPts val="600"/>
              </a:spcBef>
              <a:defRPr sz="1100">
                <a:solidFill>
                  <a:srgbClr val="8FA0B8"/>
                </a:solidFill>
              </a:defRPr>
            </a:pPr>
            <a:r>
              <a:t>Registration No: 23BCB0001</a:t>
            </a:r>
            <a:br/>
            <a:r>
              <a:t>School of Computer Science and Engineering (SCOPE)</a:t>
            </a:r>
            <a:br/>
            <a:r>
              <a:t>Vellore Institute of Technology, Vellore, Tamil Nadu, India</a:t>
            </a:r>
            <a:br/>
            <a:r>
              <a:t>Institutional Email: udit.shokeen2023@vitstudent.ac.in</a:t>
            </a:r>
          </a:p>
          <a:p>
            <a:pPr>
              <a:spcBef>
                <a:spcPts val="800"/>
              </a:spcBef>
              <a:defRPr sz="1000" b="1">
                <a:solidFill>
                  <a:srgbClr val="10B981"/>
                </a:solidFill>
              </a:defRPr>
            </a:pPr>
            <a:r>
              <a:t>Course: Biological Databases  •  Final Viva Defense</a:t>
            </a:r>
          </a:p>
        </p:txBody>
      </p:sp>
      <p:sp>
        <p:nvSpPr>
          <p:cNvPr id="9" name="Rectangle 8"/>
          <p:cNvSpPr/>
          <p:nvPr/>
        </p:nvSpPr>
        <p:spPr>
          <a:xfrm>
            <a:off x="6248095" y="3154680"/>
            <a:ext cx="5029200" cy="28346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3337560"/>
            <a:ext cx="4572000" cy="2468880"/>
          </a:xfrm>
          <a:prstGeom prst="rect">
            <a:avLst/>
          </a:prstGeom>
          <a:noFill/>
        </p:spPr>
        <p:txBody>
          <a:bodyPr wrap="square">
            <a:spAutoFit/>
          </a:bodyPr>
          <a:lstStyle/>
          <a:p>
            <a:pPr>
              <a:defRPr sz="1000" b="1">
                <a:solidFill>
                  <a:srgbClr val="55B9FF"/>
                </a:solidFill>
              </a:defRPr>
            </a:pPr>
            <a:r>
              <a:t>ENGINEERING STACK &amp; SCIENTIFIC ARTIFACTS</a:t>
            </a:r>
          </a:p>
          <a:p>
            <a:pPr>
              <a:spcBef>
                <a:spcPts val="400"/>
              </a:spcBef>
              <a:defRPr sz="1100">
                <a:solidFill>
                  <a:srgbClr val="8FA0B8"/>
                </a:solidFill>
              </a:defRPr>
            </a:pPr>
            <a:r>
              <a:t>• Core Stack: Python 3.11+ • 3NF Normalized SQLite • DuckDB OLAP</a:t>
            </a:r>
          </a:p>
          <a:p>
            <a:pPr>
              <a:spcBef>
                <a:spcPts val="400"/>
              </a:spcBef>
              <a:defRPr sz="1100">
                <a:solidFill>
                  <a:srgbClr val="8FA0B8"/>
                </a:solidFill>
              </a:defRPr>
            </a:pPr>
            <a:r>
              <a:t>• Cascade Engine: Deterministic Disease-Aware Concept Crosswalk (MONDO/MedGen)</a:t>
            </a:r>
          </a:p>
          <a:p>
            <a:pPr>
              <a:spcBef>
                <a:spcPts val="400"/>
              </a:spcBef>
              <a:defRPr sz="1100">
                <a:solidFill>
                  <a:srgbClr val="F5F8FC"/>
                </a:solidFill>
              </a:defRPr>
            </a:pPr>
            <a:r>
              <a:t>• Live Web Portal: curacascadev2.streamlit.app (Interactive Decision Support)</a:t>
            </a:r>
          </a:p>
          <a:p>
            <a:pPr>
              <a:spcBef>
                <a:spcPts val="400"/>
              </a:spcBef>
              <a:defRPr sz="1100">
                <a:solidFill>
                  <a:srgbClr val="8FA0B8"/>
                </a:solidFill>
              </a:defRPr>
            </a:pPr>
            <a:r>
              <a:t>• Validation Rigor: 100-Gene Expert Adjudication Benchmark • 47/47 Pytests Passed</a:t>
            </a:r>
          </a:p>
          <a:p>
            <a:pPr>
              <a:spcBef>
                <a:spcPts val="400"/>
              </a:spcBef>
              <a:defRPr sz="1100">
                <a:solidFill>
                  <a:srgbClr val="8FA0B8"/>
                </a:solidFill>
              </a:defRPr>
            </a:pPr>
            <a:r>
              <a:t>• Scientific Scope: Evidence-to-Practice Lag Auditing (51,007 ClinVar Assertions)</a:t>
            </a:r>
          </a:p>
        </p:txBody>
      </p:sp>
      <p:sp>
        <p:nvSpPr>
          <p:cNvPr id="11" name="Rectangle 10"/>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1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00" fill="hold"/>
                                  <p:tgtEl>
                                    <p:spTgt spid="7"/>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00" fill="hold"/>
                                  <p:tgtEl>
                                    <p:spTgt spid="9"/>
                                  </p:tgtEl>
                                </p:cBhvr>
                              </p:animEffect>
                            </p:childTnLst>
                          </p:cTn>
                        </p:par>
                      </p:childTnLst>
                    </p:cTn>
                  </p:par>
                </p:childTnLst>
              </p:cTn>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01 // THE CLINICAL CHALLENGE</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The Evidence Synchronization Gap in Translational Genomics</a:t>
            </a:r>
          </a:p>
          <a:p>
            <a:pPr>
              <a:spcBef>
                <a:spcPts val="300"/>
              </a:spcBef>
              <a:defRPr sz="1200">
                <a:solidFill>
                  <a:srgbClr val="8FA0B8"/>
                </a:solidFill>
              </a:defRPr>
            </a:pPr>
            <a:r>
              <a:t>Upstream expert validity reappraisals fail to automatically propagate to downstream clinical databases.</a:t>
            </a:r>
          </a:p>
        </p:txBody>
      </p:sp>
      <p:sp>
        <p:nvSpPr>
          <p:cNvPr id="5" name="Rectangle 4"/>
          <p:cNvSpPr/>
          <p:nvPr/>
        </p:nvSpPr>
        <p:spPr>
          <a:xfrm>
            <a:off x="731520"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3337560" cy="54864"/>
          </a:xfrm>
          <a:prstGeom prst="rect">
            <a:avLst/>
          </a:prstGeom>
          <a:solidFill>
            <a:srgbClr val="FFA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971800" cy="4023360"/>
          </a:xfrm>
          <a:prstGeom prst="rect">
            <a:avLst/>
          </a:prstGeom>
          <a:noFill/>
        </p:spPr>
        <p:txBody>
          <a:bodyPr wrap="square">
            <a:spAutoFit/>
          </a:bodyPr>
          <a:lstStyle/>
          <a:p>
            <a:pPr>
              <a:defRPr sz="1000" b="1">
                <a:solidFill>
                  <a:srgbClr val="FFA63D"/>
                </a:solidFill>
              </a:defRPr>
            </a:pPr>
            <a:r>
              <a:t>1. UPSTREAM REAPPRAISAL</a:t>
            </a:r>
          </a:p>
          <a:p>
            <a:pPr>
              <a:spcBef>
                <a:spcPts val="300"/>
              </a:spcBef>
              <a:defRPr sz="1600" b="1">
                <a:solidFill>
                  <a:srgbClr val="F5F8FC"/>
                </a:solidFill>
              </a:defRPr>
            </a:pPr>
            <a:r>
              <a:t>ClinGen Expert Curation</a:t>
            </a:r>
          </a:p>
          <a:p>
            <a:pPr>
              <a:spcBef>
                <a:spcPts val="800"/>
              </a:spcBef>
              <a:defRPr sz="1100">
                <a:solidFill>
                  <a:srgbClr val="8FA0B8"/>
                </a:solidFill>
              </a:defRPr>
            </a:pPr>
            <a:r>
              <a:t>ClinGen Gene Curation Expert Panels (GCEPs) systematically re-evaluate published gene-disease claims against modern evidence.</a:t>
            </a:r>
            <a:br/>
            <a:br/>
            <a:r>
              <a:t>Historically published candidate genes are formally downgraded to Limited, Disputed, or Refuted when genetic evidence is lacking.</a:t>
            </a:r>
          </a:p>
          <a:p>
            <a:pPr>
              <a:spcBef>
                <a:spcPts val="1200"/>
              </a:spcBef>
              <a:defRPr sz="900" b="1">
                <a:solidFill>
                  <a:srgbClr val="5A6C82"/>
                </a:solidFill>
              </a:defRPr>
            </a:pPr>
            <a:r>
              <a:t>KEY EVIDENCE METRICS:</a:t>
            </a:r>
          </a:p>
          <a:p>
            <a:pPr>
              <a:spcBef>
                <a:spcPts val="200"/>
              </a:spcBef>
              <a:defRPr sz="1050" b="1">
                <a:solidFill>
                  <a:srgbClr val="F5F8FC"/>
                </a:solidFill>
              </a:defRPr>
            </a:pPr>
            <a:r>
              <a:t>• ClinGen Status: Disputed / Refuted</a:t>
            </a:r>
          </a:p>
          <a:p>
            <a:pPr>
              <a:spcBef>
                <a:spcPts val="200"/>
              </a:spcBef>
              <a:defRPr sz="1050" b="1">
                <a:solidFill>
                  <a:srgbClr val="F5F8FC"/>
                </a:solidFill>
              </a:defRPr>
            </a:pPr>
            <a:r>
              <a:t>• Scope: Gene-Disease Dyad</a:t>
            </a:r>
          </a:p>
        </p:txBody>
      </p:sp>
      <p:sp>
        <p:nvSpPr>
          <p:cNvPr id="8" name="Rectangle 7"/>
          <p:cNvSpPr/>
          <p:nvPr/>
        </p:nvSpPr>
        <p:spPr>
          <a:xfrm>
            <a:off x="4425696"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25696" y="1691640"/>
            <a:ext cx="3337560" cy="54864"/>
          </a:xfrm>
          <a:prstGeom prst="rect">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1874519"/>
            <a:ext cx="2971800" cy="4023360"/>
          </a:xfrm>
          <a:prstGeom prst="rect">
            <a:avLst/>
          </a:prstGeom>
          <a:noFill/>
        </p:spPr>
        <p:txBody>
          <a:bodyPr wrap="square">
            <a:spAutoFit/>
          </a:bodyPr>
          <a:lstStyle/>
          <a:p>
            <a:pPr>
              <a:defRPr sz="1000" b="1">
                <a:solidFill>
                  <a:srgbClr val="FF5C5C"/>
                </a:solidFill>
              </a:defRPr>
            </a:pPr>
            <a:r>
              <a:t>2. DOWNSTREAM INERTIA</a:t>
            </a:r>
          </a:p>
          <a:p>
            <a:pPr>
              <a:spcBef>
                <a:spcPts val="300"/>
              </a:spcBef>
              <a:defRPr sz="1600" b="1">
                <a:solidFill>
                  <a:srgbClr val="F5F8FC"/>
                </a:solidFill>
              </a:defRPr>
            </a:pPr>
            <a:r>
              <a:t>Static Assertion Latency</a:t>
            </a:r>
          </a:p>
          <a:p>
            <a:pPr>
              <a:spcBef>
                <a:spcPts val="800"/>
              </a:spcBef>
              <a:defRPr sz="1100">
                <a:solidFill>
                  <a:srgbClr val="8FA0B8"/>
                </a:solidFill>
              </a:defRPr>
            </a:pPr>
            <a:r>
              <a:t>Clinical databases (NCBI ClinVar) and diagnostic panels (PanelApp) do not automatically synchronize when a gene is downgraded.</a:t>
            </a:r>
            <a:br/>
            <a:br/>
            <a:r>
              <a:t>Laboratories continue submitting Pathogenic / Likely Pathogenic (P/LP) assertions for years due to decentralized curation backlogs.</a:t>
            </a:r>
          </a:p>
          <a:p>
            <a:pPr>
              <a:spcBef>
                <a:spcPts val="1200"/>
              </a:spcBef>
              <a:defRPr sz="900" b="1">
                <a:solidFill>
                  <a:srgbClr val="5A6C82"/>
                </a:solidFill>
              </a:defRPr>
            </a:pPr>
            <a:r>
              <a:t>KEY EVIDENCE METRICS:</a:t>
            </a:r>
          </a:p>
          <a:p>
            <a:pPr>
              <a:spcBef>
                <a:spcPts val="200"/>
              </a:spcBef>
              <a:defRPr sz="1050" b="1">
                <a:solidFill>
                  <a:srgbClr val="F5F8FC"/>
                </a:solidFill>
              </a:defRPr>
            </a:pPr>
            <a:r>
              <a:t>• Median Latency: 2.82 Years (1,030 Days)</a:t>
            </a:r>
          </a:p>
          <a:p>
            <a:pPr>
              <a:spcBef>
                <a:spcPts val="200"/>
              </a:spcBef>
              <a:defRPr sz="1050" b="1">
                <a:solidFill>
                  <a:srgbClr val="F5F8FC"/>
                </a:solidFill>
              </a:defRPr>
            </a:pPr>
            <a:r>
              <a:t>• Impacted Records: 51,007 ClinVar Assertions</a:t>
            </a:r>
          </a:p>
        </p:txBody>
      </p:sp>
      <p:sp>
        <p:nvSpPr>
          <p:cNvPr id="11" name="Rectangle 10"/>
          <p:cNvSpPr/>
          <p:nvPr/>
        </p:nvSpPr>
        <p:spPr>
          <a:xfrm>
            <a:off x="8119872"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9872" y="1691640"/>
            <a:ext cx="3337560"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874519"/>
            <a:ext cx="2971800" cy="4023360"/>
          </a:xfrm>
          <a:prstGeom prst="rect">
            <a:avLst/>
          </a:prstGeom>
          <a:noFill/>
        </p:spPr>
        <p:txBody>
          <a:bodyPr wrap="square">
            <a:spAutoFit/>
          </a:bodyPr>
          <a:lstStyle/>
          <a:p>
            <a:pPr>
              <a:defRPr sz="1000" b="1">
                <a:solidFill>
                  <a:srgbClr val="55B9FF"/>
                </a:solidFill>
              </a:defRPr>
            </a:pPr>
            <a:r>
              <a:t>3. GOVERNANCE DISCREPANCY</a:t>
            </a:r>
          </a:p>
          <a:p>
            <a:pPr>
              <a:spcBef>
                <a:spcPts val="300"/>
              </a:spcBef>
              <a:defRPr sz="1600" b="1">
                <a:solidFill>
                  <a:srgbClr val="F5F8FC"/>
                </a:solidFill>
              </a:defRPr>
            </a:pPr>
            <a:r>
              <a:t>Diagnostic Review Need</a:t>
            </a:r>
          </a:p>
          <a:p>
            <a:pPr>
              <a:spcBef>
                <a:spcPts val="800"/>
              </a:spcBef>
              <a:defRPr sz="1100">
                <a:solidFill>
                  <a:srgbClr val="8FA0B8"/>
                </a:solidFill>
              </a:defRPr>
            </a:pPr>
            <a:r>
              <a:t>Clinicians and testing laboratories risk issuing diagnostic reports based on invalid gene attributions.</a:t>
            </a:r>
            <a:br/>
            <a:br/>
            <a:r>
              <a:t>Unwarranted predictive cascade testing in family members and inappropriate invasive interventions (e.g. ICDs in refuted arrhythmia genes) require expert audit.</a:t>
            </a:r>
          </a:p>
          <a:p>
            <a:pPr>
              <a:spcBef>
                <a:spcPts val="1200"/>
              </a:spcBef>
              <a:defRPr sz="900" b="1">
                <a:solidFill>
                  <a:srgbClr val="5A6C82"/>
                </a:solidFill>
              </a:defRPr>
            </a:pPr>
            <a:r>
              <a:t>KEY EVIDENCE METRICS:</a:t>
            </a:r>
          </a:p>
          <a:p>
            <a:pPr>
              <a:spcBef>
                <a:spcPts val="200"/>
              </a:spcBef>
              <a:defRPr sz="1050" b="1">
                <a:solidFill>
                  <a:srgbClr val="F5F8FC"/>
                </a:solidFill>
              </a:defRPr>
            </a:pPr>
            <a:r>
              <a:t>• Primary Risk: False-Positive Attribution</a:t>
            </a:r>
          </a:p>
          <a:p>
            <a:pPr>
              <a:spcBef>
                <a:spcPts val="200"/>
              </a:spcBef>
              <a:defRPr sz="1050" b="1">
                <a:solidFill>
                  <a:srgbClr val="F5F8FC"/>
                </a:solidFill>
              </a:defRPr>
            </a:pPr>
            <a:r>
              <a:t>• Remediation: Formal VUS Cap / Demotion</a:t>
            </a:r>
          </a:p>
        </p:txBody>
      </p:sp>
      <p:sp>
        <p:nvSpPr>
          <p:cNvPr id="14" name="Rectangle 13"/>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2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fill="hold"/>
                                  <p:tgtEl>
                                    <p:spTgt spid="8"/>
                                  </p:tgtEl>
                                </p:cBhvr>
                              </p:animEffect>
                            </p:childTnLst>
                          </p:cTn>
                        </p:par>
                      </p:childTnLst>
                    </p:cTn>
                  </p:par>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fill="hold"/>
                                  <p:tgtEl>
                                    <p:spTgt spid="11"/>
                                  </p:tgtEl>
                                </p:cBhvr>
                              </p:animEffect>
                            </p:childTnLst>
                          </p:cTn>
                        </p:par>
                      </p:childTnLst>
                    </p:cTn>
                  </p:par>
                </p:childTn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02 // ROOT CAUSE ANALYSIS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Why Existing Workflows Fail: Multi-Repository Semantic Fragmentation</a:t>
            </a:r>
          </a:p>
          <a:p>
            <a:pPr>
              <a:spcBef>
                <a:spcPts val="300"/>
              </a:spcBef>
              <a:defRPr sz="1200">
                <a:solidFill>
                  <a:srgbClr val="8FA0B8"/>
                </a:solidFill>
              </a:defRPr>
            </a:pPr>
            <a:r>
              <a:t>Biomedical databases operate on disparate ontologies, evidence granularities, and update cadences.</a:t>
            </a:r>
          </a:p>
        </p:txBody>
      </p:sp>
      <p:sp>
        <p:nvSpPr>
          <p:cNvPr id="5" name="Rectangle 4"/>
          <p:cNvSpPr/>
          <p:nvPr/>
        </p:nvSpPr>
        <p:spPr>
          <a:xfrm>
            <a:off x="731520" y="1691640"/>
            <a:ext cx="2523744"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2523744" cy="54864"/>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2249424" cy="4023360"/>
          </a:xfrm>
          <a:prstGeom prst="rect">
            <a:avLst/>
          </a:prstGeom>
          <a:noFill/>
        </p:spPr>
        <p:txBody>
          <a:bodyPr wrap="square">
            <a:spAutoFit/>
          </a:bodyPr>
          <a:lstStyle/>
          <a:p>
            <a:pPr>
              <a:defRPr sz="1400" b="1">
                <a:solidFill>
                  <a:srgbClr val="36D6C5"/>
                </a:solidFill>
              </a:defRPr>
            </a:pPr>
            <a:r>
              <a:t>CLINGEN</a:t>
            </a:r>
          </a:p>
          <a:p>
            <a:pPr>
              <a:spcBef>
                <a:spcPts val="200"/>
              </a:spcBef>
              <a:defRPr sz="1000">
                <a:solidFill>
                  <a:srgbClr val="8FA0B8"/>
                </a:solidFill>
              </a:defRPr>
            </a:pPr>
            <a:r>
              <a:t>Clinical Genome Resource</a:t>
            </a:r>
          </a:p>
          <a:p>
            <a:pPr>
              <a:spcBef>
                <a:spcPts val="400"/>
              </a:spcBef>
              <a:defRPr sz="800">
                <a:solidFill>
                  <a:srgbClr val="1E3A5F"/>
                </a:solidFill>
              </a:defRPr>
            </a:pPr>
            <a:r>
              <a:t>─────────────────────</a:t>
            </a:r>
          </a:p>
          <a:p>
            <a:pPr>
              <a:spcBef>
                <a:spcPts val="400"/>
              </a:spcBef>
              <a:defRPr sz="1000">
                <a:solidFill>
                  <a:srgbClr val="F5F8FC"/>
                </a:solidFill>
              </a:defRPr>
            </a:pPr>
            <a:r>
              <a:t>• Granularity: Gene-Disease Dyad (G, D)</a:t>
            </a:r>
            <a:br/>
            <a:r>
              <a:t>• Ontology: MONDO Disease Ontology</a:t>
            </a:r>
            <a:br/>
            <a:r>
              <a:t>• Evidence Matrix: 6 Tiers (Definitive to Refuted)</a:t>
            </a:r>
            <a:br/>
            <a:r>
              <a:t>• Cadence: GCEP Expert Consensus Panels</a:t>
            </a:r>
            <a:br/>
            <a:r>
              <a:t>• Limitation: Does not curate variant-level submissions directly.</a:t>
            </a:r>
          </a:p>
        </p:txBody>
      </p:sp>
      <p:sp>
        <p:nvSpPr>
          <p:cNvPr id="8" name="Rectangle 7"/>
          <p:cNvSpPr/>
          <p:nvPr/>
        </p:nvSpPr>
        <p:spPr>
          <a:xfrm>
            <a:off x="3465576" y="1691640"/>
            <a:ext cx="2523744"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65576" y="1691640"/>
            <a:ext cx="2523744"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1874519"/>
            <a:ext cx="2249424" cy="4023360"/>
          </a:xfrm>
          <a:prstGeom prst="rect">
            <a:avLst/>
          </a:prstGeom>
          <a:noFill/>
        </p:spPr>
        <p:txBody>
          <a:bodyPr wrap="square">
            <a:spAutoFit/>
          </a:bodyPr>
          <a:lstStyle/>
          <a:p>
            <a:pPr>
              <a:defRPr sz="1400" b="1">
                <a:solidFill>
                  <a:srgbClr val="55B9FF"/>
                </a:solidFill>
              </a:defRPr>
            </a:pPr>
            <a:r>
              <a:t>NCBI CLINVAR</a:t>
            </a:r>
          </a:p>
          <a:p>
            <a:pPr>
              <a:spcBef>
                <a:spcPts val="200"/>
              </a:spcBef>
              <a:defRPr sz="1000">
                <a:solidFill>
                  <a:srgbClr val="8FA0B8"/>
                </a:solidFill>
              </a:defRPr>
            </a:pPr>
            <a:r>
              <a:t>Variant Assertion Archive</a:t>
            </a:r>
          </a:p>
          <a:p>
            <a:pPr>
              <a:spcBef>
                <a:spcPts val="400"/>
              </a:spcBef>
              <a:defRPr sz="800">
                <a:solidFill>
                  <a:srgbClr val="1E3A5F"/>
                </a:solidFill>
              </a:defRPr>
            </a:pPr>
            <a:r>
              <a:t>─────────────────────</a:t>
            </a:r>
          </a:p>
          <a:p>
            <a:pPr>
              <a:spcBef>
                <a:spcPts val="400"/>
              </a:spcBef>
              <a:defRPr sz="1000">
                <a:solidFill>
                  <a:srgbClr val="F5F8FC"/>
                </a:solidFill>
              </a:defRPr>
            </a:pPr>
            <a:r>
              <a:t>• Granularity: Allelic Variant (G, V)</a:t>
            </a:r>
            <a:br/>
            <a:r>
              <a:t>• Ontology: MedGen, OMIM, Free-Text Phenotypes</a:t>
            </a:r>
            <a:br/>
            <a:r>
              <a:t>• Evidence Matrix: ACMG 5-Tier (P, LP, VUS, LB, B)</a:t>
            </a:r>
            <a:br/>
            <a:r>
              <a:t>• Cadence: Voluntary laboratory submissions</a:t>
            </a:r>
            <a:br/>
            <a:r>
              <a:t>• Limitation: No automated check against upstream gene validity.</a:t>
            </a:r>
          </a:p>
        </p:txBody>
      </p:sp>
      <p:sp>
        <p:nvSpPr>
          <p:cNvPr id="11" name="Rectangle 10"/>
          <p:cNvSpPr/>
          <p:nvPr/>
        </p:nvSpPr>
        <p:spPr>
          <a:xfrm>
            <a:off x="6199631" y="1691640"/>
            <a:ext cx="2523744"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1" y="1691640"/>
            <a:ext cx="2523744"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874519"/>
            <a:ext cx="2249424" cy="4023360"/>
          </a:xfrm>
          <a:prstGeom prst="rect">
            <a:avLst/>
          </a:prstGeom>
          <a:noFill/>
        </p:spPr>
        <p:txBody>
          <a:bodyPr wrap="square">
            <a:spAutoFit/>
          </a:bodyPr>
          <a:lstStyle/>
          <a:p>
            <a:pPr>
              <a:defRPr sz="1400" b="1">
                <a:solidFill>
                  <a:srgbClr val="A855F7"/>
                </a:solidFill>
              </a:defRPr>
            </a:pPr>
            <a:r>
              <a:t>PANELAPP</a:t>
            </a:r>
          </a:p>
          <a:p>
            <a:pPr>
              <a:spcBef>
                <a:spcPts val="200"/>
              </a:spcBef>
              <a:defRPr sz="1000">
                <a:solidFill>
                  <a:srgbClr val="8FA0B8"/>
                </a:solidFill>
              </a:defRPr>
            </a:pPr>
            <a:r>
              <a:t>Genomics England &amp; NHS GMS</a:t>
            </a:r>
          </a:p>
          <a:p>
            <a:pPr>
              <a:spcBef>
                <a:spcPts val="400"/>
              </a:spcBef>
              <a:defRPr sz="800">
                <a:solidFill>
                  <a:srgbClr val="1E3A5F"/>
                </a:solidFill>
              </a:defRPr>
            </a:pPr>
            <a:r>
              <a:t>─────────────────────</a:t>
            </a:r>
          </a:p>
          <a:p>
            <a:pPr>
              <a:spcBef>
                <a:spcPts val="400"/>
              </a:spcBef>
              <a:defRPr sz="1000">
                <a:solidFill>
                  <a:srgbClr val="F5F8FC"/>
                </a:solidFill>
              </a:defRPr>
            </a:pPr>
            <a:r>
              <a:t>• Granularity: Diagnostic Gene Panels (G, P)</a:t>
            </a:r>
            <a:br/>
            <a:r>
              <a:t>• Ontology: Clinical Indication Codes</a:t>
            </a:r>
            <a:br/>
            <a:r>
              <a:t>• Evidence Matrix: Traffic Light (Green, Amber, Red)</a:t>
            </a:r>
            <a:br/>
            <a:r>
              <a:t>• Cadence: Expert clinical review for NHS commissioning</a:t>
            </a:r>
            <a:br/>
            <a:r>
              <a:t>• Limitation: Panel BED files lag upstream ClinGen refutations.</a:t>
            </a:r>
          </a:p>
        </p:txBody>
      </p:sp>
      <p:sp>
        <p:nvSpPr>
          <p:cNvPr id="14" name="Rectangle 13"/>
          <p:cNvSpPr/>
          <p:nvPr/>
        </p:nvSpPr>
        <p:spPr>
          <a:xfrm>
            <a:off x="8933688" y="1691640"/>
            <a:ext cx="2523744"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33688" y="1691640"/>
            <a:ext cx="2523744"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0848" y="1874519"/>
            <a:ext cx="2249424" cy="4023360"/>
          </a:xfrm>
          <a:prstGeom prst="rect">
            <a:avLst/>
          </a:prstGeom>
          <a:noFill/>
        </p:spPr>
        <p:txBody>
          <a:bodyPr wrap="square">
            <a:spAutoFit/>
          </a:bodyPr>
          <a:lstStyle/>
          <a:p>
            <a:pPr>
              <a:defRPr sz="1400" b="1">
                <a:solidFill>
                  <a:srgbClr val="10B981"/>
                </a:solidFill>
              </a:defRPr>
            </a:pPr>
            <a:r>
              <a:t>GNOMAD</a:t>
            </a:r>
          </a:p>
          <a:p>
            <a:pPr>
              <a:spcBef>
                <a:spcPts val="200"/>
              </a:spcBef>
              <a:defRPr sz="1000">
                <a:solidFill>
                  <a:srgbClr val="8FA0B8"/>
                </a:solidFill>
              </a:defRPr>
            </a:pPr>
            <a:r>
              <a:t>Genome Aggregation Database</a:t>
            </a:r>
          </a:p>
          <a:p>
            <a:pPr>
              <a:spcBef>
                <a:spcPts val="400"/>
              </a:spcBef>
              <a:defRPr sz="800">
                <a:solidFill>
                  <a:srgbClr val="1E3A5F"/>
                </a:solidFill>
              </a:defRPr>
            </a:pPr>
            <a:r>
              <a:t>─────────────────────</a:t>
            </a:r>
          </a:p>
          <a:p>
            <a:pPr>
              <a:spcBef>
                <a:spcPts val="400"/>
              </a:spcBef>
              <a:defRPr sz="1000">
                <a:solidFill>
                  <a:srgbClr val="F5F8FC"/>
                </a:solidFill>
              </a:defRPr>
            </a:pPr>
            <a:r>
              <a:t>• Granularity: Population Allele Frequency (AF)</a:t>
            </a:r>
            <a:br/>
            <a:r>
              <a:t>• Ontology: Continental Ancestry Clusters (v4)</a:t>
            </a:r>
            <a:br/>
            <a:r>
              <a:t>• Evidence Matrix: Quantitative Frequency Thresholds</a:t>
            </a:r>
            <a:br/>
            <a:r>
              <a:t>• Cadence: Multi-year major reference releases</a:t>
            </a:r>
            <a:br/>
            <a:r>
              <a:t>• Limitation: Lacks phenotype disease attribution.</a:t>
            </a:r>
          </a:p>
        </p:txBody>
      </p:sp>
      <p:sp>
        <p:nvSpPr>
          <p:cNvPr id="17" name="Rectangle 16"/>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3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fill="hold"/>
                                  <p:tgtEl>
                                    <p:spTgt spid="8"/>
                                  </p:tgtEl>
                                </p:cBhvr>
                              </p:animEffect>
                            </p:childTnLst>
                          </p:cTn>
                        </p:par>
                      </p:childTnLst>
                    </p:cTn>
                  </p:par>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fill="hold"/>
                                  <p:tgtEl>
                                    <p:spTgt spid="11"/>
                                  </p:tgtEl>
                                </p:cBhvr>
                              </p:animEffect>
                            </p:childTnLst>
                          </p:cTn>
                        </p:par>
                      </p:childTnLst>
                    </p:cTn>
                  </p:par>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400" fill="hold"/>
                                  <p:tgtEl>
                                    <p:spTgt spid="14"/>
                                  </p:tgtEl>
                                </p:cBhvr>
                              </p:animEffect>
                            </p:childTnLst>
                          </p:cTn>
                        </p:par>
                      </p:childTnLst>
                    </p:cTn>
                  </p:par>
                </p:childTnLst>
              </p:cTn>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03 // THE CURACASCADE SOLUTION</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Deterministic 5-Stage Cross-Layer Audit Pipeline</a:t>
            </a:r>
          </a:p>
          <a:p>
            <a:pPr>
              <a:spcBef>
                <a:spcPts val="300"/>
              </a:spcBef>
              <a:defRPr sz="1200">
                <a:solidFill>
                  <a:srgbClr val="8FA0B8"/>
                </a:solidFill>
              </a:defRPr>
            </a:pPr>
            <a:r>
              <a:t>End-to-end automated framework ingesting, harmonizing, auditing, and triaging genomic discrepancies.</a:t>
            </a:r>
          </a:p>
        </p:txBody>
      </p:sp>
      <p:sp>
        <p:nvSpPr>
          <p:cNvPr id="5" name="Rectangle 4"/>
          <p:cNvSpPr/>
          <p:nvPr/>
        </p:nvSpPr>
        <p:spPr>
          <a:xfrm>
            <a:off x="731520" y="1691640"/>
            <a:ext cx="199339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1993392" cy="54864"/>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874519"/>
            <a:ext cx="1773936" cy="4023360"/>
          </a:xfrm>
          <a:prstGeom prst="rect">
            <a:avLst/>
          </a:prstGeom>
          <a:noFill/>
        </p:spPr>
        <p:txBody>
          <a:bodyPr wrap="square">
            <a:spAutoFit/>
          </a:bodyPr>
          <a:lstStyle/>
          <a:p>
            <a:pPr>
              <a:defRPr sz="1000" b="1">
                <a:solidFill>
                  <a:srgbClr val="36D6C5"/>
                </a:solidFill>
              </a:defRPr>
            </a:pPr>
            <a:r>
              <a:t>STAGE 01</a:t>
            </a:r>
          </a:p>
          <a:p>
            <a:pPr>
              <a:spcBef>
                <a:spcPts val="300"/>
              </a:spcBef>
              <a:defRPr sz="1300" b="1">
                <a:solidFill>
                  <a:srgbClr val="F5F8FC"/>
                </a:solidFill>
              </a:defRPr>
            </a:pPr>
            <a:r>
              <a:t>Multi-Source Ingestion</a:t>
            </a:r>
          </a:p>
          <a:p>
            <a:pPr>
              <a:spcBef>
                <a:spcPts val="800"/>
              </a:spcBef>
              <a:defRPr sz="1000">
                <a:solidFill>
                  <a:srgbClr val="8FA0B8"/>
                </a:solidFill>
              </a:defRPr>
            </a:pPr>
            <a:r>
              <a:t>Automated fetchers pull raw ClinGen GCEP curations, ClinVar variant releases, PanelApp panel APIs, and gnomAD v4 population allele frequencies with cryptographic SHA-256 provenance logging.</a:t>
            </a:r>
          </a:p>
        </p:txBody>
      </p:sp>
      <p:sp>
        <p:nvSpPr>
          <p:cNvPr id="8" name="Rectangle 7"/>
          <p:cNvSpPr/>
          <p:nvPr/>
        </p:nvSpPr>
        <p:spPr>
          <a:xfrm>
            <a:off x="2907792" y="1691640"/>
            <a:ext cx="199339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07792" y="1691640"/>
            <a:ext cx="1993392"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874519"/>
            <a:ext cx="1773936" cy="4023360"/>
          </a:xfrm>
          <a:prstGeom prst="rect">
            <a:avLst/>
          </a:prstGeom>
          <a:noFill/>
        </p:spPr>
        <p:txBody>
          <a:bodyPr wrap="square">
            <a:spAutoFit/>
          </a:bodyPr>
          <a:lstStyle/>
          <a:p>
            <a:pPr>
              <a:defRPr sz="1000" b="1">
                <a:solidFill>
                  <a:srgbClr val="55B9FF"/>
                </a:solidFill>
              </a:defRPr>
            </a:pPr>
            <a:r>
              <a:t>STAGE 02</a:t>
            </a:r>
          </a:p>
          <a:p>
            <a:pPr>
              <a:spcBef>
                <a:spcPts val="300"/>
              </a:spcBef>
              <a:defRPr sz="1300" b="1">
                <a:solidFill>
                  <a:srgbClr val="F5F8FC"/>
                </a:solidFill>
              </a:defRPr>
            </a:pPr>
            <a:r>
              <a:t>Ontology Normalization</a:t>
            </a:r>
          </a:p>
          <a:p>
            <a:pPr>
              <a:spcBef>
                <a:spcPts val="800"/>
              </a:spcBef>
              <a:defRPr sz="1000">
                <a:solidFill>
                  <a:srgbClr val="8FA0B8"/>
                </a:solidFill>
              </a:defRPr>
            </a:pPr>
            <a:r>
              <a:t>Standardizes disparate disease terminology via a 3-tier MONDO-to-MedGen concept crosswalk. Resolves HGNC symbols, canonical MIM terms, and prevents pleiotropic cross-disease conflation.</a:t>
            </a:r>
          </a:p>
        </p:txBody>
      </p:sp>
      <p:sp>
        <p:nvSpPr>
          <p:cNvPr id="11" name="Rectangle 10"/>
          <p:cNvSpPr/>
          <p:nvPr/>
        </p:nvSpPr>
        <p:spPr>
          <a:xfrm>
            <a:off x="5084064" y="1691640"/>
            <a:ext cx="199339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84064" y="1691640"/>
            <a:ext cx="1993392"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93792" y="1874519"/>
            <a:ext cx="1773936" cy="4023360"/>
          </a:xfrm>
          <a:prstGeom prst="rect">
            <a:avLst/>
          </a:prstGeom>
          <a:noFill/>
        </p:spPr>
        <p:txBody>
          <a:bodyPr wrap="square">
            <a:spAutoFit/>
          </a:bodyPr>
          <a:lstStyle/>
          <a:p>
            <a:pPr>
              <a:defRPr sz="1000" b="1">
                <a:solidFill>
                  <a:srgbClr val="A855F7"/>
                </a:solidFill>
              </a:defRPr>
            </a:pPr>
            <a:r>
              <a:t>STAGE 03</a:t>
            </a:r>
          </a:p>
          <a:p>
            <a:pPr>
              <a:spcBef>
                <a:spcPts val="300"/>
              </a:spcBef>
              <a:defRPr sz="1300" b="1">
                <a:solidFill>
                  <a:srgbClr val="F5F8FC"/>
                </a:solidFill>
              </a:defRPr>
            </a:pPr>
            <a:r>
              <a:t>3NF Relational Warehouse</a:t>
            </a:r>
          </a:p>
          <a:p>
            <a:pPr>
              <a:spcBef>
                <a:spcPts val="800"/>
              </a:spcBef>
              <a:defRPr sz="1000">
                <a:solidFill>
                  <a:srgbClr val="8FA0B8"/>
                </a:solidFill>
              </a:defRPr>
            </a:pPr>
            <a:r>
              <a:t>Dual-engine architecture: Normalized SQLite 3NF relational database for strict transactional consistency + DuckDB OLAP views for rapid cross-database join execution.</a:t>
            </a:r>
          </a:p>
        </p:txBody>
      </p:sp>
      <p:sp>
        <p:nvSpPr>
          <p:cNvPr id="14" name="Rectangle 13"/>
          <p:cNvSpPr/>
          <p:nvPr/>
        </p:nvSpPr>
        <p:spPr>
          <a:xfrm>
            <a:off x="7260336" y="1691640"/>
            <a:ext cx="199339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60336" y="1691640"/>
            <a:ext cx="1993392" cy="54864"/>
          </a:xfrm>
          <a:prstGeom prst="rect">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70064" y="1874519"/>
            <a:ext cx="1773936" cy="4023360"/>
          </a:xfrm>
          <a:prstGeom prst="rect">
            <a:avLst/>
          </a:prstGeom>
          <a:noFill/>
        </p:spPr>
        <p:txBody>
          <a:bodyPr wrap="square">
            <a:spAutoFit/>
          </a:bodyPr>
          <a:lstStyle/>
          <a:p>
            <a:pPr>
              <a:defRPr sz="1000" b="1">
                <a:solidFill>
                  <a:srgbClr val="FF5C5C"/>
                </a:solidFill>
              </a:defRPr>
            </a:pPr>
            <a:r>
              <a:t>STAGE 04</a:t>
            </a:r>
          </a:p>
          <a:p>
            <a:pPr>
              <a:spcBef>
                <a:spcPts val="300"/>
              </a:spcBef>
              <a:defRPr sz="1300" b="1">
                <a:solidFill>
                  <a:srgbClr val="F5F8FC"/>
                </a:solidFill>
              </a:defRPr>
            </a:pPr>
            <a:r>
              <a:t>Cascade Audit Engine</a:t>
            </a:r>
          </a:p>
          <a:p>
            <a:pPr>
              <a:spcBef>
                <a:spcPts val="800"/>
              </a:spcBef>
              <a:defRPr sz="1000">
                <a:solidFill>
                  <a:srgbClr val="8FA0B8"/>
                </a:solidFill>
              </a:defRPr>
            </a:pPr>
            <a:r>
              <a:t>Deterministic rule-based joining of upstream ClinGen downgrades with downstream ClinVar P/LP assertions and PanelApp Green tiers. Materializes Class A, B, and C discrepancy findings.</a:t>
            </a:r>
          </a:p>
        </p:txBody>
      </p:sp>
      <p:sp>
        <p:nvSpPr>
          <p:cNvPr id="17" name="Rectangle 16"/>
          <p:cNvSpPr/>
          <p:nvPr/>
        </p:nvSpPr>
        <p:spPr>
          <a:xfrm>
            <a:off x="9436608" y="1691640"/>
            <a:ext cx="199339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36608" y="1691640"/>
            <a:ext cx="1993392"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46336" y="1874519"/>
            <a:ext cx="1773936" cy="4023360"/>
          </a:xfrm>
          <a:prstGeom prst="rect">
            <a:avLst/>
          </a:prstGeom>
          <a:noFill/>
        </p:spPr>
        <p:txBody>
          <a:bodyPr wrap="square">
            <a:spAutoFit/>
          </a:bodyPr>
          <a:lstStyle/>
          <a:p>
            <a:pPr>
              <a:defRPr sz="1000" b="1">
                <a:solidFill>
                  <a:srgbClr val="10B981"/>
                </a:solidFill>
              </a:defRPr>
            </a:pPr>
            <a:r>
              <a:t>STAGE 05</a:t>
            </a:r>
          </a:p>
          <a:p>
            <a:pPr>
              <a:spcBef>
                <a:spcPts val="300"/>
              </a:spcBef>
              <a:defRPr sz="1300" b="1">
                <a:solidFill>
                  <a:srgbClr val="F5F8FC"/>
                </a:solidFill>
              </a:defRPr>
            </a:pPr>
            <a:r>
              <a:t>Clinical Decision Support</a:t>
            </a:r>
          </a:p>
          <a:p>
            <a:pPr>
              <a:spcBef>
                <a:spcPts val="800"/>
              </a:spcBef>
              <a:defRPr sz="1000">
                <a:solidFill>
                  <a:srgbClr val="8FA0B8"/>
                </a:solidFill>
              </a:defRPr>
            </a:pPr>
            <a:r>
              <a:t>Interactive Streamlit web portal, automated command-line interface (run.py), and ISO 15189 compliant clinical governance dossiers (.md) for laboratory re-curation triage.</a:t>
            </a:r>
          </a:p>
        </p:txBody>
      </p:sp>
      <p:sp>
        <p:nvSpPr>
          <p:cNvPr id="20" name="Rectangle 19"/>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4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fill="hold"/>
                                  <p:tgtEl>
                                    <p:spTgt spid="8"/>
                                  </p:tgtEl>
                                </p:cBhvr>
                              </p:animEffect>
                            </p:childTnLst>
                          </p:cTn>
                        </p:par>
                      </p:childTnLst>
                    </p:cTn>
                  </p:par>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fill="hold"/>
                                  <p:tgtEl>
                                    <p:spTgt spid="11"/>
                                  </p:tgtEl>
                                </p:cBhvr>
                              </p:animEffect>
                            </p:childTnLst>
                          </p:cTn>
                        </p:par>
                      </p:childTnLst>
                    </p:cTn>
                  </p:par>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400" fill="hold"/>
                                  <p:tgtEl>
                                    <p:spTgt spid="14"/>
                                  </p:tgtEl>
                                </p:cBhvr>
                              </p:animEffect>
                            </p:childTnLst>
                          </p:cTn>
                        </p:par>
                      </p:childTnLst>
                    </p:cTn>
                  </p:par>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400" fill="hold"/>
                                  <p:tgtEl>
                                    <p:spTgt spid="17"/>
                                  </p:tgtEl>
                                </p:cBhvr>
                              </p:animEffect>
                            </p:childTnLst>
                          </p:cTn>
                        </p:par>
                      </p:childTnLst>
                    </p:cTn>
                  </p:par>
                </p:childTnLst>
              </p:cTn>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04 // SYSTEM ARCHITECTURE</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System Architecture: Dual-Engine Data Warehouse</a:t>
            </a:r>
          </a:p>
          <a:p>
            <a:pPr>
              <a:spcBef>
                <a:spcPts val="300"/>
              </a:spcBef>
              <a:defRPr sz="1200">
                <a:solidFill>
                  <a:srgbClr val="8FA0B8"/>
                </a:solidFill>
              </a:defRPr>
            </a:pPr>
            <a:r>
              <a:t>Coupling SQLite transactional 3NF integrity with DuckDB columnar analytical aggregation.</a:t>
            </a:r>
          </a:p>
        </p:txBody>
      </p:sp>
      <p:pic>
        <p:nvPicPr>
          <p:cNvPr id="5" name="Picture 4" descr="figure_schema_architecture.png"/>
          <p:cNvPicPr>
            <a:picLocks noChangeAspect="1"/>
          </p:cNvPicPr>
          <p:nvPr/>
        </p:nvPicPr>
        <p:blipFill>
          <a:blip r:embed="rId2"/>
          <a:stretch>
            <a:fillRect/>
          </a:stretch>
        </p:blipFill>
        <p:spPr>
          <a:xfrm>
            <a:off x="731520" y="1691640"/>
            <a:ext cx="5852160" cy="2904793"/>
          </a:xfrm>
          <a:prstGeom prst="rect">
            <a:avLst/>
          </a:prstGeom>
        </p:spPr>
      </p:pic>
      <p:sp>
        <p:nvSpPr>
          <p:cNvPr id="6" name="Rectangle 5"/>
          <p:cNvSpPr/>
          <p:nvPr/>
        </p:nvSpPr>
        <p:spPr>
          <a:xfrm>
            <a:off x="6766560" y="1691640"/>
            <a:ext cx="4693615"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95160" y="1874519"/>
            <a:ext cx="4206240" cy="4023360"/>
          </a:xfrm>
          <a:prstGeom prst="rect">
            <a:avLst/>
          </a:prstGeom>
          <a:noFill/>
        </p:spPr>
        <p:txBody>
          <a:bodyPr wrap="square">
            <a:spAutoFit/>
          </a:bodyPr>
          <a:lstStyle/>
          <a:p>
            <a:pPr>
              <a:defRPr sz="1100" b="1">
                <a:solidFill>
                  <a:srgbClr val="36D6C5"/>
                </a:solidFill>
              </a:defRPr>
            </a:pPr>
            <a:r>
              <a:t>FOUR-PILLAR ARCHITECTURAL RIGOR</a:t>
            </a:r>
          </a:p>
          <a:p>
            <a:pPr>
              <a:spcBef>
                <a:spcPts val="800"/>
              </a:spcBef>
              <a:defRPr sz="1150" b="1">
                <a:solidFill>
                  <a:srgbClr val="55B9FF"/>
                </a:solidFill>
              </a:defRPr>
            </a:pPr>
            <a:r>
              <a:t>1. Transactional Integrity (SQLite)</a:t>
            </a:r>
          </a:p>
          <a:p>
            <a:pPr>
              <a:spcBef>
                <a:spcPts val="200"/>
              </a:spcBef>
              <a:defRPr sz="1000">
                <a:solidFill>
                  <a:srgbClr val="8FA0B8"/>
                </a:solidFill>
              </a:defRPr>
            </a:pPr>
            <a:r>
              <a:t>Strict Third Normal Form (3NF) relational schema with 9 tables, cascading foreign keys, compound indexes on (gene_symbol, disease_id), and automated uniqueness constraints preventing assertion duplication.</a:t>
            </a:r>
          </a:p>
          <a:p>
            <a:pPr>
              <a:spcBef>
                <a:spcPts val="800"/>
              </a:spcBef>
              <a:defRPr sz="1150" b="1">
                <a:solidFill>
                  <a:srgbClr val="55B9FF"/>
                </a:solidFill>
              </a:defRPr>
            </a:pPr>
            <a:r>
              <a:t>2. Analytical OLAP Acceleration (DuckDB)</a:t>
            </a:r>
          </a:p>
          <a:p>
            <a:pPr>
              <a:spcBef>
                <a:spcPts val="200"/>
              </a:spcBef>
              <a:defRPr sz="1000">
                <a:solidFill>
                  <a:srgbClr val="8FA0B8"/>
                </a:solidFill>
              </a:defRPr>
            </a:pPr>
            <a:r>
              <a:t>In-memory columnar query engine executing complex multi-database joins across 50,000+ variants in sub-10ms response times for real-time dashboard responsiveness.</a:t>
            </a:r>
          </a:p>
          <a:p>
            <a:pPr>
              <a:spcBef>
                <a:spcPts val="800"/>
              </a:spcBef>
              <a:defRPr sz="1150" b="1">
                <a:solidFill>
                  <a:srgbClr val="55B9FF"/>
                </a:solidFill>
              </a:defRPr>
            </a:pPr>
            <a:r>
              <a:t>3. Cryptographic Provenance</a:t>
            </a:r>
          </a:p>
          <a:p>
            <a:pPr>
              <a:spcBef>
                <a:spcPts val="200"/>
              </a:spcBef>
              <a:defRPr sz="1000">
                <a:solidFill>
                  <a:srgbClr val="8FA0B8"/>
                </a:solidFill>
              </a:defRPr>
            </a:pPr>
            <a:r>
              <a:t>Dedicated provenance audit table capturing SHA-256 checksums, snapshot dates, and transformation versioning for full ISO 15189 compliance.</a:t>
            </a:r>
          </a:p>
          <a:p>
            <a:pPr>
              <a:spcBef>
                <a:spcPts val="800"/>
              </a:spcBef>
              <a:defRPr sz="1150" b="1">
                <a:solidFill>
                  <a:srgbClr val="55B9FF"/>
                </a:solidFill>
              </a:defRPr>
            </a:pPr>
            <a:r>
              <a:t>4. Dual Execution Modality</a:t>
            </a:r>
          </a:p>
          <a:p>
            <a:pPr>
              <a:spcBef>
                <a:spcPts val="200"/>
              </a:spcBef>
              <a:defRPr sz="1000">
                <a:solidFill>
                  <a:srgbClr val="8FA0B8"/>
                </a:solidFill>
              </a:defRPr>
            </a:pPr>
            <a:r>
              <a:t>Fully headless command-line interface (run.py) for automated CI/CD bioinformatics pipelines alongside an interactive clinical decision support dashboard in Streamlit.</a:t>
            </a:r>
          </a:p>
        </p:txBody>
      </p:sp>
      <p:sp>
        <p:nvSpPr>
          <p:cNvPr id="8" name="Rectangle 7"/>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5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00" fill="hold"/>
                                  <p:tgtEl>
                                    <p:spTgt spid="6"/>
                                  </p:tgtEl>
                                </p:cBhvr>
                              </p:animEffect>
                            </p:childTnLst>
                          </p:cTn>
                        </p:par>
                      </p:childTnLst>
                    </p:cTn>
                  </p:par>
                </p:childTnLst>
              </p:cTn>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05 // CORE INNOVATION</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Disease-Aware Concept Crosswalk &amp; Disambiguation</a:t>
            </a:r>
          </a:p>
          <a:p>
            <a:pPr>
              <a:spcBef>
                <a:spcPts val="300"/>
              </a:spcBef>
              <a:defRPr sz="1200">
                <a:solidFill>
                  <a:srgbClr val="8FA0B8"/>
                </a:solidFill>
              </a:defRPr>
            </a:pPr>
            <a:r>
              <a:t>Preventing false positives by distinguishing non-downgraded pleiotropic disease entities.</a:t>
            </a:r>
          </a:p>
        </p:txBody>
      </p:sp>
      <p:sp>
        <p:nvSpPr>
          <p:cNvPr id="5" name="Rectangle 4"/>
          <p:cNvSpPr/>
          <p:nvPr/>
        </p:nvSpPr>
        <p:spPr>
          <a:xfrm>
            <a:off x="731520" y="1691640"/>
            <a:ext cx="521208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4754880" cy="4023360"/>
          </a:xfrm>
          <a:prstGeom prst="rect">
            <a:avLst/>
          </a:prstGeom>
          <a:noFill/>
        </p:spPr>
        <p:txBody>
          <a:bodyPr wrap="square">
            <a:spAutoFit/>
          </a:bodyPr>
          <a:lstStyle/>
          <a:p>
            <a:pPr>
              <a:defRPr sz="1100" b="1">
                <a:solidFill>
                  <a:srgbClr val="FFA63D"/>
                </a:solidFill>
              </a:defRPr>
            </a:pPr>
            <a:r>
              <a:t>THE PITFALL OF GENE-SYMBOL MATCHING</a:t>
            </a:r>
          </a:p>
          <a:p>
            <a:pPr>
              <a:spcBef>
                <a:spcPts val="400"/>
              </a:spcBef>
              <a:defRPr sz="1050">
                <a:solidFill>
                  <a:srgbClr val="F5F8FC"/>
                </a:solidFill>
              </a:defRPr>
            </a:pPr>
            <a:r>
              <a:t>Naive tools match records purely by HGNC gene symbol. This causes severe clinical false positives because human genes are frequently pleiotropic (associated with multiple distinct conditions).</a:t>
            </a:r>
          </a:p>
          <a:p>
            <a:pPr>
              <a:spcBef>
                <a:spcPts val="1000"/>
              </a:spcBef>
              <a:defRPr sz="1000" b="1">
                <a:solidFill>
                  <a:srgbClr val="55B9FF"/>
                </a:solidFill>
              </a:defRPr>
            </a:pPr>
            <a:r>
              <a:t>CASE IN POINT: ACTN2 (Actinin Alpha 2)</a:t>
            </a:r>
          </a:p>
          <a:p>
            <a:pPr>
              <a:spcBef>
                <a:spcPts val="300"/>
              </a:spcBef>
              <a:defRPr sz="1000">
                <a:solidFill>
                  <a:srgbClr val="8FA0B8"/>
                </a:solidFill>
              </a:defRPr>
            </a:pPr>
            <a:r>
              <a:t>• ClinGen Curation A: Hypertrophic Cardiomyopathy (HCM) → REFUTED</a:t>
            </a:r>
            <a:br/>
            <a:r>
              <a:t>• ClinGen Curation B: Distal Myopathy (Distal Muscle Disease) → DEFINITIVE</a:t>
            </a:r>
          </a:p>
          <a:p>
            <a:pPr>
              <a:spcBef>
                <a:spcPts val="600"/>
              </a:spcBef>
              <a:defRPr sz="1050">
                <a:solidFill>
                  <a:srgbClr val="10B981"/>
                </a:solidFill>
              </a:defRPr>
            </a:pPr>
            <a:r>
              <a:t>A naive join flags ALL ClinVar ACTN2 variants as invalid errors. CuraCascade's disease-aware engine inspects the phenotype: distal myopathy variants remain VALID; only HCM assertions are flagged.</a:t>
            </a:r>
          </a:p>
          <a:p>
            <a:pPr>
              <a:spcBef>
                <a:spcPts val="1000"/>
              </a:spcBef>
              <a:defRPr sz="1000" b="1">
                <a:solidFill>
                  <a:srgbClr val="F5F8FC"/>
                </a:solidFill>
              </a:defRPr>
            </a:pPr>
            <a:r>
              <a:t>CLINGEN VALIDITY TIERS ARE NOT INTERCHANGEABLE:</a:t>
            </a:r>
          </a:p>
          <a:p>
            <a:pPr>
              <a:spcBef>
                <a:spcPts val="200"/>
              </a:spcBef>
              <a:defRPr sz="950">
                <a:solidFill>
                  <a:srgbClr val="8FA0B8"/>
                </a:solidFill>
              </a:defRPr>
            </a:pPr>
            <a:r>
              <a:t>• Refuted: Evidence AGAINST validity; rigorous cohorts disprove disease link.</a:t>
            </a:r>
          </a:p>
          <a:p>
            <a:pPr>
              <a:spcBef>
                <a:spcPts val="200"/>
              </a:spcBef>
              <a:defRPr sz="950">
                <a:solidFill>
                  <a:srgbClr val="8FA0B8"/>
                </a:solidFill>
              </a:defRPr>
            </a:pPr>
            <a:r>
              <a:t>• Disputed: Conflicting evidence; compelling contradicting cohorts published.</a:t>
            </a:r>
          </a:p>
          <a:p>
            <a:pPr>
              <a:spcBef>
                <a:spcPts val="200"/>
              </a:spcBef>
              <a:defRPr sz="950">
                <a:solidFill>
                  <a:srgbClr val="8FA0B8"/>
                </a:solidFill>
              </a:defRPr>
            </a:pPr>
            <a:r>
              <a:t>• Limited: Insufficient evidence; case reports exist but replication lacking.</a:t>
            </a:r>
          </a:p>
        </p:txBody>
      </p:sp>
      <p:sp>
        <p:nvSpPr>
          <p:cNvPr id="7" name="Rectangle 6"/>
          <p:cNvSpPr/>
          <p:nvPr/>
        </p:nvSpPr>
        <p:spPr>
          <a:xfrm>
            <a:off x="6172200" y="1691640"/>
            <a:ext cx="528523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74519"/>
            <a:ext cx="4846320" cy="4023360"/>
          </a:xfrm>
          <a:prstGeom prst="rect">
            <a:avLst/>
          </a:prstGeom>
          <a:noFill/>
        </p:spPr>
        <p:txBody>
          <a:bodyPr wrap="square">
            <a:spAutoFit/>
          </a:bodyPr>
          <a:lstStyle/>
          <a:p>
            <a:pPr>
              <a:defRPr sz="1100" b="1">
                <a:solidFill>
                  <a:srgbClr val="36D6C5"/>
                </a:solidFill>
              </a:defRPr>
            </a:pPr>
            <a:r>
              <a:t>CURACASCADE DETERMINISTIC MATCHING HEURISTICS</a:t>
            </a:r>
          </a:p>
          <a:p>
            <a:pPr>
              <a:spcBef>
                <a:spcPts val="600"/>
              </a:spcBef>
              <a:defRPr sz="1050" b="1">
                <a:solidFill>
                  <a:srgbClr val="55B9FF"/>
                </a:solidFill>
              </a:defRPr>
            </a:pPr>
            <a:r>
              <a:t>Rule 1: Direct Identifier Match</a:t>
            </a:r>
          </a:p>
          <a:p>
            <a:pPr>
              <a:spcBef>
                <a:spcPts val="100"/>
              </a:spcBef>
              <a:defRPr sz="950">
                <a:solidFill>
                  <a:srgbClr val="8FA0B8"/>
                </a:solidFill>
              </a:defRPr>
            </a:pPr>
            <a:r>
              <a:t>Exact join on MONDO, OMIM, or MedGen concept identifier (RULE_DIRECT_IDENTIFIER_EXACT). Highest confidence.</a:t>
            </a:r>
          </a:p>
          <a:p>
            <a:pPr>
              <a:spcBef>
                <a:spcPts val="600"/>
              </a:spcBef>
              <a:defRPr sz="1050" b="1">
                <a:solidFill>
                  <a:srgbClr val="55B9FF"/>
                </a:solidFill>
              </a:defRPr>
            </a:pPr>
            <a:r>
              <a:t>Rule 2: Canonical Synonym Crosswalk</a:t>
            </a:r>
          </a:p>
          <a:p>
            <a:pPr>
              <a:spcBef>
                <a:spcPts val="100"/>
              </a:spcBef>
              <a:defRPr sz="950">
                <a:solidFill>
                  <a:srgbClr val="8FA0B8"/>
                </a:solidFill>
              </a:defRPr>
            </a:pPr>
            <a:r>
              <a:t>Harmonization against curated alias registry with strict word boundaries, excluding loose substrings (RULE_CANONICAL_SYNONYM_MATCH).</a:t>
            </a:r>
          </a:p>
          <a:p>
            <a:pPr>
              <a:spcBef>
                <a:spcPts val="600"/>
              </a:spcBef>
              <a:defRPr sz="1050" b="1">
                <a:solidFill>
                  <a:srgbClr val="55B9FF"/>
                </a:solidFill>
              </a:defRPr>
            </a:pPr>
            <a:r>
              <a:t>Rule 3: Distinct Disorder Exclusion</a:t>
            </a:r>
          </a:p>
          <a:p>
            <a:pPr>
              <a:spcBef>
                <a:spcPts val="100"/>
              </a:spcBef>
              <a:defRPr sz="950">
                <a:solidFill>
                  <a:srgbClr val="8FA0B8"/>
                </a:solidFill>
              </a:defRPr>
            </a:pPr>
            <a:r>
              <a:t>Explicitly identifies alternative non-downgraded conditions, returning DISEASE_MISMATCH (prevents false alerts).</a:t>
            </a:r>
          </a:p>
          <a:p>
            <a:pPr>
              <a:spcBef>
                <a:spcPts val="600"/>
              </a:spcBef>
              <a:defRPr sz="1050" b="1">
                <a:solidFill>
                  <a:srgbClr val="55B9FF"/>
                </a:solidFill>
              </a:defRPr>
            </a:pPr>
            <a:r>
              <a:t>Rule 4: Missing Phenotype Handling</a:t>
            </a:r>
          </a:p>
          <a:p>
            <a:pPr>
              <a:spcBef>
                <a:spcPts val="100"/>
              </a:spcBef>
              <a:defRPr sz="950">
                <a:solidFill>
                  <a:srgbClr val="8FA0B8"/>
                </a:solidFill>
              </a:defRPr>
            </a:pPr>
            <a:r>
              <a:t>Unspecified terms ('not provided') routed to DATA_QUALITY_ISSUE rather than asserted discrepancies.</a:t>
            </a:r>
          </a:p>
        </p:txBody>
      </p:sp>
      <p:sp>
        <p:nvSpPr>
          <p:cNvPr id="9" name="Rectangle 8"/>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6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00" fill="hold"/>
                                  <p:tgtEl>
                                    <p:spTgt spid="7"/>
                                  </p:tgtEl>
                                </p:cBhvr>
                              </p:animEffect>
                            </p:childTnLst>
                          </p:cTn>
                        </p:par>
                      </p:childTnLst>
                    </p:cTn>
                  </p:par>
                </p:childTnLst>
              </p:cTn>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06 // SOFTWARE DEMONSTRATION</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Live Clinical Decision Support Portal (curacascadev2.streamlit.app)</a:t>
            </a:r>
          </a:p>
          <a:p>
            <a:pPr>
              <a:spcBef>
                <a:spcPts val="300"/>
              </a:spcBef>
              <a:defRPr sz="1200">
                <a:solidFill>
                  <a:srgbClr val="8FA0B8"/>
                </a:solidFill>
              </a:defRPr>
            </a:pPr>
            <a:r>
              <a:t>Real-time laboratory triage interface deployed on Streamlit Cloud.</a:t>
            </a:r>
          </a:p>
        </p:txBody>
      </p:sp>
      <p:pic>
        <p:nvPicPr>
          <p:cNvPr id="5" name="Picture 4" descr="cropped_s1_dashboard_hero.png"/>
          <p:cNvPicPr>
            <a:picLocks noChangeAspect="1"/>
          </p:cNvPicPr>
          <p:nvPr/>
        </p:nvPicPr>
        <p:blipFill>
          <a:blip r:embed="rId2"/>
          <a:stretch>
            <a:fillRect/>
          </a:stretch>
        </p:blipFill>
        <p:spPr>
          <a:xfrm>
            <a:off x="731520" y="1645920"/>
            <a:ext cx="5669280" cy="2386191"/>
          </a:xfrm>
          <a:prstGeom prst="rect">
            <a:avLst/>
          </a:prstGeom>
        </p:spPr>
      </p:pic>
      <p:pic>
        <p:nvPicPr>
          <p:cNvPr id="6" name="Picture 5" descr="cropped_s2_audit_table_full.png"/>
          <p:cNvPicPr>
            <a:picLocks noChangeAspect="1"/>
          </p:cNvPicPr>
          <p:nvPr/>
        </p:nvPicPr>
        <p:blipFill>
          <a:blip r:embed="rId3"/>
          <a:stretch>
            <a:fillRect/>
          </a:stretch>
        </p:blipFill>
        <p:spPr>
          <a:xfrm>
            <a:off x="731520" y="4069080"/>
            <a:ext cx="5669280" cy="2386191"/>
          </a:xfrm>
          <a:prstGeom prst="rect">
            <a:avLst/>
          </a:prstGeom>
        </p:spPr>
      </p:pic>
      <p:sp>
        <p:nvSpPr>
          <p:cNvPr id="7" name="Rectangle 6"/>
          <p:cNvSpPr/>
          <p:nvPr/>
        </p:nvSpPr>
        <p:spPr>
          <a:xfrm>
            <a:off x="6629400" y="1645920"/>
            <a:ext cx="4828032" cy="452628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783080"/>
            <a:ext cx="4480560" cy="4206240"/>
          </a:xfrm>
          <a:prstGeom prst="rect">
            <a:avLst/>
          </a:prstGeom>
          <a:noFill/>
        </p:spPr>
        <p:txBody>
          <a:bodyPr wrap="square">
            <a:spAutoFit/>
          </a:bodyPr>
          <a:lstStyle/>
          <a:p>
            <a:pPr>
              <a:defRPr sz="1100" b="1">
                <a:solidFill>
                  <a:srgbClr val="36D6C5"/>
                </a:solidFill>
              </a:defRPr>
            </a:pPr>
            <a:r>
              <a:t>VERIFIED DEPLOYED CAPABILITIES</a:t>
            </a:r>
          </a:p>
          <a:p>
            <a:pPr>
              <a:spcBef>
                <a:spcPts val="600"/>
              </a:spcBef>
              <a:defRPr sz="1050" b="1">
                <a:solidFill>
                  <a:srgbClr val="55B9FF"/>
                </a:solidFill>
              </a:defRPr>
            </a:pPr>
            <a:r>
              <a:t>1. Real-Time Warehouse HUD (Top Left)</a:t>
            </a:r>
          </a:p>
          <a:p>
            <a:pPr>
              <a:spcBef>
                <a:spcPts val="100"/>
              </a:spcBef>
              <a:defRPr sz="950">
                <a:solidFill>
                  <a:srgbClr val="8FA0B8"/>
                </a:solidFill>
              </a:defRPr>
            </a:pPr>
            <a:r>
              <a:t>Sidebar live monitor displays exact database layer metrics: 36 Curated Genes, 46 ClinVar Variants, 25 PanelApp Records, and 34 Materialized Discrepancies.</a:t>
            </a:r>
          </a:p>
          <a:p>
            <a:pPr>
              <a:spcBef>
                <a:spcPts val="600"/>
              </a:spcBef>
              <a:defRPr sz="1050" b="1">
                <a:solidFill>
                  <a:srgbClr val="55B9FF"/>
                </a:solidFill>
              </a:defRPr>
            </a:pPr>
            <a:r>
              <a:t>2. Top Clinical KPI Telemetry (Top)</a:t>
            </a:r>
          </a:p>
          <a:p>
            <a:pPr>
              <a:spcBef>
                <a:spcPts val="100"/>
              </a:spcBef>
              <a:defRPr sz="950">
                <a:solidFill>
                  <a:srgbClr val="8FA0B8"/>
                </a:solidFill>
              </a:defRPr>
            </a:pPr>
            <a:r>
              <a:t>Executive telemetry cards quantifying curated genes (36), total discrepancies (34), critical Class A findings (20), warning Class B findings (8), and 202.5 patient-years at risk.</a:t>
            </a:r>
          </a:p>
          <a:p>
            <a:pPr>
              <a:spcBef>
                <a:spcPts val="600"/>
              </a:spcBef>
              <a:defRPr sz="1050" b="1">
                <a:solidFill>
                  <a:srgbClr val="55B9FF"/>
                </a:solidFill>
              </a:defRPr>
            </a:pPr>
            <a:r>
              <a:t>3. Interactive Audit Findings Explorer (Bottom)</a:t>
            </a:r>
          </a:p>
          <a:p>
            <a:pPr>
              <a:spcBef>
                <a:spcPts val="100"/>
              </a:spcBef>
              <a:defRPr sz="950">
                <a:solidFill>
                  <a:srgbClr val="8FA0B8"/>
                </a:solidFill>
              </a:defRPr>
            </a:pPr>
            <a:r>
              <a:t>Materialized table listing unpropagated records across GJB6, MYLK2, TCAP, DFNB59, CACNA2D1, MYOZ2, ANK2, and GPD1L with explicit prescriptive remediation guidance.</a:t>
            </a:r>
          </a:p>
          <a:p>
            <a:pPr>
              <a:spcBef>
                <a:spcPts val="600"/>
              </a:spcBef>
              <a:defRPr sz="1050" b="1">
                <a:solidFill>
                  <a:srgbClr val="55B9FF"/>
                </a:solidFill>
              </a:defRPr>
            </a:pPr>
            <a:r>
              <a:t>4. Prescriptive Governance Directives</a:t>
            </a:r>
          </a:p>
          <a:p>
            <a:pPr>
              <a:spcBef>
                <a:spcPts val="100"/>
              </a:spcBef>
              <a:defRPr sz="950">
                <a:solidFill>
                  <a:srgbClr val="8FA0B8"/>
                </a:solidFill>
              </a:defRPr>
            </a:pPr>
            <a:r>
              <a:t>Translates audit findings into concrete laboratory directives (e.g. 'Apply ACMG BA1/BS1 Benign' or 'Demote Panel to Red') citing ClinGen GCEP determination reports.</a:t>
            </a:r>
          </a:p>
        </p:txBody>
      </p:sp>
      <p:sp>
        <p:nvSpPr>
          <p:cNvPr id="9" name="Rectangle 8"/>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7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00" fill="hold"/>
                                  <p:tgtEl>
                                    <p:spTgt spid="7"/>
                                  </p:tgtEl>
                                </p:cBhvr>
                              </p:animEffect>
                            </p:childTnLst>
                          </p:cTn>
                        </p:par>
                      </p:childTnLst>
                    </p:cTn>
                  </p:par>
                </p:childTnLst>
              </p:cTn>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07 // CLINICAL CASE STUDIES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Clinical Discrepancy Auditing in Cardiomyopathy &amp; Arrhythmia</a:t>
            </a:r>
          </a:p>
          <a:p>
            <a:pPr>
              <a:spcBef>
                <a:spcPts val="300"/>
              </a:spcBef>
              <a:defRPr sz="1200">
                <a:solidFill>
                  <a:srgbClr val="8FA0B8"/>
                </a:solidFill>
              </a:defRPr>
            </a:pPr>
            <a:r>
              <a:t>Deep-dive examination of unpropagated evidence downgrades in SCN1B, MYLK2, and ACTN2.</a:t>
            </a:r>
          </a:p>
        </p:txBody>
      </p:sp>
      <p:pic>
        <p:nvPicPr>
          <p:cNvPr id="5" name="Picture 4" descr="cropped_s4_gene_detail_actn2.png"/>
          <p:cNvPicPr>
            <a:picLocks noChangeAspect="1"/>
          </p:cNvPicPr>
          <p:nvPr/>
        </p:nvPicPr>
        <p:blipFill>
          <a:blip r:embed="rId2"/>
          <a:stretch>
            <a:fillRect/>
          </a:stretch>
        </p:blipFill>
        <p:spPr>
          <a:xfrm>
            <a:off x="731520" y="1691640"/>
            <a:ext cx="5486400" cy="2309217"/>
          </a:xfrm>
          <a:prstGeom prst="rect">
            <a:avLst/>
          </a:prstGeom>
        </p:spPr>
      </p:pic>
      <p:pic>
        <p:nvPicPr>
          <p:cNvPr id="6" name="Picture 5" descr="cropped_s3_custom_gene_evaluator.png"/>
          <p:cNvPicPr>
            <a:picLocks noChangeAspect="1"/>
          </p:cNvPicPr>
          <p:nvPr/>
        </p:nvPicPr>
        <p:blipFill>
          <a:blip r:embed="rId3"/>
          <a:stretch>
            <a:fillRect/>
          </a:stretch>
        </p:blipFill>
        <p:spPr>
          <a:xfrm>
            <a:off x="731520" y="3977639"/>
            <a:ext cx="5486400" cy="2309217"/>
          </a:xfrm>
          <a:prstGeom prst="rect">
            <a:avLst/>
          </a:prstGeom>
        </p:spPr>
      </p:pic>
      <p:sp>
        <p:nvSpPr>
          <p:cNvPr id="7" name="Rectangle 6"/>
          <p:cNvSpPr/>
          <p:nvPr/>
        </p:nvSpPr>
        <p:spPr>
          <a:xfrm>
            <a:off x="6446520" y="1691640"/>
            <a:ext cx="5010912" cy="448056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29400" y="1874519"/>
            <a:ext cx="4663440" cy="4114800"/>
          </a:xfrm>
          <a:prstGeom prst="rect">
            <a:avLst/>
          </a:prstGeom>
          <a:noFill/>
        </p:spPr>
        <p:txBody>
          <a:bodyPr wrap="square">
            <a:spAutoFit/>
          </a:bodyPr>
          <a:lstStyle/>
          <a:p>
            <a:pPr>
              <a:defRPr sz="1100" b="1">
                <a:solidFill>
                  <a:srgbClr val="36D6C5"/>
                </a:solidFill>
              </a:defRPr>
            </a:pPr>
            <a:r>
              <a:t>REAL-WORLD CLINICAL AUDIT FINDINGS</a:t>
            </a:r>
          </a:p>
          <a:p>
            <a:pPr>
              <a:spcBef>
                <a:spcPts val="800"/>
              </a:spcBef>
              <a:defRPr sz="1100" b="1">
                <a:solidFill>
                  <a:srgbClr val="FF5C5C"/>
                </a:solidFill>
              </a:defRPr>
            </a:pPr>
            <a:r>
              <a:t>SCN1B — Brugada Syndrome (Class A Finding)</a:t>
            </a:r>
          </a:p>
          <a:p>
            <a:pPr>
              <a:spcBef>
                <a:spcPts val="200"/>
              </a:spcBef>
              <a:defRPr sz="950">
                <a:solidFill>
                  <a:srgbClr val="F5F8FC"/>
                </a:solidFill>
              </a:defRPr>
            </a:pPr>
            <a:r>
              <a:t>• ClinGen Curation: DISPUTED in 2021 by Arrhythmia GCEP.</a:t>
            </a:r>
            <a:br/>
            <a:r>
              <a:t>• Downstream Status: 18 ClinVar Pathogenic / Likely Pathogenic assertions remain active.</a:t>
            </a:r>
            <a:br/>
            <a:r>
              <a:t>• Clinical Hazard: Risk of false-positive diagnosis and unwarranted prophylactic implantable cardioverter-defibrillator (ICD) surgeries.</a:t>
            </a:r>
          </a:p>
          <a:p>
            <a:pPr>
              <a:spcBef>
                <a:spcPts val="800"/>
              </a:spcBef>
              <a:defRPr sz="1100" b="1">
                <a:solidFill>
                  <a:srgbClr val="FF5C5C"/>
                </a:solidFill>
              </a:defRPr>
            </a:pPr>
            <a:r>
              <a:t>MYLK2 — Hypertrophic Cardiomyopathy (Class C Finding)</a:t>
            </a:r>
          </a:p>
          <a:p>
            <a:pPr>
              <a:spcBef>
                <a:spcPts val="200"/>
              </a:spcBef>
              <a:defRPr sz="950">
                <a:solidFill>
                  <a:srgbClr val="F5F8FC"/>
                </a:solidFill>
              </a:defRPr>
            </a:pPr>
            <a:r>
              <a:t>• ClinGen Curation: DISPUTED in 2024 (Kelly et al., Circulation).</a:t>
            </a:r>
            <a:br/>
            <a:r>
              <a:t>• Downstream Status: Listed as GREEN (diagnostic-grade) on PanelApp panels.</a:t>
            </a:r>
            <a:br/>
            <a:r>
              <a:t>• Clinical Hazard: Uncurated variants enter routine exome filtering pipelines in active hospital services.</a:t>
            </a:r>
          </a:p>
          <a:p>
            <a:pPr>
              <a:spcBef>
                <a:spcPts val="800"/>
              </a:spcBef>
              <a:defRPr sz="1100" b="1">
                <a:solidFill>
                  <a:srgbClr val="FFA63D"/>
                </a:solidFill>
              </a:defRPr>
            </a:pPr>
            <a:r>
              <a:t>ACTN2 — Disease-Aware Biological Specificity</a:t>
            </a:r>
          </a:p>
          <a:p>
            <a:pPr>
              <a:spcBef>
                <a:spcPts val="200"/>
              </a:spcBef>
              <a:defRPr sz="950">
                <a:solidFill>
                  <a:srgbClr val="F5F8FC"/>
                </a:solidFill>
              </a:defRPr>
            </a:pPr>
            <a:r>
              <a:t>• Demonstrated above: CuraCascade identifies ACTN2 as a Definitive benchmark for Distal Myopathy while suppressing false alerts for non-cardiac conditions.</a:t>
            </a:r>
          </a:p>
        </p:txBody>
      </p:sp>
      <p:sp>
        <p:nvSpPr>
          <p:cNvPr id="9" name="Rectangle 8"/>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8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00" fill="hold"/>
                                  <p:tgtEl>
                                    <p:spTgt spid="7"/>
                                  </p:tgtEl>
                                </p:cBhvr>
                              </p:animEffect>
                            </p:childTnLst>
                          </p:cTn>
                        </p:par>
                      </p:childTnLst>
                    </p:cTn>
                  </p:par>
                </p:childTnLst>
              </p:cTn>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08 // VALIDATION METHODOLOGY</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Empirical 100-Gene Adjudication Validation Benchmark</a:t>
            </a:r>
          </a:p>
          <a:p>
            <a:pPr>
              <a:spcBef>
                <a:spcPts val="300"/>
              </a:spcBef>
              <a:defRPr sz="1200">
                <a:solidFill>
                  <a:srgbClr val="8FA0B8"/>
                </a:solidFill>
              </a:defRPr>
            </a:pPr>
            <a:r>
              <a:t>Independent expert validation cohort evaluating classifier precision, recall, and label boundaries.</a:t>
            </a:r>
          </a:p>
        </p:txBody>
      </p:sp>
      <p:sp>
        <p:nvSpPr>
          <p:cNvPr id="5" name="Rectangle 4"/>
          <p:cNvSpPr/>
          <p:nvPr/>
        </p:nvSpPr>
        <p:spPr>
          <a:xfrm>
            <a:off x="731520"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2971800" cy="4023360"/>
          </a:xfrm>
          <a:prstGeom prst="rect">
            <a:avLst/>
          </a:prstGeom>
          <a:noFill/>
        </p:spPr>
        <p:txBody>
          <a:bodyPr wrap="square">
            <a:spAutoFit/>
          </a:bodyPr>
          <a:lstStyle/>
          <a:p>
            <a:pPr>
              <a:defRPr sz="1100" b="1">
                <a:solidFill>
                  <a:srgbClr val="36D6C5"/>
                </a:solidFill>
              </a:defRPr>
            </a:pPr>
            <a:r>
              <a:t>1. GOLD-STANDARD COMPOSITION</a:t>
            </a:r>
          </a:p>
          <a:p>
            <a:pPr>
              <a:spcBef>
                <a:spcPts val="600"/>
              </a:spcBef>
              <a:defRPr sz="1050">
                <a:solidFill>
                  <a:srgbClr val="8FA0B8"/>
                </a:solidFill>
              </a:defRPr>
            </a:pPr>
            <a:r>
              <a:t>The benchmark comprises 100 independently frozen Gene-Disease Clinical Validity Assertions (G, D):</a:t>
            </a:r>
            <a:br/>
            <a:br/>
            <a:r>
              <a:t>• 54 Published Downgraded Genes: Verified from peer-reviewed literature and ClinGen GCEPs (Cardiomyopathy, Arrhythmia, Hereditary Cancer, Neurodevelopmental).</a:t>
            </a:r>
            <a:br/>
            <a:br/>
            <a:r>
              <a:t>• 46 Definitive Clinical Controls: Unquestioned gene-disease associations (ACMG SF v3.2 / National Genomic Test Directory, e.g. BRCA1, TP53, MLH1, CFTR).</a:t>
            </a:r>
          </a:p>
        </p:txBody>
      </p:sp>
      <p:sp>
        <p:nvSpPr>
          <p:cNvPr id="7" name="Rectangle 6"/>
          <p:cNvSpPr/>
          <p:nvPr/>
        </p:nvSpPr>
        <p:spPr>
          <a:xfrm>
            <a:off x="4425696"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74519"/>
            <a:ext cx="2971800" cy="4023360"/>
          </a:xfrm>
          <a:prstGeom prst="rect">
            <a:avLst/>
          </a:prstGeom>
          <a:noFill/>
        </p:spPr>
        <p:txBody>
          <a:bodyPr wrap="square">
            <a:spAutoFit/>
          </a:bodyPr>
          <a:lstStyle/>
          <a:p>
            <a:pPr>
              <a:defRPr sz="1100" b="1">
                <a:solidFill>
                  <a:srgbClr val="55B9FF"/>
                </a:solidFill>
              </a:defRPr>
            </a:pPr>
            <a:r>
              <a:t>2. COHORT PARTITIONING</a:t>
            </a:r>
          </a:p>
          <a:p>
            <a:pPr>
              <a:spcBef>
                <a:spcPts val="600"/>
              </a:spcBef>
              <a:defRPr sz="1050">
                <a:solidFill>
                  <a:srgbClr val="8FA0B8"/>
                </a:solidFill>
              </a:defRPr>
            </a:pPr>
            <a:r>
              <a:t>To maintain statistical integrity, cases are strictly partitioned:</a:t>
            </a:r>
            <a:br/>
            <a:br/>
            <a:r>
              <a:t>• Evaluable Cohort (N = 94):</a:t>
            </a:r>
            <a:br/>
            <a:r>
              <a:t>Target genes and curation records are present in the warehouse snapshot, permitting empirical join evaluation.</a:t>
            </a:r>
            <a:br/>
            <a:br/>
            <a:r>
              <a:t>• Excluded Cases (N = 6):</a:t>
            </a:r>
            <a:br/>
            <a:r>
              <a:t>Designated as NOT_EVALUABLE due to complete absence of gene or curation records in the static snapshot (XRCC3, DFNB59, TSC1, TSC2, SMAD3, SMN1).</a:t>
            </a:r>
          </a:p>
        </p:txBody>
      </p:sp>
      <p:sp>
        <p:nvSpPr>
          <p:cNvPr id="9" name="Rectangle 8"/>
          <p:cNvSpPr/>
          <p:nvPr/>
        </p:nvSpPr>
        <p:spPr>
          <a:xfrm>
            <a:off x="8119872"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74519"/>
            <a:ext cx="2971800" cy="4023360"/>
          </a:xfrm>
          <a:prstGeom prst="rect">
            <a:avLst/>
          </a:prstGeom>
          <a:noFill/>
        </p:spPr>
        <p:txBody>
          <a:bodyPr wrap="square">
            <a:spAutoFit/>
          </a:bodyPr>
          <a:lstStyle/>
          <a:p>
            <a:pPr>
              <a:defRPr sz="1100" b="1">
                <a:solidFill>
                  <a:srgbClr val="10B981"/>
                </a:solidFill>
              </a:defRPr>
            </a:pPr>
            <a:r>
              <a:t>3. LABEL FIREWALL &amp; RIGOR</a:t>
            </a:r>
          </a:p>
          <a:p>
            <a:pPr>
              <a:spcBef>
                <a:spcPts val="600"/>
              </a:spcBef>
              <a:defRPr sz="1050">
                <a:solidFill>
                  <a:srgbClr val="8FA0B8"/>
                </a:solidFill>
              </a:defRPr>
            </a:pPr>
            <a:r>
              <a:t>Strict adherence to scientific evaluation protocols:</a:t>
            </a:r>
            <a:br/>
            <a:br/>
            <a:r>
              <a:t>• Zero Hardcoded Predictions: Overrides (KNOWN_FN, KNOWN_FP) completely removed.</a:t>
            </a:r>
            <a:br/>
            <a:br/>
            <a:r>
              <a:t>• Live Query Execution: Queries execute dynamically against SQLite.</a:t>
            </a:r>
            <a:br/>
            <a:br/>
            <a:r>
              <a:t>• Wilson Score 95% CIs: Binomial performance intervals computed analytically.</a:t>
            </a:r>
            <a:br/>
            <a:br/>
            <a:r>
              <a:t>• Classifier Concordance: Inter-rater agreement measured via Cohen's kappa.</a:t>
            </a:r>
          </a:p>
        </p:txBody>
      </p:sp>
      <p:sp>
        <p:nvSpPr>
          <p:cNvPr id="11" name="Rectangle 10"/>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9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00" fill="hold"/>
                                  <p:tgtEl>
                                    <p:spTgt spid="7"/>
                                  </p:tgtEl>
                                </p:cBhvr>
                              </p:animEffect>
                            </p:childTnLst>
                          </p:cTn>
                        </p:par>
                      </p:childTnLst>
                    </p:cTn>
                  </p:par>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400" fill="hold"/>
                                  <p:tgtEl>
                                    <p:spTgt spid="9"/>
                                  </p:tgtEl>
                                </p:cBhvr>
                              </p:animEffect>
                            </p:childTnLst>
                          </p:cTn>
                        </p:par>
                      </p:childTnLst>
                    </p:cTn>
                  </p:par>
                </p:childTnLst>
              </p:cTn>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09 // BENCHMARK RESULTS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Empirical Results: The Precision–Recall Trade-Off</a:t>
            </a:r>
          </a:p>
          <a:p>
            <a:pPr>
              <a:spcBef>
                <a:spcPts val="300"/>
              </a:spcBef>
              <a:defRPr sz="1200">
                <a:solidFill>
                  <a:srgbClr val="8FA0B8"/>
                </a:solidFill>
              </a:defRPr>
            </a:pPr>
            <a:r>
              <a:t>Conservative disease matching achieves zero false positives (100% PPV) at the cost of moderate recall.</a:t>
            </a:r>
          </a:p>
        </p:txBody>
      </p:sp>
      <p:sp>
        <p:nvSpPr>
          <p:cNvPr id="5" name="Rectangle 4"/>
          <p:cNvSpPr/>
          <p:nvPr/>
        </p:nvSpPr>
        <p:spPr>
          <a:xfrm>
            <a:off x="731520" y="1691640"/>
            <a:ext cx="521208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4754880" cy="4023360"/>
          </a:xfrm>
          <a:prstGeom prst="rect">
            <a:avLst/>
          </a:prstGeom>
          <a:noFill/>
        </p:spPr>
        <p:txBody>
          <a:bodyPr wrap="square">
            <a:spAutoFit/>
          </a:bodyPr>
          <a:lstStyle/>
          <a:p>
            <a:pPr>
              <a:defRPr sz="1100" b="1">
                <a:solidFill>
                  <a:srgbClr val="36D6C5"/>
                </a:solidFill>
              </a:defRPr>
            </a:pPr>
            <a:r>
              <a:t>EVALUABLE COHORT CONFUSION MATRIX (N = 94)</a:t>
            </a:r>
          </a:p>
        </p:txBody>
      </p:sp>
      <p:sp>
        <p:nvSpPr>
          <p:cNvPr id="7" name="Rectangle 6"/>
          <p:cNvSpPr/>
          <p:nvPr/>
        </p:nvSpPr>
        <p:spPr>
          <a:xfrm>
            <a:off x="1005840" y="2286000"/>
            <a:ext cx="2240280" cy="1325880"/>
          </a:xfrm>
          <a:prstGeom prst="rect">
            <a:avLst/>
          </a:prstGeom>
          <a:solidFill>
            <a:srgbClr val="162C4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31720"/>
            <a:ext cx="2057400" cy="1188720"/>
          </a:xfrm>
          <a:prstGeom prst="rect">
            <a:avLst/>
          </a:prstGeom>
          <a:noFill/>
        </p:spPr>
        <p:txBody>
          <a:bodyPr wrap="none">
            <a:spAutoFit/>
          </a:bodyPr>
          <a:lstStyle/>
          <a:p>
            <a:pPr>
              <a:defRPr sz="900" b="1">
                <a:solidFill>
                  <a:srgbClr val="10B981"/>
                </a:solidFill>
              </a:defRPr>
            </a:pPr>
            <a:r>
              <a:t>TRUE POSITIVES (TP)</a:t>
            </a:r>
          </a:p>
          <a:p>
            <a:pPr>
              <a:defRPr sz="2800" b="1">
                <a:solidFill>
                  <a:srgbClr val="F5F8FC"/>
                </a:solidFill>
              </a:defRPr>
            </a:pPr>
            <a:r>
              <a:t>18</a:t>
            </a:r>
          </a:p>
          <a:p>
            <a:pPr>
              <a:defRPr sz="850">
                <a:solidFill>
                  <a:srgbClr val="8FA0B8"/>
                </a:solidFill>
              </a:defRPr>
            </a:pPr>
            <a:r>
              <a:t>Correctly flagged discrepancies</a:t>
            </a:r>
          </a:p>
        </p:txBody>
      </p:sp>
      <p:sp>
        <p:nvSpPr>
          <p:cNvPr id="9" name="Rectangle 8"/>
          <p:cNvSpPr/>
          <p:nvPr/>
        </p:nvSpPr>
        <p:spPr>
          <a:xfrm>
            <a:off x="3474720" y="2286000"/>
            <a:ext cx="2240280" cy="1325880"/>
          </a:xfrm>
          <a:prstGeom prst="rect">
            <a:avLst/>
          </a:prstGeom>
          <a:solidFill>
            <a:srgbClr val="162C4C"/>
          </a:solidFill>
          <a:ln w="12700">
            <a:solidFill>
              <a:srgbClr val="36D6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331720"/>
            <a:ext cx="2057400" cy="1188720"/>
          </a:xfrm>
          <a:prstGeom prst="rect">
            <a:avLst/>
          </a:prstGeom>
          <a:noFill/>
        </p:spPr>
        <p:txBody>
          <a:bodyPr wrap="none">
            <a:spAutoFit/>
          </a:bodyPr>
          <a:lstStyle/>
          <a:p>
            <a:pPr>
              <a:defRPr sz="900" b="1">
                <a:solidFill>
                  <a:srgbClr val="36D6C5"/>
                </a:solidFill>
              </a:defRPr>
            </a:pPr>
            <a:r>
              <a:t>FALSE POSITIVES (FP)</a:t>
            </a:r>
          </a:p>
          <a:p>
            <a:pPr>
              <a:defRPr sz="2800" b="1">
                <a:solidFill>
                  <a:srgbClr val="F5F8FC"/>
                </a:solidFill>
              </a:defRPr>
            </a:pPr>
            <a:r>
              <a:t>0</a:t>
            </a:r>
          </a:p>
          <a:p>
            <a:pPr>
              <a:defRPr sz="850">
                <a:solidFill>
                  <a:srgbClr val="8FA0B8"/>
                </a:solidFill>
              </a:defRPr>
            </a:pPr>
            <a:r>
              <a:t>Zero false alarms raised</a:t>
            </a:r>
          </a:p>
        </p:txBody>
      </p:sp>
      <p:sp>
        <p:nvSpPr>
          <p:cNvPr id="11" name="Rectangle 10"/>
          <p:cNvSpPr/>
          <p:nvPr/>
        </p:nvSpPr>
        <p:spPr>
          <a:xfrm>
            <a:off x="1005840" y="3794760"/>
            <a:ext cx="2240280" cy="1325880"/>
          </a:xfrm>
          <a:prstGeom prst="rect">
            <a:avLst/>
          </a:prstGeom>
          <a:solidFill>
            <a:srgbClr val="162C4C"/>
          </a:solidFill>
          <a:ln w="12700">
            <a:solidFill>
              <a:srgbClr val="FFA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840480"/>
            <a:ext cx="2057400" cy="1188720"/>
          </a:xfrm>
          <a:prstGeom prst="rect">
            <a:avLst/>
          </a:prstGeom>
          <a:noFill/>
        </p:spPr>
        <p:txBody>
          <a:bodyPr wrap="none">
            <a:spAutoFit/>
          </a:bodyPr>
          <a:lstStyle/>
          <a:p>
            <a:pPr>
              <a:defRPr sz="900" b="1">
                <a:solidFill>
                  <a:srgbClr val="FFA63D"/>
                </a:solidFill>
              </a:defRPr>
            </a:pPr>
            <a:r>
              <a:t>FALSE NEGATIVES (FN)</a:t>
            </a:r>
          </a:p>
          <a:p>
            <a:pPr>
              <a:defRPr sz="2800" b="1">
                <a:solidFill>
                  <a:srgbClr val="F5F8FC"/>
                </a:solidFill>
              </a:defRPr>
            </a:pPr>
            <a:r>
              <a:t>34</a:t>
            </a:r>
          </a:p>
          <a:p>
            <a:pPr>
              <a:defRPr sz="850">
                <a:solidFill>
                  <a:srgbClr val="8FA0B8"/>
                </a:solidFill>
              </a:defRPr>
            </a:pPr>
            <a:r>
              <a:t>Undetected discrepancies</a:t>
            </a:r>
          </a:p>
        </p:txBody>
      </p:sp>
      <p:sp>
        <p:nvSpPr>
          <p:cNvPr id="13" name="Rectangle 12"/>
          <p:cNvSpPr/>
          <p:nvPr/>
        </p:nvSpPr>
        <p:spPr>
          <a:xfrm>
            <a:off x="3474720" y="3794760"/>
            <a:ext cx="2240280" cy="1325880"/>
          </a:xfrm>
          <a:prstGeom prst="rect">
            <a:avLst/>
          </a:prstGeom>
          <a:solidFill>
            <a:srgbClr val="162C4C"/>
          </a:solidFill>
          <a:ln w="12700">
            <a:solidFill>
              <a:srgbClr val="55B9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3840480"/>
            <a:ext cx="2057400" cy="1188720"/>
          </a:xfrm>
          <a:prstGeom prst="rect">
            <a:avLst/>
          </a:prstGeom>
          <a:noFill/>
        </p:spPr>
        <p:txBody>
          <a:bodyPr wrap="none">
            <a:spAutoFit/>
          </a:bodyPr>
          <a:lstStyle/>
          <a:p>
            <a:pPr>
              <a:defRPr sz="900" b="1">
                <a:solidFill>
                  <a:srgbClr val="55B9FF"/>
                </a:solidFill>
              </a:defRPr>
            </a:pPr>
            <a:r>
              <a:t>TRUE NEGATIVES (TN)</a:t>
            </a:r>
          </a:p>
          <a:p>
            <a:pPr>
              <a:defRPr sz="2800" b="1">
                <a:solidFill>
                  <a:srgbClr val="F5F8FC"/>
                </a:solidFill>
              </a:defRPr>
            </a:pPr>
            <a:r>
              <a:t>42</a:t>
            </a:r>
          </a:p>
          <a:p>
            <a:pPr>
              <a:defRPr sz="850">
                <a:solidFill>
                  <a:srgbClr val="8FA0B8"/>
                </a:solidFill>
              </a:defRPr>
            </a:pPr>
            <a:r>
              <a:t>Definitive controls ruled out</a:t>
            </a:r>
          </a:p>
        </p:txBody>
      </p:sp>
      <p:sp>
        <p:nvSpPr>
          <p:cNvPr id="15" name="TextBox 14"/>
          <p:cNvSpPr txBox="1"/>
          <p:nvPr/>
        </p:nvSpPr>
        <p:spPr>
          <a:xfrm>
            <a:off x="1005840" y="5303520"/>
            <a:ext cx="4663440" cy="731520"/>
          </a:xfrm>
          <a:prstGeom prst="rect">
            <a:avLst/>
          </a:prstGeom>
          <a:noFill/>
        </p:spPr>
        <p:txBody>
          <a:bodyPr wrap="square">
            <a:spAutoFit/>
          </a:bodyPr>
          <a:lstStyle/>
          <a:p>
            <a:pPr>
              <a:defRPr sz="950">
                <a:solidFill>
                  <a:srgbClr val="8FA0B8"/>
                </a:solidFill>
              </a:defRPr>
            </a:pPr>
            <a:r>
              <a:t>• Denominator: 94 Evaluable (52 Gold Downgraded + 42 Definitive Controls)</a:t>
            </a:r>
          </a:p>
          <a:p>
            <a:pPr>
              <a:defRPr sz="950">
                <a:solidFill>
                  <a:srgbClr val="8FA0B8"/>
                </a:solidFill>
              </a:defRPr>
            </a:pPr>
            <a:r>
              <a:t>• Sensitivity Analysis (All 100): Recall = 33.3%, Accuracy = 64.0%</a:t>
            </a:r>
          </a:p>
        </p:txBody>
      </p:sp>
      <p:sp>
        <p:nvSpPr>
          <p:cNvPr id="16" name="Rectangle 15"/>
          <p:cNvSpPr/>
          <p:nvPr/>
        </p:nvSpPr>
        <p:spPr>
          <a:xfrm>
            <a:off x="6172200" y="1691640"/>
            <a:ext cx="528523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874519"/>
            <a:ext cx="4846320" cy="4023360"/>
          </a:xfrm>
          <a:prstGeom prst="rect">
            <a:avLst/>
          </a:prstGeom>
          <a:noFill/>
        </p:spPr>
        <p:txBody>
          <a:bodyPr wrap="square">
            <a:spAutoFit/>
          </a:bodyPr>
          <a:lstStyle/>
          <a:p>
            <a:pPr>
              <a:defRPr sz="1100" b="1">
                <a:solidFill>
                  <a:srgbClr val="36D6C5"/>
                </a:solidFill>
              </a:defRPr>
            </a:pPr>
            <a:r>
              <a:t>STATISTICAL CLASSIFICATION METRICS</a:t>
            </a:r>
          </a:p>
          <a:p>
            <a:pPr>
              <a:spcBef>
                <a:spcPts val="500"/>
              </a:spcBef>
              <a:defRPr sz="1100" b="1">
                <a:solidFill>
                  <a:srgbClr val="10B981"/>
                </a:solidFill>
              </a:defRPr>
            </a:pPr>
            <a:r>
              <a:t>Precision (PPV): 100.0%  (95% CI: [82.4%, 100.0%])</a:t>
            </a:r>
          </a:p>
          <a:p>
            <a:pPr>
              <a:spcBef>
                <a:spcPts val="100"/>
              </a:spcBef>
              <a:defRPr sz="950">
                <a:solidFill>
                  <a:srgbClr val="8FA0B8"/>
                </a:solidFill>
              </a:defRPr>
            </a:pPr>
            <a:r>
              <a:t>Zero false alarms; every flagged finding represents a verified discrepancy.</a:t>
            </a:r>
          </a:p>
          <a:p>
            <a:pPr>
              <a:spcBef>
                <a:spcPts val="500"/>
              </a:spcBef>
              <a:defRPr sz="1100" b="1">
                <a:solidFill>
                  <a:srgbClr val="FFA63D"/>
                </a:solidFill>
              </a:defRPr>
            </a:pPr>
            <a:r>
              <a:t>Recall (Sensitivity): 34.6%  (95% CI: [23.2%, 48.2%])</a:t>
            </a:r>
          </a:p>
          <a:p>
            <a:pPr>
              <a:spcBef>
                <a:spcPts val="100"/>
              </a:spcBef>
              <a:defRPr sz="950">
                <a:solidFill>
                  <a:srgbClr val="8FA0B8"/>
                </a:solidFill>
              </a:defRPr>
            </a:pPr>
            <a:r>
              <a:t>Moderate sensitivity due to conservative disease matching and missing assertions.</a:t>
            </a:r>
          </a:p>
          <a:p>
            <a:pPr>
              <a:spcBef>
                <a:spcPts val="500"/>
              </a:spcBef>
              <a:defRPr sz="1100" b="1">
                <a:solidFill>
                  <a:srgbClr val="10B981"/>
                </a:solidFill>
              </a:defRPr>
            </a:pPr>
            <a:r>
              <a:t>Specificity (TNR): 100.0%  (95% CI: [91.6%, 100.0%])</a:t>
            </a:r>
          </a:p>
          <a:p>
            <a:pPr>
              <a:spcBef>
                <a:spcPts val="100"/>
              </a:spcBef>
              <a:defRPr sz="950">
                <a:solidFill>
                  <a:srgbClr val="8FA0B8"/>
                </a:solidFill>
              </a:defRPr>
            </a:pPr>
            <a:r>
              <a:t>Perfect rejection of definitive clinical controls (e.g. BRCA1, CFTR, TP53).</a:t>
            </a:r>
          </a:p>
          <a:p>
            <a:pPr>
              <a:spcBef>
                <a:spcPts val="500"/>
              </a:spcBef>
              <a:defRPr sz="1100" b="1">
                <a:solidFill>
                  <a:srgbClr val="55B9FF"/>
                </a:solidFill>
              </a:defRPr>
            </a:pPr>
            <a:r>
              <a:t>Overall Accuracy: 63.8%  (95% CI: [53.8%, 72.8%])</a:t>
            </a:r>
          </a:p>
          <a:p>
            <a:pPr>
              <a:spcBef>
                <a:spcPts val="100"/>
              </a:spcBef>
              <a:defRPr sz="950">
                <a:solidFill>
                  <a:srgbClr val="8FA0B8"/>
                </a:solidFill>
              </a:defRPr>
            </a:pPr>
            <a:r>
              <a:t>Concordance across all 94 evaluable gene-disease validity assertions.</a:t>
            </a:r>
          </a:p>
          <a:p>
            <a:pPr>
              <a:spcBef>
                <a:spcPts val="500"/>
              </a:spcBef>
              <a:defRPr sz="1100" b="1">
                <a:solidFill>
                  <a:srgbClr val="55B9FF"/>
                </a:solidFill>
              </a:defRPr>
            </a:pPr>
            <a:r>
              <a:t>Concordance Kappa: 0.3212  (Fair Agreement)</a:t>
            </a:r>
          </a:p>
          <a:p>
            <a:pPr>
              <a:spcBef>
                <a:spcPts val="100"/>
              </a:spcBef>
              <a:defRPr sz="950">
                <a:solidFill>
                  <a:srgbClr val="8FA0B8"/>
                </a:solidFill>
              </a:defRPr>
            </a:pPr>
            <a:r>
              <a:t>Classifier concordance kappa (N/A for single-curator gold truth).</a:t>
            </a:r>
          </a:p>
        </p:txBody>
      </p:sp>
      <p:sp>
        <p:nvSpPr>
          <p:cNvPr id="18" name="Rectangle 17"/>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10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fill="hold"/>
                                  <p:tgtEl>
                                    <p:spTgt spid="16"/>
                                  </p:tgtEl>
                                </p:cBhvr>
                              </p:animEffect>
                            </p:childTnLst>
                          </p:cTn>
                        </p:par>
                      </p:childTnLst>
                    </p:cTn>
                  </p:par>
                </p:childTn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10 // ERROR ANALYSIS &amp; LIMITATIONS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Dissecting the 34 False Negatives: Failure Mode Breakdown</a:t>
            </a:r>
          </a:p>
          <a:p>
            <a:pPr>
              <a:spcBef>
                <a:spcPts val="300"/>
              </a:spcBef>
              <a:defRPr sz="1200">
                <a:solidFill>
                  <a:srgbClr val="8FA0B8"/>
                </a:solidFill>
              </a:defRPr>
            </a:pPr>
            <a:r>
              <a:t>Transparently accounting for undetected benchmark cases across evidence availability and biological specificity.</a:t>
            </a:r>
          </a:p>
        </p:txBody>
      </p:sp>
      <p:sp>
        <p:nvSpPr>
          <p:cNvPr id="5" name="Rectangle 4"/>
          <p:cNvSpPr/>
          <p:nvPr/>
        </p:nvSpPr>
        <p:spPr>
          <a:xfrm>
            <a:off x="731520"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3337560" cy="54864"/>
          </a:xfrm>
          <a:prstGeom prst="rect">
            <a:avLst/>
          </a:prstGeom>
          <a:solidFill>
            <a:srgbClr val="FFA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874519"/>
            <a:ext cx="3008376" cy="4023360"/>
          </a:xfrm>
          <a:prstGeom prst="rect">
            <a:avLst/>
          </a:prstGeom>
          <a:noFill/>
        </p:spPr>
        <p:txBody>
          <a:bodyPr wrap="square">
            <a:spAutoFit/>
          </a:bodyPr>
          <a:lstStyle/>
          <a:p>
            <a:pPr>
              <a:defRPr sz="1000" b="1">
                <a:solidFill>
                  <a:srgbClr val="FFA63D"/>
                </a:solidFill>
              </a:defRPr>
            </a:pPr>
            <a:r>
              <a:t>CATEGORY A (44.1%)</a:t>
            </a:r>
          </a:p>
          <a:p>
            <a:pPr>
              <a:spcBef>
                <a:spcPts val="300"/>
              </a:spcBef>
              <a:defRPr sz="1400" b="1">
                <a:solidFill>
                  <a:srgbClr val="F5F8FC"/>
                </a:solidFill>
              </a:defRPr>
            </a:pPr>
            <a:r>
              <a:t>15 Cases: Absent Downstream Assertions</a:t>
            </a:r>
          </a:p>
          <a:p>
            <a:pPr>
              <a:spcBef>
                <a:spcPts val="800"/>
              </a:spcBef>
              <a:defRPr sz="1000">
                <a:solidFill>
                  <a:srgbClr val="8FA0B8"/>
                </a:solidFill>
              </a:defRPr>
            </a:pPr>
            <a:r>
              <a:t>• Root Cause: While peer-reviewed literature documents a panel downgrade, local ClinVar snapshots contained no Pathogenic/Likely Pathogenic variants, or PanelApp lacked active Green status.</a:t>
            </a:r>
            <a:br/>
            <a:r>
              <a:t>• Interpretation: Data availability constraint, not an algorithmic defect. An auditor cannot flag an assertion that does not exist in the ingested database snapshot.</a:t>
            </a:r>
            <a:br/>
            <a:r>
              <a:t>• Exemplar Genes: NEXN, KCNJ8, HCN4, KCNE3, TRPM4, RAD50, XRCC2.</a:t>
            </a:r>
          </a:p>
        </p:txBody>
      </p:sp>
      <p:sp>
        <p:nvSpPr>
          <p:cNvPr id="8" name="Rectangle 7"/>
          <p:cNvSpPr/>
          <p:nvPr/>
        </p:nvSpPr>
        <p:spPr>
          <a:xfrm>
            <a:off x="4425696"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25696" y="1691640"/>
            <a:ext cx="3337560" cy="54864"/>
          </a:xfrm>
          <a:prstGeom prst="rect">
            <a:avLst/>
          </a:prstGeom>
          <a:solidFill>
            <a:srgbClr val="FF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0288" y="1874519"/>
            <a:ext cx="3008376" cy="4023360"/>
          </a:xfrm>
          <a:prstGeom prst="rect">
            <a:avLst/>
          </a:prstGeom>
          <a:noFill/>
        </p:spPr>
        <p:txBody>
          <a:bodyPr wrap="square">
            <a:spAutoFit/>
          </a:bodyPr>
          <a:lstStyle/>
          <a:p>
            <a:pPr>
              <a:defRPr sz="1000" b="1">
                <a:solidFill>
                  <a:srgbClr val="FF5C5C"/>
                </a:solidFill>
              </a:defRPr>
            </a:pPr>
            <a:r>
              <a:t>CATEGORY B (8.8%)</a:t>
            </a:r>
          </a:p>
          <a:p>
            <a:pPr>
              <a:spcBef>
                <a:spcPts val="300"/>
              </a:spcBef>
              <a:defRPr sz="1400" b="1">
                <a:solidFill>
                  <a:srgbClr val="F5F8FC"/>
                </a:solidFill>
              </a:defRPr>
            </a:pPr>
            <a:r>
              <a:t>3 Cases: Target Curation Missing in Snapshot</a:t>
            </a:r>
          </a:p>
          <a:p>
            <a:pPr>
              <a:spcBef>
                <a:spcPts val="800"/>
              </a:spcBef>
              <a:defRPr sz="1000">
                <a:solidFill>
                  <a:srgbClr val="8FA0B8"/>
                </a:solidFill>
              </a:defRPr>
            </a:pPr>
            <a:r>
              <a:t>• Root Cause: Target ClinGen gene-disease validity curations were absent from the static warehouse snapshot at the time of ingest.</a:t>
            </a:r>
            <a:br/>
            <a:r>
              <a:t>• Interpretation: Ingestion completeness issue. Updating the ClinGen snapshot to the latest release resolves these cases immediately.</a:t>
            </a:r>
            <a:br/>
            <a:r>
              <a:t>• Exemplar Genes: CAV3, CSRP3, JPH2 (HCM reappraisals).</a:t>
            </a:r>
          </a:p>
        </p:txBody>
      </p:sp>
      <p:sp>
        <p:nvSpPr>
          <p:cNvPr id="11" name="Rectangle 10"/>
          <p:cNvSpPr/>
          <p:nvPr/>
        </p:nvSpPr>
        <p:spPr>
          <a:xfrm>
            <a:off x="8119872" y="1691640"/>
            <a:ext cx="333756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9872" y="1691640"/>
            <a:ext cx="3337560" cy="54864"/>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1874519"/>
            <a:ext cx="3008376" cy="4023360"/>
          </a:xfrm>
          <a:prstGeom prst="rect">
            <a:avLst/>
          </a:prstGeom>
          <a:noFill/>
        </p:spPr>
        <p:txBody>
          <a:bodyPr wrap="square">
            <a:spAutoFit/>
          </a:bodyPr>
          <a:lstStyle/>
          <a:p>
            <a:pPr>
              <a:defRPr sz="1000" b="1">
                <a:solidFill>
                  <a:srgbClr val="55B9FF"/>
                </a:solidFill>
              </a:defRPr>
            </a:pPr>
            <a:r>
              <a:t>CATEGORY C (47.1%)</a:t>
            </a:r>
          </a:p>
          <a:p>
            <a:pPr>
              <a:spcBef>
                <a:spcPts val="300"/>
              </a:spcBef>
              <a:defRPr sz="1400" b="1">
                <a:solidFill>
                  <a:srgbClr val="F5F8FC"/>
                </a:solidFill>
              </a:defRPr>
            </a:pPr>
            <a:r>
              <a:t>16 Cases: Cross-Disease Phenotypic Mismatches</a:t>
            </a:r>
          </a:p>
          <a:p>
            <a:pPr>
              <a:spcBef>
                <a:spcPts val="800"/>
              </a:spcBef>
              <a:defRPr sz="1000">
                <a:solidFill>
                  <a:srgbClr val="8FA0B8"/>
                </a:solidFill>
              </a:defRPr>
            </a:pPr>
            <a:r>
              <a:t>• Root Cause: Downstream ClinVar variants in these genes were asserted for distinct phenotypic conditions rather than the downgraded indication.</a:t>
            </a:r>
            <a:br/>
            <a:r>
              <a:t>• Interpretation: Protective biological conservatism. Relaxing matching rules would increase recall but introduce false positives in multi-disease genes.</a:t>
            </a:r>
            <a:br/>
            <a:r>
              <a:t>• Exemplar Genes: BARD1, BRIP1, RAD51C, FANCA, MLH1, MSH2, PMS2.</a:t>
            </a:r>
          </a:p>
        </p:txBody>
      </p:sp>
      <p:sp>
        <p:nvSpPr>
          <p:cNvPr id="14" name="Rectangle 13"/>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11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fill="hold"/>
                                  <p:tgtEl>
                                    <p:spTgt spid="8"/>
                                  </p:tgtEl>
                                </p:cBhvr>
                              </p:animEffect>
                            </p:childTnLst>
                          </p:cTn>
                        </p:par>
                      </p:childTnLst>
                    </p:cTn>
                  </p:par>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fill="hold"/>
                                  <p:tgtEl>
                                    <p:spTgt spid="11"/>
                                  </p:tgtEl>
                                </p:cBhvr>
                              </p:animEffect>
                            </p:childTnLst>
                          </p:cTn>
                        </p:par>
                      </p:childTnLst>
                    </p:cTn>
                  </p:par>
                </p:childTnLst>
              </p:cTn>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11 // EXPLORATORY ANALYTICS</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Retrospective Risk Forecasting &amp; Evidence Latency Kinetics</a:t>
            </a:r>
          </a:p>
          <a:p>
            <a:pPr>
              <a:spcBef>
                <a:spcPts val="300"/>
              </a:spcBef>
              <a:defRPr sz="1200">
                <a:solidFill>
                  <a:srgbClr val="8FA0B8"/>
                </a:solidFill>
              </a:defRPr>
            </a:pPr>
            <a:r>
              <a:t>Exploratory Random Forest triage modeling and cross-sectional empirical latency distribution.</a:t>
            </a:r>
          </a:p>
        </p:txBody>
      </p:sp>
      <p:sp>
        <p:nvSpPr>
          <p:cNvPr id="5" name="Rectangle 4"/>
          <p:cNvSpPr/>
          <p:nvPr/>
        </p:nvSpPr>
        <p:spPr>
          <a:xfrm>
            <a:off x="731520" y="1691640"/>
            <a:ext cx="5212080"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19"/>
            <a:ext cx="4754880" cy="4023360"/>
          </a:xfrm>
          <a:prstGeom prst="rect">
            <a:avLst/>
          </a:prstGeom>
          <a:noFill/>
        </p:spPr>
        <p:txBody>
          <a:bodyPr wrap="square">
            <a:spAutoFit/>
          </a:bodyPr>
          <a:lstStyle/>
          <a:p>
            <a:pPr>
              <a:defRPr sz="1100" b="1">
                <a:solidFill>
                  <a:srgbClr val="36D6C5"/>
                </a:solidFill>
              </a:defRPr>
            </a:pPr>
            <a:r>
              <a:t>1. EXPLORATORY MACHINE LEARNING FORECASTING</a:t>
            </a:r>
          </a:p>
          <a:p>
            <a:pPr>
              <a:spcBef>
                <a:spcPts val="400"/>
              </a:spcBef>
              <a:defRPr sz="1000">
                <a:solidFill>
                  <a:srgbClr val="8FA0B8"/>
                </a:solidFill>
              </a:defRPr>
            </a:pPr>
            <a:r>
              <a:t>Can we predict which currently supported genes are vulnerable to future downgrade? We trained a Balanced Random Forest across 7 engineered features (gnomAD AF popmax, low-star ratio, curation age, MCAF violation rate).</a:t>
            </a:r>
          </a:p>
          <a:p>
            <a:pPr>
              <a:spcBef>
                <a:spcPts val="400"/>
              </a:spcBef>
              <a:defRPr sz="1050" b="1">
                <a:solidFill>
                  <a:srgbClr val="55B9FF"/>
                </a:solidFill>
              </a:defRPr>
            </a:pPr>
            <a:r>
              <a:t>• Test Set AUROC: 0.857  (Random Forest vs Logistic Regression (0.824))</a:t>
            </a:r>
          </a:p>
          <a:p>
            <a:pPr>
              <a:spcBef>
                <a:spcPts val="400"/>
              </a:spcBef>
              <a:defRPr sz="1050" b="1">
                <a:solidFill>
                  <a:srgbClr val="55B9FF"/>
                </a:solidFill>
              </a:defRPr>
            </a:pPr>
            <a:r>
              <a:t>• Brier Calibration Score: 0.1508  (Evaluated on held-out test split)</a:t>
            </a:r>
          </a:p>
          <a:p>
            <a:pPr>
              <a:spcBef>
                <a:spcPts val="400"/>
              </a:spcBef>
              <a:defRPr sz="1050" b="1">
                <a:solidFill>
                  <a:srgbClr val="55B9FF"/>
                </a:solidFill>
              </a:defRPr>
            </a:pPr>
            <a:r>
              <a:t>• Precision @ Top-20%: 75.8%  (Enrichment in top quintile of predicted risk)</a:t>
            </a:r>
          </a:p>
          <a:p>
            <a:pPr>
              <a:spcBef>
                <a:spcPts val="800"/>
              </a:spcBef>
              <a:defRPr sz="950" b="1">
                <a:solidFill>
                  <a:srgbClr val="FFA63D"/>
                </a:solidFill>
              </a:defRPr>
            </a:pPr>
            <a:r>
              <a:t>CRITICAL METHODOLOGICAL CAVEATS:</a:t>
            </a:r>
          </a:p>
          <a:p>
            <a:pPr>
              <a:spcBef>
                <a:spcPts val="200"/>
              </a:spcBef>
              <a:defRPr sz="950">
                <a:solidFill>
                  <a:srgbClr val="8FA0B8"/>
                </a:solidFill>
              </a:defRPr>
            </a:pPr>
            <a:r>
              <a:t>Features were extracted from static cross-sectional snapshots rather than pre-downgrade historical archives. Demonstrates retrospective discriminatory capacity; not claimed as prospective clinical forecasting.</a:t>
            </a:r>
          </a:p>
        </p:txBody>
      </p:sp>
      <p:sp>
        <p:nvSpPr>
          <p:cNvPr id="7" name="Rectangle 6"/>
          <p:cNvSpPr/>
          <p:nvPr/>
        </p:nvSpPr>
        <p:spPr>
          <a:xfrm>
            <a:off x="6172200" y="1691640"/>
            <a:ext cx="5285232" cy="443484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74519"/>
            <a:ext cx="4846320" cy="4023360"/>
          </a:xfrm>
          <a:prstGeom prst="rect">
            <a:avLst/>
          </a:prstGeom>
          <a:noFill/>
        </p:spPr>
        <p:txBody>
          <a:bodyPr wrap="square">
            <a:spAutoFit/>
          </a:bodyPr>
          <a:lstStyle/>
          <a:p>
            <a:pPr>
              <a:defRPr sz="1100" b="1">
                <a:solidFill>
                  <a:srgbClr val="55B9FF"/>
                </a:solidFill>
              </a:defRPr>
            </a:pPr>
            <a:r>
              <a:t>2. EMPIRICAL LATENCY &amp; SUBMITTER KINETICS</a:t>
            </a:r>
          </a:p>
          <a:p>
            <a:pPr>
              <a:spcBef>
                <a:spcPts val="400"/>
              </a:spcBef>
              <a:defRPr sz="1000">
                <a:solidFill>
                  <a:srgbClr val="8FA0B8"/>
                </a:solidFill>
              </a:defRPr>
            </a:pPr>
            <a:r>
              <a:t>Cross-sectional analysis of 51,007 ClinVar assertions across 536 unique genes measuring elapsed duration from ClinGen appraisal date to snapshot date.</a:t>
            </a:r>
          </a:p>
          <a:p>
            <a:pPr>
              <a:spcBef>
                <a:spcPts val="300"/>
              </a:spcBef>
              <a:defRPr sz="1000" b="1">
                <a:solidFill>
                  <a:srgbClr val="10B981"/>
                </a:solidFill>
              </a:defRPr>
            </a:pPr>
            <a:r>
              <a:t>• Median Latency: 2.82 Years (1,030 Days)  (IQR: 1.87 to 4.85 Years (684–1,771 Days))</a:t>
            </a:r>
          </a:p>
          <a:p>
            <a:pPr>
              <a:spcBef>
                <a:spcPts val="300"/>
              </a:spcBef>
              <a:defRPr sz="1000" b="1">
                <a:solidFill>
                  <a:srgbClr val="F5F8FC"/>
                </a:solidFill>
              </a:defRPr>
            </a:pPr>
            <a:r>
              <a:t>• Commercial Testing Labs: 2.80 Years Median  (Commercial diagnostic submitters (N = 17,747))</a:t>
            </a:r>
          </a:p>
          <a:p>
            <a:pPr>
              <a:spcBef>
                <a:spcPts val="300"/>
              </a:spcBef>
              <a:defRPr sz="1000" b="1">
                <a:solidFill>
                  <a:srgbClr val="F5F8FC"/>
                </a:solidFill>
              </a:defRPr>
            </a:pPr>
            <a:r>
              <a:t>• Academic Consortia: 2.84 Years Median  (Research consortia (N = 33,260, p &lt; 0.001))</a:t>
            </a:r>
          </a:p>
          <a:p>
            <a:pPr>
              <a:spcBef>
                <a:spcPts val="300"/>
              </a:spcBef>
              <a:defRPr sz="1000" b="1">
                <a:solidFill>
                  <a:srgbClr val="F5F8FC"/>
                </a:solidFill>
              </a:defRPr>
            </a:pPr>
            <a:r>
              <a:t>• Class A Discrepancies: 2.80 Years Median  (Refuted / Disputed assertions (N = 34,800))</a:t>
            </a:r>
          </a:p>
          <a:p>
            <a:pPr>
              <a:spcBef>
                <a:spcPts val="300"/>
              </a:spcBef>
              <a:defRPr sz="1000" b="1">
                <a:solidFill>
                  <a:srgbClr val="F5F8FC"/>
                </a:solidFill>
              </a:defRPr>
            </a:pPr>
            <a:r>
              <a:t>• Class B Discrepancies: 3.77 Years Median  (Limited evidence assertions (N = 16,207))</a:t>
            </a:r>
          </a:p>
          <a:p>
            <a:pPr>
              <a:spcBef>
                <a:spcPts val="800"/>
              </a:spcBef>
              <a:defRPr sz="950">
                <a:solidFill>
                  <a:srgbClr val="8FA0B8"/>
                </a:solidFill>
              </a:defRPr>
            </a:pPr>
            <a:r>
              <a:t>Analysis represents active cross-sectional elapsed duration in a static warehouse snapshot, not longitudinal time to resolution.</a:t>
            </a:r>
          </a:p>
        </p:txBody>
      </p:sp>
      <p:sp>
        <p:nvSpPr>
          <p:cNvPr id="9" name="Rectangle 8"/>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12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00" fill="hold"/>
                                  <p:tgtEl>
                                    <p:spTgt spid="7"/>
                                  </p:tgtEl>
                                </p:cBhvr>
                              </p:animEffect>
                            </p:childTnLst>
                          </p:cTn>
                        </p:par>
                      </p:childTnLst>
                    </p:cTn>
                  </p:par>
                </p:childTnLst>
              </p:cTn>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12 // ENGINEERING RIGOR</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Software Engineering Standards, Testing &amp; Reproducibility</a:t>
            </a:r>
          </a:p>
          <a:p>
            <a:pPr>
              <a:spcBef>
                <a:spcPts val="300"/>
              </a:spcBef>
              <a:defRPr sz="1200">
                <a:solidFill>
                  <a:srgbClr val="8FA0B8"/>
                </a:solidFill>
              </a:defRPr>
            </a:pPr>
            <a:r>
              <a:t>Verification suite, CI/CD automated gates, Docker containerization, and forensic provenance.</a:t>
            </a:r>
          </a:p>
        </p:txBody>
      </p:sp>
      <p:sp>
        <p:nvSpPr>
          <p:cNvPr id="5" name="Rectangle 4"/>
          <p:cNvSpPr/>
          <p:nvPr/>
        </p:nvSpPr>
        <p:spPr>
          <a:xfrm>
            <a:off x="731520" y="169164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52120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3080"/>
            <a:ext cx="4937760" cy="1920239"/>
          </a:xfrm>
          <a:prstGeom prst="rect">
            <a:avLst/>
          </a:prstGeom>
          <a:noFill/>
        </p:spPr>
        <p:txBody>
          <a:bodyPr wrap="square">
            <a:spAutoFit/>
          </a:bodyPr>
          <a:lstStyle/>
          <a:p>
            <a:pPr>
              <a:defRPr sz="950" b="1">
                <a:solidFill>
                  <a:srgbClr val="10B981"/>
                </a:solidFill>
              </a:defRPr>
            </a:pPr>
            <a:r>
              <a:t>AUTOMATED TEST SUITE</a:t>
            </a:r>
          </a:p>
          <a:p>
            <a:pPr>
              <a:spcBef>
                <a:spcPts val="200"/>
              </a:spcBef>
              <a:defRPr sz="1300" b="1">
                <a:solidFill>
                  <a:srgbClr val="F5F8FC"/>
                </a:solidFill>
              </a:defRPr>
            </a:pPr>
            <a:r>
              <a:t>47 Passed (100% Pass Rate)</a:t>
            </a:r>
          </a:p>
          <a:p>
            <a:pPr>
              <a:spcBef>
                <a:spcPts val="400"/>
              </a:spcBef>
              <a:defRPr sz="950">
                <a:solidFill>
                  <a:srgbClr val="8FA0B8"/>
                </a:solidFill>
              </a:defRPr>
            </a:pPr>
            <a:r>
              <a:t>• Complete test suite executed via pytest in 48.9 seconds.</a:t>
            </a:r>
            <a:br/>
            <a:r>
              <a:t>• test_biological_matching.py: 21 unit tests covering pleiotropy, multi-disease genes, and ontology mappings.</a:t>
            </a:r>
            <a:br/>
            <a:r>
              <a:t>• test_database_integrity.py: 9 tests validating foreign keys, schema migrations, and uniqueness.</a:t>
            </a:r>
            <a:br/>
            <a:r>
              <a:t>• test_scientific_statistical_integrity.py: 6 tests checking Wilson score math and confusion matrices.</a:t>
            </a:r>
            <a:br/>
            <a:r>
              <a:t>• test_cli.py &amp; test_dossier.py: 11 tests verifying command-line runner and dossier generation.</a:t>
            </a:r>
          </a:p>
        </p:txBody>
      </p:sp>
      <p:sp>
        <p:nvSpPr>
          <p:cNvPr id="8" name="Rectangle 7"/>
          <p:cNvSpPr/>
          <p:nvPr/>
        </p:nvSpPr>
        <p:spPr>
          <a:xfrm>
            <a:off x="6248095" y="169164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095" y="1691640"/>
            <a:ext cx="5212080" cy="36576"/>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5255" y="1783080"/>
            <a:ext cx="4937760" cy="1920239"/>
          </a:xfrm>
          <a:prstGeom prst="rect">
            <a:avLst/>
          </a:prstGeom>
          <a:noFill/>
        </p:spPr>
        <p:txBody>
          <a:bodyPr wrap="square">
            <a:spAutoFit/>
          </a:bodyPr>
          <a:lstStyle/>
          <a:p>
            <a:pPr>
              <a:defRPr sz="950" b="1">
                <a:solidFill>
                  <a:srgbClr val="36D6C5"/>
                </a:solidFill>
              </a:defRPr>
            </a:pPr>
            <a:r>
              <a:t>CRYPTOGRAPHIC PROVENANCE</a:t>
            </a:r>
          </a:p>
          <a:p>
            <a:pPr>
              <a:spcBef>
                <a:spcPts val="200"/>
              </a:spcBef>
              <a:defRPr sz="1300" b="1">
                <a:solidFill>
                  <a:srgbClr val="F5F8FC"/>
                </a:solidFill>
              </a:defRPr>
            </a:pPr>
            <a:r>
              <a:t>Forensic Audit Logging</a:t>
            </a:r>
          </a:p>
          <a:p>
            <a:pPr>
              <a:spcBef>
                <a:spcPts val="400"/>
              </a:spcBef>
              <a:defRPr sz="950">
                <a:solidFill>
                  <a:srgbClr val="8FA0B8"/>
                </a:solidFill>
              </a:defRPr>
            </a:pPr>
            <a:r>
              <a:t>• Dedicated provenance SQLite table logging SHA-256 checksums for every ingested raw asset.</a:t>
            </a:r>
            <a:br/>
            <a:r>
              <a:t>• Records source URLs, retrieval timestamps, transformation versions, and raw row counts.</a:t>
            </a:r>
            <a:br/>
            <a:r>
              <a:t>• Ensures that any regulatory audit can trace an audit finding back to the exact byte-level snapshot.</a:t>
            </a:r>
          </a:p>
        </p:txBody>
      </p:sp>
      <p:sp>
        <p:nvSpPr>
          <p:cNvPr id="11" name="Rectangle 10"/>
          <p:cNvSpPr/>
          <p:nvPr/>
        </p:nvSpPr>
        <p:spPr>
          <a:xfrm>
            <a:off x="731520" y="402336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023360"/>
            <a:ext cx="5212080" cy="36576"/>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114800"/>
            <a:ext cx="4937760" cy="1920239"/>
          </a:xfrm>
          <a:prstGeom prst="rect">
            <a:avLst/>
          </a:prstGeom>
          <a:noFill/>
        </p:spPr>
        <p:txBody>
          <a:bodyPr wrap="square">
            <a:spAutoFit/>
          </a:bodyPr>
          <a:lstStyle/>
          <a:p>
            <a:pPr>
              <a:defRPr sz="950" b="1">
                <a:solidFill>
                  <a:srgbClr val="55B9FF"/>
                </a:solidFill>
              </a:defRPr>
            </a:pPr>
            <a:r>
              <a:t>CLINICAL COMPLIANCE DOSSIERS</a:t>
            </a:r>
          </a:p>
          <a:p>
            <a:pPr>
              <a:spcBef>
                <a:spcPts val="200"/>
              </a:spcBef>
              <a:defRPr sz="1300" b="1">
                <a:solidFill>
                  <a:srgbClr val="F5F8FC"/>
                </a:solidFill>
              </a:defRPr>
            </a:pPr>
            <a:r>
              <a:t>ISO 15189 Aligned Reporting</a:t>
            </a:r>
          </a:p>
          <a:p>
            <a:pPr>
              <a:spcBef>
                <a:spcPts val="400"/>
              </a:spcBef>
              <a:defRPr sz="950">
                <a:solidFill>
                  <a:srgbClr val="8FA0B8"/>
                </a:solidFill>
              </a:defRPr>
            </a:pPr>
            <a:r>
              <a:t>• Automated markdown compilation of Clinical Governance Dossiers and Remediation Memos.</a:t>
            </a:r>
            <a:br/>
            <a:r>
              <a:t>• Cites governing clinical standards: ClinGen GCEP determination reports, ACMG Sequence Variant Interpretation rules, and Genomics England PanelApp guidelines.</a:t>
            </a:r>
            <a:br/>
            <a:r>
              <a:t>• Ready for laboratory director sign-off.</a:t>
            </a:r>
          </a:p>
        </p:txBody>
      </p:sp>
      <p:sp>
        <p:nvSpPr>
          <p:cNvPr id="14" name="Rectangle 13"/>
          <p:cNvSpPr/>
          <p:nvPr/>
        </p:nvSpPr>
        <p:spPr>
          <a:xfrm>
            <a:off x="6248095" y="402336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095" y="4023360"/>
            <a:ext cx="5212080" cy="36576"/>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5255" y="4114800"/>
            <a:ext cx="4937760" cy="1920239"/>
          </a:xfrm>
          <a:prstGeom prst="rect">
            <a:avLst/>
          </a:prstGeom>
          <a:noFill/>
        </p:spPr>
        <p:txBody>
          <a:bodyPr wrap="square">
            <a:spAutoFit/>
          </a:bodyPr>
          <a:lstStyle/>
          <a:p>
            <a:pPr>
              <a:defRPr sz="950" b="1">
                <a:solidFill>
                  <a:srgbClr val="A855F7"/>
                </a:solidFill>
              </a:defRPr>
            </a:pPr>
            <a:r>
              <a:t>PRODUCTION PACKAGING</a:t>
            </a:r>
          </a:p>
          <a:p>
            <a:pPr>
              <a:spcBef>
                <a:spcPts val="200"/>
              </a:spcBef>
              <a:defRPr sz="1300" b="1">
                <a:solidFill>
                  <a:srgbClr val="F5F8FC"/>
                </a:solidFill>
              </a:defRPr>
            </a:pPr>
            <a:r>
              <a:t>Containerization &amp; Automation</a:t>
            </a:r>
          </a:p>
          <a:p>
            <a:pPr>
              <a:spcBef>
                <a:spcPts val="400"/>
              </a:spcBef>
              <a:defRPr sz="950">
                <a:solidFill>
                  <a:srgbClr val="8FA0B8"/>
                </a:solidFill>
              </a:defRPr>
            </a:pPr>
            <a:r>
              <a:t>• Single-command CLI execution (python run.py --mode audit --db ...).</a:t>
            </a:r>
            <a:br/>
            <a:r>
              <a:t>• Fully containerized Dockerfile for isolated deployment across hospital compute environments.</a:t>
            </a:r>
            <a:br/>
            <a:r>
              <a:t>• Streamlit Cloud CI/CD auto-deployment synchronized with GitHub main branch.</a:t>
            </a:r>
          </a:p>
        </p:txBody>
      </p:sp>
      <p:sp>
        <p:nvSpPr>
          <p:cNvPr id="17" name="Rectangle 16"/>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13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fill="hold"/>
                                  <p:tgtEl>
                                    <p:spTgt spid="8"/>
                                  </p:tgtEl>
                                </p:cBhvr>
                              </p:animEffect>
                            </p:childTnLst>
                          </p:cTn>
                        </p:par>
                      </p:childTnLst>
                    </p:cTn>
                  </p:par>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fill="hold"/>
                                  <p:tgtEl>
                                    <p:spTgt spid="11"/>
                                  </p:tgtEl>
                                </p:cBhvr>
                              </p:animEffect>
                            </p:childTnLst>
                          </p:cTn>
                        </p:par>
                      </p:childTnLst>
                    </p:cTn>
                  </p:par>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400" fill="hold"/>
                                  <p:tgtEl>
                                    <p:spTgt spid="14"/>
                                  </p:tgtEl>
                                </p:cBhvr>
                              </p:animEffect>
                            </p:childTnLst>
                          </p:cTn>
                        </p:par>
                      </p:childTnLst>
                    </p:cTn>
                  </p:par>
                </p:childTnLst>
              </p:cTn>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698480" cy="292608"/>
          </a:xfrm>
          <a:prstGeom prst="rect">
            <a:avLst/>
          </a:prstGeom>
          <a:noFill/>
        </p:spPr>
        <p:txBody>
          <a:bodyPr wrap="square" lIns="0" rIns="0" tIns="0" bIns="0">
            <a:spAutoFit/>
          </a:bodyPr>
          <a:lstStyle/>
          <a:p>
            <a:pPr>
              <a:defRPr sz="1000" b="1">
                <a:solidFill>
                  <a:srgbClr val="36D6C5"/>
                </a:solidFill>
              </a:defRPr>
            </a:pPr>
            <a:r>
              <a:t>13 // RESEARCH IMPACT</a:t>
            </a:r>
          </a:p>
        </p:txBody>
      </p:sp>
      <p:sp>
        <p:nvSpPr>
          <p:cNvPr id="4" name="TextBox 3"/>
          <p:cNvSpPr txBox="1"/>
          <p:nvPr/>
        </p:nvSpPr>
        <p:spPr>
          <a:xfrm>
            <a:off x="731520" y="658368"/>
            <a:ext cx="10698480" cy="777240"/>
          </a:xfrm>
          <a:prstGeom prst="rect">
            <a:avLst/>
          </a:prstGeom>
          <a:noFill/>
        </p:spPr>
        <p:txBody>
          <a:bodyPr wrap="square" lIns="0" rIns="0" tIns="0" bIns="0">
            <a:spAutoFit/>
          </a:bodyPr>
          <a:lstStyle/>
          <a:p>
            <a:pPr>
              <a:defRPr sz="2200" b="1">
                <a:solidFill>
                  <a:srgbClr val="F5F8FC"/>
                </a:solidFill>
              </a:defRPr>
            </a:pPr>
            <a:r>
              <a:t>Key Research Contributions &amp; Scientific Value</a:t>
            </a:r>
          </a:p>
          <a:p>
            <a:pPr>
              <a:spcBef>
                <a:spcPts val="300"/>
              </a:spcBef>
              <a:defRPr sz="1200">
                <a:solidFill>
                  <a:srgbClr val="8FA0B8"/>
                </a:solidFill>
              </a:defRPr>
            </a:pPr>
            <a:r>
              <a:t>Bridging the gene-to-variant semantic gap in modern clinical genomics informatics.</a:t>
            </a:r>
          </a:p>
        </p:txBody>
      </p:sp>
      <p:sp>
        <p:nvSpPr>
          <p:cNvPr id="5" name="Rectangle 4"/>
          <p:cNvSpPr/>
          <p:nvPr/>
        </p:nvSpPr>
        <p:spPr>
          <a:xfrm>
            <a:off x="731520" y="169164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91640"/>
            <a:ext cx="5212080" cy="36576"/>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1828799"/>
          </a:xfrm>
          <a:prstGeom prst="rect">
            <a:avLst/>
          </a:prstGeom>
          <a:noFill/>
        </p:spPr>
        <p:txBody>
          <a:bodyPr wrap="square">
            <a:spAutoFit/>
          </a:bodyPr>
          <a:lstStyle/>
          <a:p>
            <a:pPr>
              <a:defRPr sz="1300" b="1">
                <a:solidFill>
                  <a:srgbClr val="F5F8FC"/>
                </a:solidFill>
              </a:defRPr>
            </a:pPr>
            <a:r>
              <a:t>1. Multi-Ontology Evidence Synchronization</a:t>
            </a:r>
          </a:p>
          <a:p>
            <a:pPr>
              <a:spcBef>
                <a:spcPts val="600"/>
              </a:spcBef>
              <a:defRPr sz="1000">
                <a:solidFill>
                  <a:srgbClr val="8FA0B8"/>
                </a:solidFill>
              </a:defRPr>
            </a:pPr>
            <a:r>
              <a:t>Created the first automated relational framework synchronizing ClinGen GCEP gene-disease validity curations (MONDO) with NCBI ClinVar variant assertions (MedGen) and Genomics England PanelApp panels.</a:t>
            </a:r>
          </a:p>
        </p:txBody>
      </p:sp>
      <p:sp>
        <p:nvSpPr>
          <p:cNvPr id="8" name="Rectangle 7"/>
          <p:cNvSpPr/>
          <p:nvPr/>
        </p:nvSpPr>
        <p:spPr>
          <a:xfrm>
            <a:off x="6248095" y="169164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48095" y="1691640"/>
            <a:ext cx="5212080" cy="36576"/>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0975" y="1828800"/>
            <a:ext cx="4846320" cy="1828799"/>
          </a:xfrm>
          <a:prstGeom prst="rect">
            <a:avLst/>
          </a:prstGeom>
          <a:noFill/>
        </p:spPr>
        <p:txBody>
          <a:bodyPr wrap="square">
            <a:spAutoFit/>
          </a:bodyPr>
          <a:lstStyle/>
          <a:p>
            <a:pPr>
              <a:defRPr sz="1300" b="1">
                <a:solidFill>
                  <a:srgbClr val="F5F8FC"/>
                </a:solidFill>
              </a:defRPr>
            </a:pPr>
            <a:r>
              <a:t>2. Biologically Specific Concept Crosswalk</a:t>
            </a:r>
          </a:p>
          <a:p>
            <a:pPr>
              <a:spcBef>
                <a:spcPts val="600"/>
              </a:spcBef>
              <a:defRPr sz="1000">
                <a:solidFill>
                  <a:srgbClr val="8FA0B8"/>
                </a:solidFill>
              </a:defRPr>
            </a:pPr>
            <a:r>
              <a:t>Formulated a deterministic concept mapping engine that resolves multi-disease pleiotropy, successfully eliminating false positive alerts across multi-phenotype benchmark genes like ACTN2 and SCN1B.</a:t>
            </a:r>
          </a:p>
        </p:txBody>
      </p:sp>
      <p:sp>
        <p:nvSpPr>
          <p:cNvPr id="11" name="Rectangle 10"/>
          <p:cNvSpPr/>
          <p:nvPr/>
        </p:nvSpPr>
        <p:spPr>
          <a:xfrm>
            <a:off x="731520" y="402336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023360"/>
            <a:ext cx="5212080" cy="36576"/>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60520"/>
            <a:ext cx="4846320" cy="1828799"/>
          </a:xfrm>
          <a:prstGeom prst="rect">
            <a:avLst/>
          </a:prstGeom>
          <a:noFill/>
        </p:spPr>
        <p:txBody>
          <a:bodyPr wrap="square">
            <a:spAutoFit/>
          </a:bodyPr>
          <a:lstStyle/>
          <a:p>
            <a:pPr>
              <a:defRPr sz="1300" b="1">
                <a:solidFill>
                  <a:srgbClr val="F5F8FC"/>
                </a:solidFill>
              </a:defRPr>
            </a:pPr>
            <a:r>
              <a:t>3. Empirical Characterization of the Evidence Lag</a:t>
            </a:r>
          </a:p>
          <a:p>
            <a:pPr>
              <a:spcBef>
                <a:spcPts val="600"/>
              </a:spcBef>
              <a:defRPr sz="1000">
                <a:solidFill>
                  <a:srgbClr val="8FA0B8"/>
                </a:solidFill>
              </a:defRPr>
            </a:pPr>
            <a:r>
              <a:t>Quantified an empirical 2.82-year cross-sectional evidence propagation latency across 51,007 assertions, demonstrating that laboratory inertia is a measurable structural bottleneck in genomic medicine.</a:t>
            </a:r>
          </a:p>
        </p:txBody>
      </p:sp>
      <p:sp>
        <p:nvSpPr>
          <p:cNvPr id="14" name="Rectangle 13"/>
          <p:cNvSpPr/>
          <p:nvPr/>
        </p:nvSpPr>
        <p:spPr>
          <a:xfrm>
            <a:off x="6248095" y="4023360"/>
            <a:ext cx="5212080" cy="21031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095" y="4023360"/>
            <a:ext cx="5212080" cy="36576"/>
          </a:xfrm>
          <a:prstGeom prst="rect">
            <a:avLst/>
          </a:prstGeom>
          <a:solidFill>
            <a:srgbClr val="55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0975" y="4160520"/>
            <a:ext cx="4846320" cy="1828799"/>
          </a:xfrm>
          <a:prstGeom prst="rect">
            <a:avLst/>
          </a:prstGeom>
          <a:noFill/>
        </p:spPr>
        <p:txBody>
          <a:bodyPr wrap="square">
            <a:spAutoFit/>
          </a:bodyPr>
          <a:lstStyle/>
          <a:p>
            <a:pPr>
              <a:defRPr sz="1300" b="1">
                <a:solidFill>
                  <a:srgbClr val="F5F8FC"/>
                </a:solidFill>
              </a:defRPr>
            </a:pPr>
            <a:r>
              <a:t>4. Open-Source Clinical Governance Tooling</a:t>
            </a:r>
          </a:p>
          <a:p>
            <a:pPr>
              <a:spcBef>
                <a:spcPts val="600"/>
              </a:spcBef>
              <a:defRPr sz="1000">
                <a:solidFill>
                  <a:srgbClr val="8FA0B8"/>
                </a:solidFill>
              </a:defRPr>
            </a:pPr>
            <a:r>
              <a:t>Delivered an accessible, interactive decision support web application and automated dossier generator designed to accelerate quality-assurance re-curation for molecular pathology directors.</a:t>
            </a:r>
          </a:p>
        </p:txBody>
      </p:sp>
      <p:sp>
        <p:nvSpPr>
          <p:cNvPr id="17" name="Rectangle 16"/>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14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00" fill="hold"/>
                                  <p:tgtEl>
                                    <p:spTgt spid="5"/>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fill="hold"/>
                                  <p:tgtEl>
                                    <p:spTgt spid="8"/>
                                  </p:tgtEl>
                                </p:cBhvr>
                              </p:animEffect>
                            </p:childTnLst>
                          </p:cTn>
                        </p:par>
                      </p:childTnLst>
                    </p:cTn>
                  </p:par>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400" fill="hold"/>
                                  <p:tgtEl>
                                    <p:spTgt spid="11"/>
                                  </p:tgtEl>
                                </p:cBhvr>
                              </p:animEffect>
                            </p:childTnLst>
                          </p:cTn>
                        </p:par>
                      </p:childTnLst>
                    </p:cTn>
                  </p:par>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400" fill="hold"/>
                                  <p:tgtEl>
                                    <p:spTgt spid="14"/>
                                  </p:tgtEl>
                                </p:cBhvr>
                              </p:animEffect>
                            </p:childTnLst>
                          </p:cTn>
                        </p:par>
                      </p:childTnLst>
                    </p:cTn>
                  </p:par>
                </p:childTnLst>
              </p:cTn>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6D6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332720" cy="320040"/>
          </a:xfrm>
          <a:prstGeom prst="rect">
            <a:avLst/>
          </a:prstGeom>
          <a:noFill/>
        </p:spPr>
        <p:txBody>
          <a:bodyPr wrap="none">
            <a:spAutoFit/>
          </a:bodyPr>
          <a:lstStyle/>
          <a:p>
            <a:pPr>
              <a:defRPr sz="1100" b="1">
                <a:solidFill>
                  <a:srgbClr val="36D6C5"/>
                </a:solidFill>
              </a:defRPr>
            </a:pPr>
            <a:r>
              <a:t>14 // CONCLUSION &amp; VIVA DEFENSE</a:t>
            </a:r>
          </a:p>
        </p:txBody>
      </p:sp>
      <p:sp>
        <p:nvSpPr>
          <p:cNvPr id="5" name="TextBox 4"/>
          <p:cNvSpPr txBox="1"/>
          <p:nvPr/>
        </p:nvSpPr>
        <p:spPr>
          <a:xfrm>
            <a:off x="914400" y="1143000"/>
            <a:ext cx="10332720" cy="1097280"/>
          </a:xfrm>
          <a:prstGeom prst="rect">
            <a:avLst/>
          </a:prstGeom>
          <a:noFill/>
        </p:spPr>
        <p:txBody>
          <a:bodyPr wrap="square">
            <a:spAutoFit/>
          </a:bodyPr>
          <a:lstStyle/>
          <a:p>
            <a:pPr>
              <a:defRPr sz="3200" b="1">
                <a:solidFill>
                  <a:srgbClr val="F5F8FC"/>
                </a:solidFill>
              </a:defRPr>
            </a:pPr>
            <a:r>
              <a:t>Summary, Future Roadmap &amp; Open Discussion</a:t>
            </a:r>
          </a:p>
          <a:p>
            <a:pPr>
              <a:spcBef>
                <a:spcPts val="400"/>
              </a:spcBef>
              <a:defRPr sz="1400">
                <a:solidFill>
                  <a:srgbClr val="55B9FF"/>
                </a:solidFill>
              </a:defRPr>
            </a:pPr>
            <a:r>
              <a:t>Advancing translational genomics through automated evidence auditing and decision support.</a:t>
            </a:r>
          </a:p>
        </p:txBody>
      </p:sp>
      <p:sp>
        <p:nvSpPr>
          <p:cNvPr id="6" name="Rectangle 5"/>
          <p:cNvSpPr/>
          <p:nvPr/>
        </p:nvSpPr>
        <p:spPr>
          <a:xfrm>
            <a:off x="914400" y="2468880"/>
            <a:ext cx="5029200" cy="34747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651760"/>
            <a:ext cx="4572000" cy="3108960"/>
          </a:xfrm>
          <a:prstGeom prst="rect">
            <a:avLst/>
          </a:prstGeom>
          <a:noFill/>
        </p:spPr>
        <p:txBody>
          <a:bodyPr wrap="square">
            <a:spAutoFit/>
          </a:bodyPr>
          <a:lstStyle/>
          <a:p>
            <a:pPr>
              <a:defRPr sz="1100" b="1">
                <a:solidFill>
                  <a:srgbClr val="36D6C5"/>
                </a:solidFill>
              </a:defRPr>
            </a:pPr>
            <a:r>
              <a:t>FUTURE RESEARCH DIRECTIONS</a:t>
            </a:r>
          </a:p>
          <a:p>
            <a:pPr>
              <a:spcBef>
                <a:spcPts val="500"/>
              </a:spcBef>
              <a:defRPr sz="1050" b="1">
                <a:solidFill>
                  <a:srgbClr val="F5F8FC"/>
                </a:solidFill>
              </a:defRPr>
            </a:pPr>
            <a:r>
              <a:t>• Longitudinal Event Tracking:</a:t>
            </a:r>
          </a:p>
          <a:p>
            <a:pPr>
              <a:spcBef>
                <a:spcPts val="100"/>
              </a:spcBef>
              <a:defRPr sz="950">
                <a:solidFill>
                  <a:srgbClr val="8FA0B8"/>
                </a:solidFill>
              </a:defRPr>
            </a:pPr>
            <a:r>
              <a:t>  Transition from cross-sectional snapshots to prospective monthly change tracking to measure true time-to-resolution.</a:t>
            </a:r>
          </a:p>
          <a:p>
            <a:pPr>
              <a:spcBef>
                <a:spcPts val="500"/>
              </a:spcBef>
              <a:defRPr sz="1050" b="1">
                <a:solidFill>
                  <a:srgbClr val="F5F8FC"/>
                </a:solidFill>
              </a:defRPr>
            </a:pPr>
            <a:r>
              <a:t>• Expanded Concept Crosswalks:</a:t>
            </a:r>
          </a:p>
          <a:p>
            <a:pPr>
              <a:spcBef>
                <a:spcPts val="100"/>
              </a:spcBef>
              <a:defRPr sz="950">
                <a:solidFill>
                  <a:srgbClr val="8FA0B8"/>
                </a:solidFill>
              </a:defRPr>
            </a:pPr>
            <a:r>
              <a:t>  Incorporate automated LLM-assisted disease entity normalization to increase benchmark recall without compromising specificity.</a:t>
            </a:r>
          </a:p>
          <a:p>
            <a:pPr>
              <a:spcBef>
                <a:spcPts val="500"/>
              </a:spcBef>
              <a:defRPr sz="1050" b="1">
                <a:solidFill>
                  <a:srgbClr val="F5F8FC"/>
                </a:solidFill>
              </a:defRPr>
            </a:pPr>
            <a:r>
              <a:t>• Multi-Reviewer Blinded Benchmark:</a:t>
            </a:r>
          </a:p>
          <a:p>
            <a:pPr>
              <a:spcBef>
                <a:spcPts val="100"/>
              </a:spcBef>
              <a:defRPr sz="950">
                <a:solidFill>
                  <a:srgbClr val="8FA0B8"/>
                </a:solidFill>
              </a:defRPr>
            </a:pPr>
            <a:r>
              <a:t>  Expand the 100-case validation benchmark to a multi-center consortium with blinded independent adjudicators for inter-rater kappa.</a:t>
            </a:r>
          </a:p>
          <a:p>
            <a:pPr>
              <a:spcBef>
                <a:spcPts val="500"/>
              </a:spcBef>
              <a:defRPr sz="1050" b="1">
                <a:solidFill>
                  <a:srgbClr val="F5F8FC"/>
                </a:solidFill>
              </a:defRPr>
            </a:pPr>
            <a:r>
              <a:t>• EHR Integration via SMART-on-FHIR:</a:t>
            </a:r>
          </a:p>
          <a:p>
            <a:pPr>
              <a:spcBef>
                <a:spcPts val="100"/>
              </a:spcBef>
              <a:defRPr sz="950">
                <a:solidFill>
                  <a:srgbClr val="8FA0B8"/>
                </a:solidFill>
              </a:defRPr>
            </a:pPr>
            <a:r>
              <a:t>  Deliver real-time electronic health record alerts when historical patient variants are flagged for retrospective audit.</a:t>
            </a:r>
          </a:p>
        </p:txBody>
      </p:sp>
      <p:sp>
        <p:nvSpPr>
          <p:cNvPr id="8" name="Rectangle 7"/>
          <p:cNvSpPr/>
          <p:nvPr/>
        </p:nvSpPr>
        <p:spPr>
          <a:xfrm>
            <a:off x="6248095" y="2468880"/>
            <a:ext cx="5029200" cy="3474720"/>
          </a:xfrm>
          <a:prstGeom prst="rect">
            <a:avLst/>
          </a:prstGeom>
          <a:solidFill>
            <a:srgbClr val="10233D"/>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2651760"/>
            <a:ext cx="4572000" cy="3108960"/>
          </a:xfrm>
          <a:prstGeom prst="rect">
            <a:avLst/>
          </a:prstGeom>
          <a:noFill/>
        </p:spPr>
        <p:txBody>
          <a:bodyPr wrap="square">
            <a:spAutoFit/>
          </a:bodyPr>
          <a:lstStyle/>
          <a:p>
            <a:pPr>
              <a:defRPr sz="1100" b="1">
                <a:solidFill>
                  <a:srgbClr val="55B9FF"/>
                </a:solidFill>
              </a:defRPr>
            </a:pPr>
            <a:r>
              <a:t>PROJECT REPOSITORY &amp; DEMONSTRATION</a:t>
            </a:r>
          </a:p>
          <a:p>
            <a:pPr>
              <a:spcBef>
                <a:spcPts val="600"/>
              </a:spcBef>
              <a:defRPr sz="1050">
                <a:solidFill>
                  <a:srgbClr val="F5F8FC"/>
                </a:solidFill>
              </a:defRPr>
            </a:pPr>
            <a:r>
              <a:t>• Live Interactive Dashboard: curacascadev2.streamlit.app</a:t>
            </a:r>
            <a:br/>
            <a:r>
              <a:t>• GitHub Repository: github.com/uditshokeen14/curacascade</a:t>
            </a:r>
            <a:br/>
            <a:r>
              <a:t>• IEEE Conference Manuscript: docs/CuraCascade_IEEE_Report_Revised.pdf</a:t>
            </a:r>
            <a:br/>
            <a:r>
              <a:t>• Docker Container: curacascade:v2.4-production</a:t>
            </a:r>
          </a:p>
          <a:p>
            <a:pPr>
              <a:spcBef>
                <a:spcPts val="1800"/>
              </a:spcBef>
              <a:defRPr sz="2400" b="1">
                <a:solidFill>
                  <a:srgbClr val="36D6C5"/>
                </a:solidFill>
              </a:defRPr>
            </a:pPr>
            <a:r>
              <a:t>Questions &amp; Discussion</a:t>
            </a:r>
          </a:p>
          <a:p>
            <a:pPr>
              <a:spcBef>
                <a:spcPts val="400"/>
              </a:spcBef>
              <a:defRPr sz="1100">
                <a:solidFill>
                  <a:srgbClr val="8FA0B8"/>
                </a:solidFill>
              </a:defRPr>
            </a:pPr>
            <a:r>
              <a:t>I welcome questions, technical critiques, and suggestions from the committee.</a:t>
            </a:r>
          </a:p>
        </p:txBody>
      </p:sp>
      <p:sp>
        <p:nvSpPr>
          <p:cNvPr id="10" name="Rectangle 9"/>
          <p:cNvSpPr/>
          <p:nvPr/>
        </p:nvSpPr>
        <p:spPr>
          <a:xfrm>
            <a:off x="731520" y="6382512"/>
            <a:ext cx="10728655" cy="10972"/>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46520"/>
            <a:ext cx="10728655" cy="320040"/>
          </a:xfrm>
          <a:prstGeom prst="rect">
            <a:avLst/>
          </a:prstGeom>
          <a:noFill/>
        </p:spPr>
        <p:txBody>
          <a:bodyPr wrap="none" lIns="0" rIns="0" tIns="0" bIns="0">
            <a:spAutoFit/>
          </a:bodyPr>
          <a:lstStyle/>
          <a:p>
            <a:pPr>
              <a:defRPr sz="900">
                <a:solidFill>
                  <a:srgbClr val="5A6C82"/>
                </a:solidFill>
              </a:defRPr>
            </a:pPr>
            <a:r>
              <a:t>CuraCascade: Clinical Evidence Downgrade Audit Engine  •  Udit Shokeen (23BCB0001, VIT CSE)  •  Project Defense  •  Slide 15 of 15</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400" fill="hold"/>
                                  <p:tgtEl>
                                    <p:spTgt spid="6"/>
                                  </p:tgtEl>
                                </p:cBhvr>
                              </p:animEffect>
                            </p:childTnLst>
                          </p:cTn>
                        </p:par>
                      </p:childTnLst>
                    </p:cTn>
                  </p:par>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400" fill="hold"/>
                                  <p:tgtEl>
                                    <p:spTgt spid="8"/>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