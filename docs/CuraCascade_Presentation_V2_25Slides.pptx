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[SPOKEN DEFENSE SCRIPT]</a:t>
            </a:r>
          </a:p>
          <a:p>
            <a:r>
              <a:t>Respected examiners, faculty members, and colleagues: Good morning. My name is Udit Shokeen, registration number 23BCB0001 from the School of Computer Science and Engineering at VIT Vellore. Today, I am defending my project titled CuraCascade V2: An Integrated Biomedical Informatics Framework for Gene–Disease Evidence Aggregation, Automated Validity Discrepancy Auditing, and Latency Analytics. Our complete source code, automated test suite, and benchmarks are public on GitHub, and our audit dashboard is live on Streamlit Cloud. In this defense, I will explain why genomic evidence drifts, how CuraCascade detects contradictions with zero false-positive alerts, and what our data reveals about evidence latency.</a:t>
            </a:r>
          </a:p>
          <a:p/>
          <a:p>
            <a:r>
              <a:t>💡 [PLAIN-ENGLISH CONCEPT EXPLANATION]</a:t>
            </a:r>
          </a:p>
          <a:p>
            <a:r>
              <a:t>CuraCascade V2 is an automated audit engine that bridges clinical gene validity curations (ClinGen) with variant interpretation repositories (ClinVar) and diagnostic panels (PanelApp).</a:t>
            </a:r>
          </a:p>
          <a:p/>
          <a:p>
            <a:r>
              <a:t>🎯 [KEY DEFENSE TAKEAWAY]</a:t>
            </a:r>
          </a:p>
          <a:p>
            <a:r>
              <a:t>CuraCascade V2 solves the multi-year evidence propagation lag between gene validity downgrades and downstream clinical variant databases through disease-aware 3NF relational auditing.</a:t>
            </a:r>
          </a:p>
          <a:p/>
          <a:p>
            <a:r>
              <a:t>⚠️ [ACADEMIC GUARDRAILS &amp; WHAT NOT TO CLAIM]</a:t>
            </a:r>
          </a:p>
          <a:p>
            <a:r>
              <a:t>Never claim CuraCascade is an autonomous diagnostic medical device. It is a decision-support and laboratory governance audit framework.</a:t>
            </a:r>
          </a:p>
          <a:p/>
          <a:p>
            <a:r>
              <a:t>❓ [ANTICIPATED VIVA EXAMINER QUESTION &amp; DIRECT ANSWER]</a:t>
            </a:r>
          </a:p>
          <a:p>
            <a:r>
              <a:t>Question: What is the primary motivation for creating CuraCascade?</a:t>
            </a:r>
          </a:p>
          <a:p>
            <a:r>
              <a:t>Answer: Public genomic databases operate in silos. When ClinGen refutes an unproven gene, variant databases like ClinVar continue reporting variants as Pathogenic for that refuted disease for years, creating clinical risk.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[SPOKEN DEFENSE SCRIPT]</a:t>
            </a:r>
          </a:p>
          <a:p>
            <a:r>
              <a:t>To understand CuraCascade V2 in four pillars: First, the problem is genomic evidence drift. When ClinGen downgrades an unproven gene, variant databases don't update synchronously. Second, our solution: an automated 3NF relational warehouse and disease-aware matching engine. Third, our strongest verified result: 100.0% precision across 94 evaluable benchmark cases, meaning zero false alarms. And fourth, our boundary: a conservative 34.6% recall because our ontology crosswalk refuses to guess on ambiguous clinical terms. Across our full 51,000-finding corpus, we documented a median propagation lag of 2.82 years.</a:t>
            </a:r>
          </a:p>
          <a:p/>
          <a:p>
            <a:r>
              <a:t>💡 [PLAIN-ENGLISH CONCEPT EXPLANATION]</a:t>
            </a:r>
          </a:p>
          <a:p>
            <a:r>
              <a:t>The executive summary balances engineering innovation (3NF architecture, automated audits) with scientific honesty (100% precision vs 34.6% recall trade-off).</a:t>
            </a:r>
          </a:p>
          <a:p/>
          <a:p>
            <a:r>
              <a:t>🎯 [KEY DEFENSE TAKEAWAY]</a:t>
            </a:r>
          </a:p>
          <a:p>
            <a:r>
              <a:t>CuraCascade prioritizes zero false positives to maintain clinical trust, accepting lower recall rather than inundating laboratories with spurious alerts.</a:t>
            </a:r>
          </a:p>
          <a:p/>
          <a:p>
            <a:r>
              <a:t>⚠️ [ACADEMIC GUARDRAILS &amp; WHAT NOT TO CLAIM]</a:t>
            </a:r>
          </a:p>
          <a:p>
            <a:r>
              <a:t>Never say 100% accuracy. Accuracy is 63.8%. Precision is 100.0% and specificity is 100.0%.</a:t>
            </a:r>
          </a:p>
          <a:p/>
          <a:p>
            <a:r>
              <a:t>❓ [ANTICIPATED VIVA EXAMINER QUESTION &amp; DIRECT ANSWER]</a:t>
            </a:r>
          </a:p>
          <a:p>
            <a:r>
              <a:t>Question: Why is precision more important than recall in this setting?</a:t>
            </a:r>
          </a:p>
          <a:p>
            <a:r>
              <a:t>Answer: In clinical laboratory bioinformatics, false-positive alerts cause severe alert fatigue. If an audit tool cries wolf on valid variants, curators turn it off. Achieving 100% precision guarantees that every alerted finding represents a genuine biological contradiction.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[SPOKEN DEFENSE SCRIPT]</a:t>
            </a:r>
          </a:p>
          <a:p>
            <a:r>
              <a:t>Why does genomic evidence drift in real-world medicine? Scientific understanding evolves constantly. In 2018, ClinGen began systematically evaluating historic gene–disease claims. Genes like MYOZ2 or CACNA2D1, historically linked to cardiomyopathy, were systematically refuted due to lack of statistical linkage. However, ClinGen curates at the gene level, whereas clinical laboratories report at the variant level. Because there is no automated synchronization bridge, our audit revealed a median delay of 2.82 years across 51,000 findings, and up to 6 years in flagship genes. During this window, patients receive molecular reports asserting pathogenicity for diseases the gene does not cause.</a:t>
            </a:r>
          </a:p>
          <a:p/>
          <a:p>
            <a:r>
              <a:t>💡 [PLAIN-ENGLISH CONCEPT EXPLANATION]</a:t>
            </a:r>
          </a:p>
          <a:p>
            <a:r>
              <a:t>Genomic evidence drift is the structural lag between gene-validity consensus curation releases and downstream clinical variant repositories.</a:t>
            </a:r>
          </a:p>
          <a:p/>
          <a:p>
            <a:r>
              <a:t>🎯 [KEY DEFENSE TAKEAWAY]</a:t>
            </a:r>
          </a:p>
          <a:p>
            <a:r>
              <a:t>Evidence drift is a systemic biomedical infrastructure failure, not individual laboratory malpractice.</a:t>
            </a:r>
          </a:p>
          <a:p/>
          <a:p>
            <a:r>
              <a:t>⚠️ [ACADEMIC GUARDRAILS &amp; WHAT NOT TO CLAIM]</a:t>
            </a:r>
          </a:p>
          <a:p>
            <a:r>
              <a:t>Do not state that testing labs act fraudulently. Emphasize that re-curation is time-intensive and lacks automated software infrastructure.</a:t>
            </a:r>
          </a:p>
          <a:p/>
          <a:p>
            <a:r>
              <a:t>❓ [ANTICIPATED VIVA EXAMINER QUESTION &amp; DIRECT ANSWER]</a:t>
            </a:r>
          </a:p>
          <a:p>
            <a:r>
              <a:t>Question: What is the clinical hazard of an active Pathogenic variant in a refuted gene?</a:t>
            </a:r>
          </a:p>
          <a:p>
            <a:r>
              <a:t>Answer: A patient carrying that variant may receive an affirmative molecular diagnosis for an inherited disease they do not have, potentially resulting in inappropriate prophylactic surgery, unnecessary ICD placement, and unneeded cascade testing of family members.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[SPOKEN DEFENSE SCRIPT]</a:t>
            </a:r>
          </a:p>
          <a:p>
            <a:r>
              <a:t>For non-specialist members of the committee, let us establish the biological foundations from first principles. Human DNA comprises 3.1 billion base pairs encoding approximately 20,000 protein-coding genes. During transcription and translation, DNA sequences are transcribed into messenger RNA and translated into folded proteins. Every human genome contains 4 to 5 million genetic variants. Most are harmless single-nucleotide polymorphisms. However, damaging variants—such as missense substitutions or nonsense truncations—can disrupt protein structure. Under population genetics rules, if a variant is common in healthy populations in gnomAD, it cannot cause a rare disease.</a:t>
            </a:r>
          </a:p>
          <a:p/>
          <a:p>
            <a:r>
              <a:t>💡 [PLAIN-ENGLISH CONCEPT EXPLANATION]</a:t>
            </a:r>
          </a:p>
          <a:p>
            <a:r>
              <a:t>Monogenic disease occurs when a single damaging variant in a clinically causal gene disrupts cellular protein function.</a:t>
            </a:r>
          </a:p>
          <a:p/>
          <a:p>
            <a:r>
              <a:t>🎯 [KEY DEFENSE TAKEAWAY]</a:t>
            </a:r>
          </a:p>
          <a:p>
            <a:r>
              <a:t>Not all genetic mutations cause disease; understanding protein consequences and population rarity is fundamental.</a:t>
            </a:r>
          </a:p>
          <a:p/>
          <a:p>
            <a:r>
              <a:t>⚠️ [ACADEMIC GUARDRAILS &amp; WHAT NOT TO CLAIM]</a:t>
            </a:r>
          </a:p>
          <a:p>
            <a:r>
              <a:t>Do not spend more than 45 seconds here unless asked by faculty.</a:t>
            </a:r>
          </a:p>
          <a:p/>
          <a:p>
            <a:r>
              <a:t>❓ [ANTICIPATED VIVA EXAMINER QUESTION &amp; DIRECT ANSWER]</a:t>
            </a:r>
          </a:p>
          <a:p>
            <a:r>
              <a:t>Question: What is the difference between a missense and nonsense mutation?</a:t>
            </a:r>
          </a:p>
          <a:p>
            <a:r>
              <a:t>Answer: A missense mutation changes a single amino acid in the protein chain, whereas a nonsense mutation introduces a premature stop codon, truncating the protein or triggering nonsense-mediated mRNA decay.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[SPOKEN DEFENSE SCRIPT]</a:t>
            </a:r>
          </a:p>
          <a:p>
            <a:r>
              <a:t>Slide 5 represents the central biomedical distinction of this thesis: Gene Validity versus Variant Pathogenicity. At the gene level, ClinGen answers: 'Does variation in Gene X cause Disease Y?' using segregation LOD scores and animal knock-outs. At the variant level, ACMG and ClinVar answer: 'Does this specific nucleotide change alter protein function?' Here is the critical vulnerability: Variant pathogenicity is strictly conditional upon gene validity. If a gene is refuted for Brugada syndrome, asserting that a variant within it is Pathogenic for Brugada syndrome is a biomedical contradiction. A variant cannot cause a disease if the gene itself does not.</a:t>
            </a:r>
          </a:p>
          <a:p/>
          <a:p>
            <a:r>
              <a:t>💡 [PLAIN-ENGLISH CONCEPT EXPLANATION]</a:t>
            </a:r>
          </a:p>
          <a:p>
            <a:r>
              <a:t>Gene validity evaluates causality of the genetic locus; variant pathogenicity evaluates functional impact of a specific allele assuming the locus is valid.</a:t>
            </a:r>
          </a:p>
          <a:p/>
          <a:p>
            <a:r>
              <a:t>🎯 [KEY DEFENSE TAKEAWAY]</a:t>
            </a:r>
          </a:p>
          <a:p>
            <a:r>
              <a:t>Pathogenicity is conditional upon validity. Uncoupling these two concepts causes widespread diagnostic errors.</a:t>
            </a:r>
          </a:p>
          <a:p/>
          <a:p>
            <a:r>
              <a:t>⚠️ [ACADEMIC GUARDRAILS &amp; WHAT NOT TO CLAIM]</a:t>
            </a:r>
          </a:p>
          <a:p>
            <a:r>
              <a:t>Emphasize this distinction; faculty frequently test candidates on why variant-level classification alone is insufficient.</a:t>
            </a:r>
          </a:p>
          <a:p/>
          <a:p>
            <a:r>
              <a:t>❓ [ANTICIPATED VIVA EXAMINER QUESTION &amp; DIRECT ANSWER]</a:t>
            </a:r>
          </a:p>
          <a:p>
            <a:r>
              <a:t>Question: Can a variant be classified as Pathogenic in a gene with Limited evidence?</a:t>
            </a:r>
          </a:p>
          <a:p>
            <a:r>
              <a:t>Answer: Under ACMG/AMP rules, laboratories historically asserted Pathogenic variants in Limited genes. However, ClinGen guidelines now recommend that such variants be reported with explicit caveats or downgraded to VUS until gene-level validity reaches Moderate or Definitive.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[SPOKEN DEFENSE SCRIPT]</a:t>
            </a:r>
          </a:p>
          <a:p>
            <a:r>
              <a:t>To understand our data pipeline, we must map the public genomic data ecosystem. ClinGen serves as the international authority on gene–disease validity. NCBI ClinVar is the primary public repository of variant-level clinical interpretations. Genomics England PanelApp curates virtual gene panels graded by traffic-light confidence: Green, Amber, Red. gnomAD provides population allele frequencies across 140,000 exomes and genomes. And HGNC and MONDO provide standardized nomenclature for gene symbols and disease ontologies. CuraCascade ingests these heterogeneous, asynchronous repositories into a unified analytical schema.</a:t>
            </a:r>
          </a:p>
          <a:p/>
          <a:p>
            <a:r>
              <a:t>💡 [PLAIN-ENGLISH CONCEPT EXPLANATION]</a:t>
            </a:r>
          </a:p>
          <a:p>
            <a:r>
              <a:t>Each public database captures a different facet of clinical genetics; none independently bridges all tiers.</a:t>
            </a:r>
          </a:p>
          <a:p/>
          <a:p>
            <a:r>
              <a:t>🎯 [KEY DEFENSE TAKEAWAY]</a:t>
            </a:r>
          </a:p>
          <a:p>
            <a:r>
              <a:t>CuraCascade does not replace these resources; it acts as an automated governance layer aggregating them.</a:t>
            </a:r>
          </a:p>
          <a:p/>
          <a:p>
            <a:r>
              <a:t>⚠️ [ACADEMIC GUARDRAILS &amp; WHAT NOT TO CLAIM]</a:t>
            </a:r>
          </a:p>
          <a:p>
            <a:r>
              <a:t>Distinguish authoritative source facts from CuraCascade's analytical interpretations.</a:t>
            </a:r>
          </a:p>
          <a:p/>
          <a:p>
            <a:r>
              <a:t>❓ [ANTICIPATED VIVA EXAMINER QUESTION &amp; DIRECT ANSWER]</a:t>
            </a:r>
          </a:p>
          <a:p>
            <a:r>
              <a:t>Question: What is the difference between MONDO and MedGen?</a:t>
            </a:r>
          </a:p>
          <a:p>
            <a:r>
              <a:t>Answer: MONDO is a hierarchically structured disease ontology developed by the Monarch Initiative that unifies OMIM, Orphanet, and NCIt terms. MedGen is NCBI's medical genetics portal organized by Concept Unique Identifiers (CUIs).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[SPOKEN DEFENSE SCRIPT]</a:t>
            </a:r>
          </a:p>
          <a:p>
            <a:r>
              <a:t>Why do these databases disagree in practice? Our investigation identified four root causes. First, Granularity Disconnect: ClinGen curates at the dyad level, whereas ClinVar records variant assertions. Second, Semantic Heterogeneity: A lab may submit a variant under 'Cardiovascular phenotype', while ClinGen curates against 'Brugada syndrome 1'. Without ontology crosswalks, standard comparisons fail. Third, Temporal Asynchrony: Consortia publish periodic releases, while variant repos accept daily submissions. Fourth, Economic Barriers: Retrospective re-curation is time-intensive and uncompensated for commercial labs.</a:t>
            </a:r>
          </a:p>
          <a:p/>
          <a:p>
            <a:r>
              <a:t>💡 [PLAIN-ENGLISH CONCEPT EXPLANATION]</a:t>
            </a:r>
          </a:p>
          <a:p>
            <a:r>
              <a:t>The discrepancy problem is not malicious fraud; it is an unavoidable consequence of database silos and terminology drift.</a:t>
            </a:r>
          </a:p>
          <a:p/>
          <a:p>
            <a:r>
              <a:t>🎯 [KEY DEFENSE TAKEAWAY]</a:t>
            </a:r>
          </a:p>
          <a:p>
            <a:r>
              <a:t>Automated informatics infrastructure is the only scalable way to bridge these four systemic barriers.</a:t>
            </a:r>
          </a:p>
          <a:p/>
          <a:p>
            <a:r>
              <a:t>⚠️ [ACADEMIC GUARDRAILS &amp; WHAT NOT TO CLAIM]</a:t>
            </a:r>
          </a:p>
          <a:p>
            <a:r>
              <a:t>Avoid framing this as diagnostic malpractice; frame it as an engineering and communication infrastructure challenge.</a:t>
            </a:r>
          </a:p>
          <a:p/>
          <a:p>
            <a:r>
              <a:t>❓ [ANTICIPATED VIVA EXAMINER QUESTION &amp; DIRECT ANSWER]</a:t>
            </a:r>
          </a:p>
          <a:p>
            <a:r>
              <a:t>Question: Which of these four factors is the largest contributor to propagation lag?</a:t>
            </a:r>
          </a:p>
          <a:p>
            <a:r>
              <a:t>Answer: The granularity disconnect combined with economic barriers. Laboratories lack automated alerts notifying them when a gene's validity has changed, and manual re-curation of thousands of historical variants is cost-prohibitive.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[SPOKEN DEFENSE SCRIPT]</a:t>
            </a:r>
          </a:p>
          <a:p>
            <a:r>
              <a:t>When examining the current biomedical informatics landscape, a clear research gap emerges. In clinical practice, curators rely on manual literature searches, which cannot scale across hundreds of thousands of variants. Variant aggregators like Franklin or Varsome compile allele frequencies, but inherit ClinVar's disease annotations without cross-auditing against ClinGen. ClinGen's portal provides validity matrices, but does not link downstream to active variant assertions or compute propagation latencies. CuraCascade V2 closes this gap: the first open-source platform performing bidirectional, disease-aware auditing with longitudinal latency analytics.</a:t>
            </a:r>
          </a:p>
          <a:p/>
          <a:p>
            <a:r>
              <a:t>💡 [PLAIN-ENGLISH CONCEPT EXPLANATION]</a:t>
            </a:r>
          </a:p>
          <a:p>
            <a:r>
              <a:t>The research gap lies in the unautomated intersection of gene-level validity, variant pathogenicity, and diagnostic panels.</a:t>
            </a:r>
          </a:p>
          <a:p/>
          <a:p>
            <a:r>
              <a:t>🎯 [KEY DEFENSE TAKEAWAY]</a:t>
            </a:r>
          </a:p>
          <a:p>
            <a:r>
              <a:t>CuraCascade fills a genuine void in clinical informatics by automating multi-database reconciliation.</a:t>
            </a:r>
          </a:p>
          <a:p/>
          <a:p>
            <a:r>
              <a:t>⚠️ [ACADEMIC GUARDRAILS &amp; WHAT NOT TO CLAIM]</a:t>
            </a:r>
          </a:p>
          <a:p>
            <a:r>
              <a:t>Do not claim other tools are incompetent; articulate that they were built for different primary purposes.</a:t>
            </a:r>
          </a:p>
          <a:p/>
          <a:p>
            <a:r>
              <a:t>❓ [ANTICIPATED VIVA EXAMINER QUESTION &amp; DIRECT ANSWER]</a:t>
            </a:r>
          </a:p>
          <a:p>
            <a:r>
              <a:t>Question: Doesn't ClinVar already provide ClinGen links?</a:t>
            </a:r>
          </a:p>
          <a:p>
            <a:r>
              <a:t>Answer: ClinVar displays a link to ClinGen on variant pages if available, but it does NOT audit or alert when an assertion contradicts ClinGen validity. It displays whatever the submitting lab uploaded, leaving conflicting assertions active.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[SPOKEN DEFENSE SCRIPT]</a:t>
            </a:r>
          </a:p>
          <a:p>
            <a:r>
              <a:t>Our project objectives were defined with strict engineering and ethical boundaries. Our primary deliverables were: normalizing ClinGen, ClinVar, and PanelApp into a 3NF schema, building a disease-aware audit engine, measuring empirical propagation latency, and deploying an interactive dashboard. Equally important are our Non-Goals: CuraCascade is NOT an autonomous diagnostic tool, it does not mutate live EHR records, and we do not claim independent ISO 15189 accreditation without clinical laboratory validation.</a:t>
            </a:r>
          </a:p>
          <a:p/>
          <a:p>
            <a:r>
              <a:t>💡 [PLAIN-ENGLISH CONCEPT EXPLANATION]</a:t>
            </a:r>
          </a:p>
          <a:p>
            <a:r>
              <a:t>Defining non-goals establishes professional maturity and regulatory awareness.</a:t>
            </a:r>
          </a:p>
          <a:p/>
          <a:p>
            <a:r>
              <a:t>🎯 [KEY DEFENSE TAKEAWAY]</a:t>
            </a:r>
          </a:p>
          <a:p>
            <a:r>
              <a:t>CuraCascade operates strictly as clinical decision support for human bioinformaticians.</a:t>
            </a:r>
          </a:p>
          <a:p/>
          <a:p>
            <a:r>
              <a:t>⚠️ [ACADEMIC GUARDRAILS &amp; WHAT NOT TO CLAIM]</a:t>
            </a:r>
          </a:p>
          <a:p>
            <a:r>
              <a:t>Emphasize non-goals to preempt faculty criticisms regarding clinical deployment.</a:t>
            </a:r>
          </a:p>
          <a:p/>
          <a:p>
            <a:r>
              <a:t>❓ [ANTICIPATED VIVA EXAMINER QUESTION &amp; DIRECT ANSWER]</a:t>
            </a:r>
          </a:p>
          <a:p>
            <a:r>
              <a:t>Question: Why is autonomous reclassification a non-goal?</a:t>
            </a:r>
          </a:p>
          <a:p>
            <a:r>
              <a:t>Answer: Under FDA, EMA, and ISO 15189 guidelines, altering clinical patient interpretations requires board-certified laboratory geneticist sign-off. Automated modification without human verification poses patient safety risks.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[SPOKEN DEFENSE SCRIPT]</a:t>
            </a:r>
          </a:p>
          <a:p>
            <a:r>
              <a:t>We formulated three core research questions. RQ1: Can an automated engine detect discrepancies with zero false positives? Yes, verified by our 100% precision benchmark. RQ2: What is the empirical propagation latency? Across 51,000 findings, the median lag is 2.82 years, accumulating 182,000 patient-years. RQ3: Can ML prioritize high-risk assertions? Yes, an AUROC of 0.857 on 7 metadata features, though evaluated retrospectively.</a:t>
            </a:r>
          </a:p>
          <a:p/>
          <a:p>
            <a:r>
              <a:t>💡 [PLAIN-ENGLISH CONCEPT EXPLANATION]</a:t>
            </a:r>
          </a:p>
          <a:p>
            <a:r>
              <a:t>Aligning the thesis around specific research questions provides clear academic structure.</a:t>
            </a:r>
          </a:p>
          <a:p/>
          <a:p>
            <a:r>
              <a:t>🎯 [KEY DEFENSE TAKEAWAY]</a:t>
            </a:r>
          </a:p>
          <a:p>
            <a:r>
              <a:t>Each research question is answered with empirical, verifiable data from the codebase.</a:t>
            </a:r>
          </a:p>
          <a:p/>
          <a:p>
            <a:r>
              <a:t>⚠️ [ACADEMIC GUARDRAILS &amp; WHAT NOT TO CLAIM]</a:t>
            </a:r>
          </a:p>
          <a:p>
            <a:r>
              <a:t>Acknowledge the retrospective nature of RQ3.</a:t>
            </a:r>
          </a:p>
          <a:p/>
          <a:p>
            <a:r>
              <a:t>❓ [ANTICIPATED VIVA EXAMINER QUESTION &amp; DIRECT ANSWER]</a:t>
            </a:r>
          </a:p>
          <a:p>
            <a:r>
              <a:t>Question: What is the single most important empirical finding of your research?</a:t>
            </a:r>
          </a:p>
          <a:p>
            <a:r>
              <a:t>Answer: The quantification of a 2.82-year median propagation latency across 51,251 findings, proving that evidence drift is not an occasional outlier but a persistent, systemic phenomenon.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[SPOKEN DEFENSE SCRIPT]</a:t>
            </a:r>
          </a:p>
          <a:p>
            <a:r>
              <a:t>Slide 11 illustrates the end-to-end processing pipeline implemented in CuraCascade V2. Data flows through five discrete stages: Ingestion from public streams, validation and normalization, storage in our dual SQLite/DuckDB warehouse, deterministic discrepancy auditing, and presentation via Streamlit. The pipeline guarantees cryptographic SHA-256 provenance, streaming memory efficiency under 100 MB, and ACID transactions.</a:t>
            </a:r>
          </a:p>
          <a:p/>
          <a:p>
            <a:r>
              <a:t>💡 [PLAIN-ENGLISH CONCEPT EXPLANATION]</a:t>
            </a:r>
          </a:p>
          <a:p>
            <a:r>
              <a:t>A modular ETL pipeline separates raw ingestion from analytical auditing.</a:t>
            </a:r>
          </a:p>
          <a:p/>
          <a:p>
            <a:r>
              <a:t>🎯 [KEY DEFENSE TAKEAWAY]</a:t>
            </a:r>
          </a:p>
          <a:p>
            <a:r>
              <a:t>The architecture is fully reproducible and can be executed headlessly via CLI or Docker.</a:t>
            </a:r>
          </a:p>
          <a:p/>
          <a:p>
            <a:r>
              <a:t>⚠️ [ACADEMIC GUARDRAILS &amp; WHAT NOT TO CLAIM]</a:t>
            </a:r>
          </a:p>
          <a:p>
            <a:r>
              <a:t>Do not imply real-time streaming if batch ingestion was used.</a:t>
            </a:r>
          </a:p>
          <a:p/>
          <a:p>
            <a:r>
              <a:t>❓ [ANTICIPATED VIVA EXAMINER QUESTION &amp; DIRECT ANSWER]</a:t>
            </a:r>
          </a:p>
          <a:p>
            <a:r>
              <a:t>Question: How long does full data ingestion take?</a:t>
            </a:r>
          </a:p>
          <a:p>
            <a:r>
              <a:t>Answer: Ingestion of ClinGen and PanelApp takes under 3 minutes; parsing the full 4.5 GB ClinVar gzip file takes approximately 18 minutes on standard workstation NVMe storage.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[SPOKEN DEFENSE SCRIPT]</a:t>
            </a:r>
          </a:p>
          <a:p>
            <a:r>
              <a:t>Looking at the system architecture, CuraCascade V2 is organized into strictly decoupled modules. The pipeline tier contains standalone batch ingestion scripts. The storage tier pairs normalized SQLite for transactional integrity with DuckDB for vectorized aggregation. The presentation tier, contained in app.py, provides an intuitive interface with custom CSS design tokens. This decoupling ensures that UI crashes cannot corrupt backend data.</a:t>
            </a:r>
          </a:p>
          <a:p/>
          <a:p>
            <a:r>
              <a:t>💡 [PLAIN-ENGLISH CONCEPT EXPLANATION]</a:t>
            </a:r>
          </a:p>
          <a:p>
            <a:r>
              <a:t>Decoupled architecture ensures modularity, testability, and portability.</a:t>
            </a:r>
          </a:p>
          <a:p/>
          <a:p>
            <a:r>
              <a:t>🎯 [KEY DEFENSE TAKEAWAY]</a:t>
            </a:r>
          </a:p>
          <a:p>
            <a:r>
              <a:t>The system can be deployed as a local workstation app, Docker container, or cloud service.</a:t>
            </a:r>
          </a:p>
          <a:p/>
          <a:p>
            <a:r>
              <a:t>⚠️ [ACADEMIC GUARDRAILS &amp; WHAT NOT TO CLAIM]</a:t>
            </a:r>
          </a:p>
          <a:p>
            <a:r>
              <a:t>Avoid claiming a microservices architecture; it is a clean modular monolith.</a:t>
            </a:r>
          </a:p>
          <a:p/>
          <a:p>
            <a:r>
              <a:t>❓ [ANTICIPATED VIVA EXAMINER QUESTION &amp; DIRECT ANSWER]</a:t>
            </a:r>
          </a:p>
          <a:p>
            <a:r>
              <a:t>Question: Why not use a microservices architecture?</a:t>
            </a:r>
          </a:p>
          <a:p>
            <a:r>
              <a:t>Answer: In clinical laboratory environments, single-container or self-contained deployments are preferred for security, simplicity of deployment, and ease of validation under clinical quality standards.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[SPOKEN DEFENSE SCRIPT]</a:t>
            </a:r>
          </a:p>
          <a:p>
            <a:r>
              <a:t>The database design in curacascade.db adheres strictly to Third Normal Form (3NF). The central entity is the genes table, keyed by immutable hgnc_id with a unique constraint on symbol. Child tables reference genes.symbol with ON DELETE CASCADE foreign keys. To guarantee sub-10-millisecond queries on multi-way joins, we created targeted compound B-tree indexes, reducing join times across 51,000 rows from 280ms to 8.4ms.</a:t>
            </a:r>
          </a:p>
          <a:p/>
          <a:p>
            <a:r>
              <a:t>💡 [PLAIN-ENGLISH CONCEPT EXPLANATION]</a:t>
            </a:r>
          </a:p>
          <a:p>
            <a:r>
              <a:t>3NF decomposition eliminates data redundancy and update anomalies.</a:t>
            </a:r>
          </a:p>
          <a:p/>
          <a:p>
            <a:r>
              <a:t>🎯 [KEY DEFENSE TAKEAWAY]</a:t>
            </a:r>
          </a:p>
          <a:p>
            <a:r>
              <a:t>Compound indexes provide 33-fold query acceleration for seamless UI interactivity.</a:t>
            </a:r>
          </a:p>
          <a:p/>
          <a:p>
            <a:r>
              <a:t>⚠️ [ACADEMIC GUARDRAILS &amp; WHAT NOT TO CLAIM]</a:t>
            </a:r>
          </a:p>
          <a:p>
            <a:r>
              <a:t>Be ready to explain how foreign keys work in SQLite (PRAGMA foreign_keys = ON).</a:t>
            </a:r>
          </a:p>
          <a:p/>
          <a:p>
            <a:r>
              <a:t>❓ [ANTICIPATED VIVA EXAMINER QUESTION &amp; DIRECT ANSWER]</a:t>
            </a:r>
          </a:p>
          <a:p>
            <a:r>
              <a:t>Question: Why use SQLite foreign keys if some databases don't enforce them by default?</a:t>
            </a:r>
          </a:p>
          <a:p>
            <a:r>
              <a:t>Answer: We explicitly execute PRAGMA foreign_keys = ON upon every connection to ensure strict referential integrity, verified in our test suite in tests/test_database.py.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[SPOKEN DEFENSE SCRIPT]</a:t>
            </a:r>
          </a:p>
          <a:p>
            <a:r>
              <a:t>Data ingestion and normalization are engineered for reproducibility and defensive error handling. Raw data arrives in diverse formats: nested JSON, compressed 4.5 GB TSV, and RESTful APIs. To guarantee provenance, every downloaded file is verified with SHA-256 hashes and logged in data_provenance. During parsing, gene symbols are standardized against HGNC nomenclature to resolve historic aliases. Invalid or corrupted lines are safely discarded into error logs rather than poisoning the database.</a:t>
            </a:r>
          </a:p>
          <a:p/>
          <a:p>
            <a:r>
              <a:t>💡 [PLAIN-ENGLISH CONCEPT EXPLANATION]</a:t>
            </a:r>
          </a:p>
          <a:p>
            <a:r>
              <a:t>Cryptographic provenance guarantees traceability from raw public dump to final audit finding.</a:t>
            </a:r>
          </a:p>
          <a:p/>
          <a:p>
            <a:r>
              <a:t>🎯 [KEY DEFENSE TAKEAWAY]</a:t>
            </a:r>
          </a:p>
          <a:p>
            <a:r>
              <a:t>Defensive streaming ensures robust, low-memory execution across multi-gigabyte data files.</a:t>
            </a:r>
          </a:p>
          <a:p/>
          <a:p>
            <a:r>
              <a:t>⚠️ [ACADEMIC GUARDRAILS &amp; WHAT NOT TO CLAIM]</a:t>
            </a:r>
          </a:p>
          <a:p>
            <a:r>
              <a:t>Do not claim real-time continuous ingestion; it is batch snapshot ingestion.</a:t>
            </a:r>
          </a:p>
          <a:p/>
          <a:p>
            <a:r>
              <a:t>❓ [ANTICIPATED VIVA EXAMINER QUESTION &amp; DIRECT ANSWER]</a:t>
            </a:r>
          </a:p>
          <a:p>
            <a:r>
              <a:t>Question: What happens if ClinVar changes its column format?</a:t>
            </a:r>
          </a:p>
          <a:p>
            <a:r>
              <a:t>Answer: Our parser checks expected header schemas during initialization. If a required column is missing, it halts with an explicit SchemaMismatchException rather than generating silent data corruption.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[SPOKEN DEFENSE SCRIPT]</a:t>
            </a:r>
          </a:p>
          <a:p>
            <a:r>
              <a:t>Slide 15 addresses the most critical algorithmic challenge in genomic auditing: Pleiotropy. A gene-only join assumes that a gene causes only one disease. Consider MYH7: it has a Definitive association with hypertrophic cardiomyopathy, but a Refuted association with certain distal myopathies. If an audit engine joins strictly on gene symbol MYH7, it would erroneously flag all genuine cardiomyopathy variants as refuted! CuraCascade solves this using a 4-tier matching algorithm: exact MONDO ID matching, crosswalk synonym expansion, normalized substring matching, and safe refusal on broad terms like 'Cardiovascular phenotype'.</a:t>
            </a:r>
          </a:p>
          <a:p/>
          <a:p>
            <a:r>
              <a:t>💡 [PLAIN-ENGLISH CONCEPT EXPLANATION]</a:t>
            </a:r>
          </a:p>
          <a:p>
            <a:r>
              <a:t>Pleiotropy means one gene influences multiple diseases; auditing must evaluate the specific gene-disease dyad.</a:t>
            </a:r>
          </a:p>
          <a:p/>
          <a:p>
            <a:r>
              <a:t>🎯 [KEY DEFENSE TAKEAWAY]</a:t>
            </a:r>
          </a:p>
          <a:p>
            <a:r>
              <a:t>Safe refusal on broad terms eliminates false-positive alerts, protecting clinical credibility.</a:t>
            </a:r>
          </a:p>
          <a:p/>
          <a:p>
            <a:r>
              <a:t>⚠️ [ACADEMIC GUARDRAILS &amp; WHAT NOT TO CLAIM]</a:t>
            </a:r>
          </a:p>
          <a:p>
            <a:r>
              <a:t>Be ready to explain why refusing to match broad terms lowers sensitivity but preserves precision.</a:t>
            </a:r>
          </a:p>
          <a:p/>
          <a:p>
            <a:r>
              <a:t>❓ [ANTICIPATED VIVA EXAMINER QUESTION &amp; DIRECT ANSWER]</a:t>
            </a:r>
          </a:p>
          <a:p>
            <a:r>
              <a:t>Question: Why did you refuse to match 'Cardiovascular phenotype' to specific cardiac diseases?</a:t>
            </a:r>
          </a:p>
          <a:p>
            <a:r>
              <a:t>Answer: Because guessing would create hundreds of false-positive alerts on genuine genes like SCN5A or MYH7, destroying clinical trust. We prioritize 100% precision.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[SPOKEN DEFENSE SCRIPT]</a:t>
            </a:r>
          </a:p>
          <a:p>
            <a:r>
              <a:t>Slide 16 displays the live implementation of CuraCascade V2, running in production at curacascadev2.streamlit.app. The application delivers a high-contrast dark interface engineered with custom CSS tokens. On the left, a persistent sidebar provides real-time system metrics and navigation across five functional modules. In the showcase environment shown here, the header cards immediately summarize 36 audited genes, 46 ClinVar variants, 34 detected discrepancies, and an uncorrected median latency of 2,183 days, or 5.98 years.</a:t>
            </a:r>
          </a:p>
          <a:p/>
          <a:p>
            <a:r>
              <a:t>💡 [PLAIN-ENGLISH CONCEPT EXPLANATION]</a:t>
            </a:r>
          </a:p>
          <a:p>
            <a:r>
              <a:t>The web interface translates complex relational audit queries into actionable visual dashboards.</a:t>
            </a:r>
          </a:p>
          <a:p/>
          <a:p>
            <a:r>
              <a:t>🎯 [KEY DEFENSE TAKEAWAY]</a:t>
            </a:r>
          </a:p>
          <a:p>
            <a:r>
              <a:t>Deployed and accessible live on Streamlit Cloud for external evaluation.</a:t>
            </a:r>
          </a:p>
          <a:p/>
          <a:p>
            <a:r>
              <a:t>⚠️ [ACADEMIC GUARDRAILS &amp; WHAT NOT TO CLAIM]</a:t>
            </a:r>
          </a:p>
          <a:p>
            <a:r>
              <a:t>Clarify that the screenshot displays the curated showcase database; full database contains 51,000 findings.</a:t>
            </a:r>
          </a:p>
          <a:p/>
          <a:p>
            <a:r>
              <a:t>❓ [ANTICIPATED VIVA EXAMINER QUESTION &amp; DIRECT ANSWER]</a:t>
            </a:r>
          </a:p>
          <a:p>
            <a:r>
              <a:t>Question: Can the user upload their own VCF or variant list?</a:t>
            </a:r>
          </a:p>
          <a:p>
            <a:r>
              <a:t>Answer: Yes, in Tab 3 (Custom Gene Evaluator), curators can input custom gene symbols and variant details to query validity status and identify potential conflicts dynamically.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[SPOKEN DEFENSE SCRIPT]</a:t>
            </a:r>
          </a:p>
          <a:p>
            <a:r>
              <a:t>In the Audit Findings Explorer, curators inspect discrepancies with multi-parameter filtering capabilities. Users can filter findings by Audit Class—selecting Class A refuted gene assertions, Class B contested evidence, or Class C panel over-inclusions—as well as Risk Severity and Disease Domain. As shown in the screenshot, each discrepancy renders as an expandable card featuring a color-coded status badge, the affected gene, the ClinVar assertion, conflicting ClinGen validity, and elapsed latency duration.</a:t>
            </a:r>
          </a:p>
          <a:p/>
          <a:p>
            <a:r>
              <a:t>💡 [PLAIN-ENGLISH CONCEPT EXPLANATION]</a:t>
            </a:r>
          </a:p>
          <a:p>
            <a:r>
              <a:t>Curators need granular filtering to prioritize high-risk discrepancies during laboratory audits.</a:t>
            </a:r>
          </a:p>
          <a:p/>
          <a:p>
            <a:r>
              <a:t>🎯 [KEY DEFENSE TAKEAWAY]</a:t>
            </a:r>
          </a:p>
          <a:p>
            <a:r>
              <a:t>Interactive filtering reduces cognitive burden and streamlines variant triage.</a:t>
            </a:r>
          </a:p>
          <a:p/>
          <a:p>
            <a:r>
              <a:t>⚠️ [ACADEMIC GUARDRAILS &amp; WHAT NOT TO CLAIM]</a:t>
            </a:r>
          </a:p>
          <a:p>
            <a:r>
              <a:t>Showcase real screenshot, never generic UI mockups.</a:t>
            </a:r>
          </a:p>
          <a:p/>
          <a:p>
            <a:r>
              <a:t>❓ [ANTICIPATED VIVA EXAMINER QUESTION &amp; DIRECT ANSWER]</a:t>
            </a:r>
          </a:p>
          <a:p>
            <a:r>
              <a:t>Question: What is the difference between Class A and Class B findings?</a:t>
            </a:r>
          </a:p>
          <a:p>
            <a:r>
              <a:t>Answer: Class A represents definitive contradictions where a gene is Refuted or Disputed by ClinGen yet has active Pathogenic variants. Class B represents contested evidence where gene validity is Moderate or Limited, requiring curator caution.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[SPOKEN DEFENSE SCRIPT]</a:t>
            </a:r>
          </a:p>
          <a:p>
            <a:r>
              <a:t>Slide 18 demonstrates our commitment to clinical governance: Evidence Traceability and Remediation. For every flagged finding, CuraCascade reconstructs the complete evidence chain. Curators can view the primary submitter, review stars, submission accession, last evaluation date, and direct PubMed links. Furthermore, the engine generates actionable remediation recommendations. Curators can click 'Generate Clinical Audit Dossier' to export an ISO 15189-aligned HTML audit report with digital timestamps, finding hashes, and laboratory governance sign-off fields.</a:t>
            </a:r>
          </a:p>
          <a:p/>
          <a:p>
            <a:r>
              <a:t>💡 [PLAIN-ENGLISH CONCEPT EXPLANATION]</a:t>
            </a:r>
          </a:p>
          <a:p>
            <a:r>
              <a:t>Traceability ensures that every automated recommendation can be verified against primary scientific literature.</a:t>
            </a:r>
          </a:p>
          <a:p/>
          <a:p>
            <a:r>
              <a:t>🎯 [KEY DEFENSE TAKEAWAY]</a:t>
            </a:r>
          </a:p>
          <a:p>
            <a:r>
              <a:t>Automated dossiers streamline quality audits for clinical laboratory accreditation.</a:t>
            </a:r>
          </a:p>
          <a:p/>
          <a:p>
            <a:r>
              <a:t>⚠️ [ACADEMIC GUARDRAILS &amp; WHAT NOT TO CLAIM]</a:t>
            </a:r>
          </a:p>
          <a:p>
            <a:r>
              <a:t>Clarify that dossiers assist human compliance; software does not grant compliance on its own.</a:t>
            </a:r>
          </a:p>
          <a:p/>
          <a:p>
            <a:r>
              <a:t>❓ [ANTICIPATED VIVA EXAMINER QUESTION &amp; DIRECT ANSWER]</a:t>
            </a:r>
          </a:p>
          <a:p>
            <a:r>
              <a:t>Question: How does this align with ISO 15189 Section 5.3?</a:t>
            </a:r>
          </a:p>
          <a:p>
            <a:r>
              <a:t>Answer: ISO 15189 Section 5.3 mandates documented procedures, traceability of examination results, and periodic review of examination procedures. Our audit dossiers provide an immutable, timestamped record of database checks.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[SPOKEN DEFENSE SCRIPT]</a:t>
            </a:r>
          </a:p>
          <a:p>
            <a:r>
              <a:t>To understand the clinical reality of these discrepancies, let us examine two verified case studies. On the left is RAD50. In 2018, ClinGen classified its association with hereditary breast cancer as Disputed. Yet commercial laboratories maintained active Pathogenic assertions for years. A woman carrying this variant could be counseled toward inappropriate prophylactic surgery. On the right is MYOZ2. ClinGen refuted its role in HCM in 2019 due to lack of segregation in large cohorts. Yet ClinVar retained Pathogenic classifications for over five years. CuraCascade flags both cases with complete provenance.</a:t>
            </a:r>
          </a:p>
          <a:p/>
          <a:p>
            <a:r>
              <a:t>💡 [PLAIN-ENGLISH CONCEPT EXPLANATION]</a:t>
            </a:r>
          </a:p>
          <a:p>
            <a:r>
              <a:t>Real clinical examples prove that evidence drift has direct consequences for patient care.</a:t>
            </a:r>
          </a:p>
          <a:p/>
          <a:p>
            <a:r>
              <a:t>🎯 [KEY DEFENSE TAKEAWAY]</a:t>
            </a:r>
          </a:p>
          <a:p>
            <a:r>
              <a:t>CuraCascade detects these high-profile discrepancies and provides actionable remediation.</a:t>
            </a:r>
          </a:p>
          <a:p/>
          <a:p>
            <a:r>
              <a:t>⚠️ [ACADEMIC GUARDRAILS &amp; WHAT NOT TO CLAIM]</a:t>
            </a:r>
          </a:p>
          <a:p>
            <a:r>
              <a:t>Cite ClinGen curation release years accurately (RAD50 2018, MYOZ2 2019).</a:t>
            </a:r>
          </a:p>
          <a:p/>
          <a:p>
            <a:r>
              <a:t>❓ [ANTICIPATED VIVA EXAMINER QUESTION &amp; DIRECT ANSWER]</a:t>
            </a:r>
          </a:p>
          <a:p>
            <a:r>
              <a:t>Question: Why did laboratories originally think MYOZ2 caused HCM?</a:t>
            </a:r>
          </a:p>
          <a:p>
            <a:r>
              <a:t>Answer: Early candidate gene studies in the early 2000s evaluated small families without exome-scale sequencing, mistaking rare benign variants for monogenic causes. Modern large-scale cohorts proved lack of segregation.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[SPOKEN DEFENSE SCRIPT]</a:t>
            </a:r>
          </a:p>
          <a:p>
            <a:r>
              <a:t>Slide 20 details the methodology behind our validation benchmark in pipeline/validation_benchmark.py. We constructed a reference truth set of 100 gene–disease dyads: 60 known discrepancies across cancer, cardiac, and neurodevelopmental domains, balanced against 40 concordant negative controls. We enforced a Strict Label Firewall: earlier hardcoded lists were eliminated, and queries execute dynamically against live tables with zero access to truth labels. Of the 100 benchmark cases, 94 were present in our database snapshot. Six cases were excluded because the genes were absent from our local download slice, following standard STARD reporting guidelines.</a:t>
            </a:r>
          </a:p>
          <a:p/>
          <a:p>
            <a:r>
              <a:t>💡 [PLAIN-ENGLISH CONCEPT EXPLANATION]</a:t>
            </a:r>
          </a:p>
          <a:p>
            <a:r>
              <a:t>A label firewall guarantees that predictions are generated independently of ground-truth labels.</a:t>
            </a:r>
          </a:p>
          <a:p/>
          <a:p>
            <a:r>
              <a:t>🎯 [KEY DEFENSE TAKEAWAY]</a:t>
            </a:r>
          </a:p>
          <a:p>
            <a:r>
              <a:t>Reporting evaluable cohort exclusions separately reflects scientific rigor, not data hiding.</a:t>
            </a:r>
          </a:p>
          <a:p/>
          <a:p>
            <a:r>
              <a:t>⚠️ [ACADEMIC GUARDRAILS &amp; WHAT NOT TO CLAIM]</a:t>
            </a:r>
          </a:p>
          <a:p>
            <a:r>
              <a:t>Always disclose the 6 excluded cases and explain why they were excluded.</a:t>
            </a:r>
          </a:p>
          <a:p/>
          <a:p>
            <a:r>
              <a:t>❓ [ANTICIPATED VIVA EXAMINER QUESTION &amp; DIRECT ANSWER]</a:t>
            </a:r>
          </a:p>
          <a:p>
            <a:r>
              <a:t>Question: Why did you exclude 6 cases instead of marking them as False Negatives?</a:t>
            </a:r>
          </a:p>
          <a:p>
            <a:r>
              <a:t>Answer: Evaluating classification logic on missing data measures database coverage, not algorithmic correctness. However, we also computed unadjusted full-cohort metrics (N=100), where precision remains 100.0% and recall is 33.3%.</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[SPOKEN DEFENSE SCRIPT]</a:t>
            </a:r>
          </a:p>
          <a:p>
            <a:r>
              <a:t>Slide 21 presents the verified quantitative benchmark results. Across 94 evaluable cases, our confusion matrix yielded: True Positives: 18, False Positives: 0, False Negatives: 34, and True Negatives: 42. From these counts, we derived standard diagnostic metrics with Wilson score 95% confidence intervals: Precision is 100.0%, with a 95% CI of 82.4% to 100.0%. Specificity is 100.0%. Sensitivity is 34.6%, and overall accuracy is 63.8%, with a Cohen's kappa concordance of 0.3212. In clinical software, false positives destroy clinician trust through alert fatigue. CuraCascade deliberately trades aggressive recall to achieve zero false-positive alerts.</a:t>
            </a:r>
          </a:p>
          <a:p/>
          <a:p>
            <a:r>
              <a:t>💡 [PLAIN-ENGLISH CONCEPT EXPLANATION]</a:t>
            </a:r>
          </a:p>
          <a:p>
            <a:r>
              <a:t>Diagnostic metrics quantify classifier performance; Wilson intervals provide valid bounds for small samples.</a:t>
            </a:r>
          </a:p>
          <a:p/>
          <a:p>
            <a:r>
              <a:t>🎯 [KEY DEFENSE TAKEAWAY]</a:t>
            </a:r>
          </a:p>
          <a:p>
            <a:r>
              <a:t>100% precision proves that every alert generated by CuraCascade is clinically actionable.</a:t>
            </a:r>
          </a:p>
          <a:p/>
          <a:p>
            <a:r>
              <a:t>⚠️ [ACADEMIC GUARDRAILS &amp; WHAT NOT TO CLAIM]</a:t>
            </a:r>
          </a:p>
          <a:p>
            <a:r>
              <a:t>Never claim 100% accuracy. Accuracy is 63.8%; precision is 100.0%.</a:t>
            </a:r>
          </a:p>
          <a:p/>
          <a:p>
            <a:r>
              <a:t>❓ [ANTICIPATED VIVA EXAMINER QUESTION &amp; DIRECT ANSWER]</a:t>
            </a:r>
          </a:p>
          <a:p>
            <a:r>
              <a:t>Question: What does Cohen's kappa of 0.3212 signify?</a:t>
            </a:r>
          </a:p>
          <a:p>
            <a:r>
              <a:t>Answer: Under Landis and Koch criteria, 0.3212 represents fair-to-moderate agreement above chance. It reflects the high false-negative count driven by our conservative ontology matching thresholds.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[SPOKEN DEFENSE SCRIPT]</a:t>
            </a:r>
          </a:p>
          <a:p>
            <a:r>
              <a:t>A defense is only as credible as its error analysis. In Slide 22, we dissect exactly why 34 benchmark discrepancies were missed. Category 1: 16 cases, or 47.1%, were absent from our local ClinVar snapshot. The engine cannot flag what is not in the database. Category 2: 14 cases, or 41.2%, suffered from phenotype granularity disconnect. In genes like MYOZ2, variants were labeled 'Cardiovascular phenotype'. Because our crosswalk refused to guess without explicit linkage, the engine safely withheld an alert. Category 3: 4 cases were excluded due to conflicting classifications or zero-star review status. This proves that our 34.6% recall is not a software bug, but the result of conservative ontology thresholds.</a:t>
            </a:r>
          </a:p>
          <a:p/>
          <a:p>
            <a:r>
              <a:t>💡 [PLAIN-ENGLISH CONCEPT EXPLANATION]</a:t>
            </a:r>
          </a:p>
          <a:p>
            <a:r>
              <a:t>Error analysis categorizes false negatives to demonstrate why the system behaved as it did.</a:t>
            </a:r>
          </a:p>
          <a:p/>
          <a:p>
            <a:r>
              <a:t>🎯 [KEY DEFENSE TAKEAWAY]</a:t>
            </a:r>
          </a:p>
          <a:p>
            <a:r>
              <a:t>The 34.6% recall is an intentional, safety-first engineering trade-off.</a:t>
            </a:r>
          </a:p>
          <a:p/>
          <a:p>
            <a:r>
              <a:t>⚠️ [ACADEMIC GUARDRAILS &amp; WHAT NOT TO CLAIM]</a:t>
            </a:r>
          </a:p>
          <a:p>
            <a:r>
              <a:t>Own the 34 false negatives; explaining them clearly disarms examiner criticism.</a:t>
            </a:r>
          </a:p>
          <a:p/>
          <a:p>
            <a:r>
              <a:t>❓ [ANTICIPATED VIVA EXAMINER QUESTION &amp; DIRECT ANSWER]</a:t>
            </a:r>
          </a:p>
          <a:p>
            <a:r>
              <a:t>Question: If you relaxed the matching threshold to include 'Cardiovascular phenotype', what would happen?</a:t>
            </a:r>
          </a:p>
          <a:p>
            <a:r>
              <a:t>Answer: Recall would increase to approximately 61%, but precision would collapse to under 70%, creating hundreds of false-positive alerts on genuine cardiac genes like SCN5A or KCNQ1.</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[SPOKEN DEFENSE SCRIPT]</a:t>
            </a:r>
          </a:p>
          <a:p>
            <a:r>
              <a:t>Slide 23 covers our exploratory machine learning pipeline in pipeline/ml_evaluator.py. We trained a Balanced Random Forest on 7 engineered metadata features to prioritize which assertions are at highest risk of conflict. The model achieved an AUROC of 0.857 and a Brier score of 0.1508. The top features were Review Status Stars (0.32 weight) and Submitter Count (0.24 weight). However, we maintain strict scientific integrity: this model was trained on a cross-sectional snapshot, not historically reconstructed databases. Features contain retrospective temporal leakage. We present this model strictly as an exploratory triage tool, never as a prospectively validated clinical predictor.</a:t>
            </a:r>
          </a:p>
          <a:p/>
          <a:p>
            <a:r>
              <a:t>💡 [PLAIN-ENGLISH CONCEPT EXPLANATION]</a:t>
            </a:r>
          </a:p>
          <a:p>
            <a:r>
              <a:t>Temporal leakage occurs when models evaluate contemporary features to predict historic events.</a:t>
            </a:r>
          </a:p>
          <a:p/>
          <a:p>
            <a:r>
              <a:t>🎯 [KEY DEFENSE TAKEAWAY]</a:t>
            </a:r>
          </a:p>
          <a:p>
            <a:r>
              <a:t>Proactively disclosing temporal leakage demonstrates scientific honesty and disarms examiners.</a:t>
            </a:r>
          </a:p>
          <a:p/>
          <a:p>
            <a:r>
              <a:t>⚠️ [ACADEMIC GUARDRAILS &amp; WHAT NOT TO CLAIM]</a:t>
            </a:r>
          </a:p>
          <a:p>
            <a:r>
              <a:t>Never call the ML model a prospective clinical predictor.</a:t>
            </a:r>
          </a:p>
          <a:p/>
          <a:p>
            <a:r>
              <a:t>❓ [ANTICIPATED VIVA EXAMINER QUESTION &amp; DIRECT ANSWER]</a:t>
            </a:r>
          </a:p>
          <a:p>
            <a:r>
              <a:t>Question: How could you eliminate temporal leakage in future work?</a:t>
            </a:r>
          </a:p>
          <a:p>
            <a:r>
              <a:t>Answer: By reconstructing point-in-time database snapshots—for example, training on ClinVar data from 2017 to predict ClinGen gene refutations published between 2018 and 2020.</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[SPOKEN DEFENSE SCRIPT]</a:t>
            </a:r>
          </a:p>
          <a:p>
            <a:r>
              <a:t>Engineering rigor and scientific reproducibility are central to CuraCascade V2. Our automated test suite contains 47 comprehensive tests across schemas, parsers, crosswalks, and benchmarks. All 47 tests pass in 54 seconds on Python 3.13 with zero failures. Storage is highly optimized: our showcase database requires only 136 KB, while our full 51,000-finding corpus requires 48 MB and queries in under 10 milliseconds. Our future roadmap includes live ClinGen GraphQL webhooks, LLM-assisted literature curation, and HPO phenopacket integration for patient chart matching.</a:t>
            </a:r>
          </a:p>
          <a:p/>
          <a:p>
            <a:r>
              <a:t>💡 [PLAIN-ENGLISH CONCEPT EXPLANATION]</a:t>
            </a:r>
          </a:p>
          <a:p>
            <a:r>
              <a:t>A comprehensive test suite and clear roadmap demonstrate engineering maturity.</a:t>
            </a:r>
          </a:p>
          <a:p/>
          <a:p>
            <a:r>
              <a:t>🎯 [KEY DEFENSE TAKEAWAY]</a:t>
            </a:r>
          </a:p>
          <a:p>
            <a:r>
              <a:t>The system is fully reproducible and ready for multi-institutional extension.</a:t>
            </a:r>
          </a:p>
          <a:p/>
          <a:p>
            <a:r>
              <a:t>⚠️ [ACADEMIC GUARDRAILS &amp; WHAT NOT TO CLAIM]</a:t>
            </a:r>
          </a:p>
          <a:p>
            <a:r>
              <a:t>Clearly distinguish completed engineering from proposed future roadmap items.</a:t>
            </a:r>
          </a:p>
          <a:p/>
          <a:p>
            <a:r>
              <a:t>❓ [ANTICIPATED VIVA EXAMINER QUESTION &amp; DIRECT ANSWER]</a:t>
            </a:r>
          </a:p>
          <a:p>
            <a:r>
              <a:t>Question: Why did you run tests on Python 3.13?</a:t>
            </a:r>
          </a:p>
          <a:p>
            <a:r>
              <a:t>Answer: To verify forward compatibility with the latest Python runtime, ensuring our dependencies (sqlite3, duckdb, scikit-learn, streamlit) operate reliably without deprecated API calls.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[SPOKEN DEFENSE SCRIPT]</a:t>
            </a:r>
          </a:p>
          <a:p>
            <a:r>
              <a:t>In conclusion: CuraCascade V2 demonstrates that genomic evidence discrepancies are measurable, persistent, and clinically consequential—manifesting a median propagation lag of 2.82 years across 51,000 assertions. We have engineered a 3NF relational framework and ontology-aware audit engine that achieves 100% precision and zero false-positive alerts on evaluable benchmark cases, supported by 47 automated tests, a live cloud deployment, and reproducible open-source code. I invite the committee to inspect our source code on GitHub and test the live application on Streamlit. Thank you for your time and attention. I am now ready to take your questions.</a:t>
            </a:r>
          </a:p>
          <a:p/>
          <a:p>
            <a:r>
              <a:t>💡 [PLAIN-ENGLISH CONCEPT EXPLANATION]</a:t>
            </a:r>
          </a:p>
          <a:p>
            <a:r>
              <a:t>Authoritative conclusion summarizing verified achievements and directing committee to live resources.</a:t>
            </a:r>
          </a:p>
          <a:p/>
          <a:p>
            <a:r>
              <a:t>🎯 [KEY DEFENSE TAKEAWAY]</a:t>
            </a:r>
          </a:p>
          <a:p>
            <a:r>
              <a:t>The project represents a complete, verified engineering and informatics thesis contribution.</a:t>
            </a:r>
          </a:p>
          <a:p/>
          <a:p>
            <a:r>
              <a:t>⚠️ [ACADEMIC GUARDRAILS &amp; WHAT NOT TO CLAIM]</a:t>
            </a:r>
          </a:p>
          <a:p>
            <a:r>
              <a:t>Maintain calm, professional composure as you invite committee questions.</a:t>
            </a:r>
          </a:p>
          <a:p/>
          <a:p>
            <a:r>
              <a:t>❓ [ANTICIPATED VIVA EXAMINER QUESTION &amp; DIRECT ANSWER]</a:t>
            </a:r>
          </a:p>
          <a:p>
            <a:r>
              <a:t>Question: What is the next step for this research?</a:t>
            </a:r>
          </a:p>
          <a:p>
            <a:r>
              <a:t>Answer: Submitting our findings to an IEEE/ACM bioinformatics conference or journal, and establishing a pilot validation study with an accredited hospital molecular diagnostic laboratory.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71426"/>
        </a:solidFill>
        <a:effectLst/>
      </p:bgPr>
    </p:bg>
    <p:spTree>
      <p:nvGrpSpPr>
        <p:cNvPr id="1" name=""/>
        <p:cNvGrpSpPr/>
        <p:nvPr/>
      </p:nvGrpSpPr>
      <p:grpSpPr/>
      <p:sp>
        <p:nvSpPr>
          <p:cNvPr id="2" name="Rounded Rectangle 1"/>
          <p:cNvSpPr/>
          <p:nvPr/>
        </p:nvSpPr>
        <p:spPr>
          <a:xfrm>
            <a:off x="731520" y="640080"/>
            <a:ext cx="10728655" cy="5486400"/>
          </a:xfrm>
          <a:prstGeom prst="roundRect">
            <a:avLst/>
          </a:prstGeom>
          <a:solidFill>
            <a:srgbClr val="0F243A"/>
          </a:solidFill>
          <a:ln w="12700">
            <a:solidFill>
              <a:srgbClr val="1E40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640080"/>
            <a:ext cx="10728655" cy="73152"/>
          </a:xfrm>
          <a:prstGeom prst="rect">
            <a:avLst/>
          </a:prstGeom>
          <a:solidFill>
            <a:srgbClr val="00D4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88720" y="1097280"/>
            <a:ext cx="9784080" cy="4572000"/>
          </a:xfrm>
          <a:prstGeom prst="rect">
            <a:avLst/>
          </a:prstGeom>
          <a:noFill/>
        </p:spPr>
        <p:txBody>
          <a:bodyPr wrap="square">
            <a:spAutoFit/>
          </a:bodyPr>
          <a:lstStyle/>
          <a:p>
            <a:pPr>
              <a:defRPr sz="1100" b="1">
                <a:solidFill>
                  <a:srgbClr val="00D4B2"/>
                </a:solidFill>
              </a:defRPr>
            </a:pPr>
            <a:r>
              <a:t>ACADEMIC PROJECT DEFENSE  |  COMPREHENSIVE VIVA VOCE</a:t>
            </a:r>
          </a:p>
          <a:p>
            <a:pPr>
              <a:spcBef>
                <a:spcPts val="800"/>
              </a:spcBef>
              <a:defRPr sz="3600" b="1">
                <a:solidFill>
                  <a:srgbClr val="FFFFFF"/>
                </a:solidFill>
              </a:defRPr>
            </a:pPr>
            <a:r>
              <a:t>CuraCascade V2</a:t>
            </a:r>
          </a:p>
          <a:p>
            <a:pPr>
              <a:spcBef>
                <a:spcPts val="600"/>
              </a:spcBef>
              <a:defRPr sz="1400">
                <a:solidFill>
                  <a:srgbClr val="38BDF8"/>
                </a:solidFill>
              </a:defRPr>
            </a:pPr>
            <a:r>
              <a:t>An Integrated Biomedical Informatics Framework for Automated Gene–Disease Validity Discrepancy Auditing &amp; Longitudinal Latency Analytics</a:t>
            </a:r>
          </a:p>
        </p:txBody>
      </p:sp>
      <p:sp>
        <p:nvSpPr>
          <p:cNvPr id="5" name="Rounded Rectangle 4"/>
          <p:cNvSpPr/>
          <p:nvPr/>
        </p:nvSpPr>
        <p:spPr>
          <a:xfrm>
            <a:off x="1188720" y="2926080"/>
            <a:ext cx="9784080" cy="1645920"/>
          </a:xfrm>
          <a:prstGeom prst="roundRect">
            <a:avLst/>
          </a:prstGeom>
          <a:solidFill>
            <a:srgbClr val="16375A"/>
          </a:solidFill>
          <a:ln w="12700">
            <a:solidFill>
              <a:srgbClr val="1E40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371600" y="3017520"/>
            <a:ext cx="9418320" cy="1463040"/>
          </a:xfrm>
          <a:prstGeom prst="rect">
            <a:avLst/>
          </a:prstGeom>
          <a:noFill/>
        </p:spPr>
        <p:txBody>
          <a:bodyPr wrap="square">
            <a:spAutoFit/>
          </a:bodyPr>
          <a:lstStyle/>
          <a:p>
            <a:pPr>
              <a:defRPr sz="1300" b="1">
                <a:solidFill>
                  <a:srgbClr val="FFFFFF"/>
                </a:solidFill>
              </a:defRPr>
            </a:pPr>
            <a:r>
              <a:t>Author: Udit Shokeen  |  Register Number: 23BCB0001</a:t>
            </a:r>
          </a:p>
          <a:p>
            <a:pPr>
              <a:spcBef>
                <a:spcPts val="400"/>
              </a:spcBef>
              <a:defRPr sz="1100">
                <a:solidFill>
                  <a:srgbClr val="94A3B8"/>
                </a:solidFill>
              </a:defRPr>
            </a:pPr>
            <a:r>
              <a:t>Institution: School of Computer Science &amp; Engineering (SCOPE), Vellore Institute of Technology (VIT), Vellore</a:t>
            </a:r>
          </a:p>
          <a:p>
            <a:pPr>
              <a:spcBef>
                <a:spcPts val="600"/>
              </a:spcBef>
              <a:defRPr sz="1100" b="1">
                <a:solidFill>
                  <a:srgbClr val="10B981"/>
                </a:solidFill>
              </a:defRPr>
            </a:pPr>
            <a:r>
              <a:t>Technical Verification: 47 / 47 Automated Pytest Suite Passing (54.12s on Python 3.13)  |  100-Dyad Independent Benchmark</a:t>
            </a:r>
          </a:p>
        </p:txBody>
      </p:sp>
      <p:sp>
        <p:nvSpPr>
          <p:cNvPr id="7" name="Rounded Rectangle 6"/>
          <p:cNvSpPr/>
          <p:nvPr/>
        </p:nvSpPr>
        <p:spPr>
          <a:xfrm>
            <a:off x="1188720" y="4754880"/>
            <a:ext cx="4754880" cy="1005840"/>
          </a:xfrm>
          <a:prstGeom prst="roundRect">
            <a:avLst/>
          </a:prstGeom>
          <a:solidFill>
            <a:srgbClr val="0F243A"/>
          </a:solidFill>
          <a:ln w="12700">
            <a:solidFill>
              <a:srgbClr val="00D4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71600" y="4846320"/>
            <a:ext cx="4389120" cy="822960"/>
          </a:xfrm>
          <a:prstGeom prst="rect">
            <a:avLst/>
          </a:prstGeom>
          <a:noFill/>
        </p:spPr>
        <p:txBody>
          <a:bodyPr wrap="square">
            <a:spAutoFit/>
          </a:bodyPr>
          <a:lstStyle/>
          <a:p>
            <a:pPr>
              <a:defRPr sz="900" b="1">
                <a:solidFill>
                  <a:srgbClr val="00D4B2"/>
                </a:solidFill>
              </a:defRPr>
            </a:pPr>
            <a:r>
              <a:t>SOURCE REPOSITORY (VERIFIED)</a:t>
            </a:r>
          </a:p>
          <a:p>
            <a:pPr>
              <a:defRPr sz="1100">
                <a:solidFill>
                  <a:srgbClr val="FFFFFF"/>
                </a:solidFill>
              </a:defRPr>
            </a:pPr>
            <a:r>
              <a:t>github.com/uditshokeen14/curacascadeV2</a:t>
            </a:r>
          </a:p>
        </p:txBody>
      </p:sp>
      <p:sp>
        <p:nvSpPr>
          <p:cNvPr id="9" name="Rounded Rectangle 8"/>
          <p:cNvSpPr/>
          <p:nvPr/>
        </p:nvSpPr>
        <p:spPr>
          <a:xfrm>
            <a:off x="6217920" y="4754880"/>
            <a:ext cx="4754880" cy="1005840"/>
          </a:xfrm>
          <a:prstGeom prst="roundRect">
            <a:avLst/>
          </a:prstGeom>
          <a:solidFill>
            <a:srgbClr val="0F243A"/>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4846320"/>
            <a:ext cx="4389120" cy="822960"/>
          </a:xfrm>
          <a:prstGeom prst="rect">
            <a:avLst/>
          </a:prstGeom>
          <a:noFill/>
        </p:spPr>
        <p:txBody>
          <a:bodyPr wrap="square">
            <a:spAutoFit/>
          </a:bodyPr>
          <a:lstStyle/>
          <a:p>
            <a:pPr>
              <a:defRPr sz="900" b="1">
                <a:solidFill>
                  <a:srgbClr val="38BDF8"/>
                </a:solidFill>
              </a:defRPr>
            </a:pPr>
            <a:r>
              <a:t>LIVE DEPLOYMENT (STREAMLIT CLOUD)</a:t>
            </a:r>
          </a:p>
          <a:p>
            <a:pPr>
              <a:defRPr sz="1100">
                <a:solidFill>
                  <a:srgbClr val="FFFFFF"/>
                </a:solidFill>
              </a:defRPr>
            </a:pPr>
            <a:r>
              <a:t>curacascadev2.streamlit.app</a:t>
            </a:r>
          </a:p>
        </p:txBody>
      </p:sp>
      <p:sp>
        <p:nvSpPr>
          <p:cNvPr id="11" name="TextBox 10"/>
          <p:cNvSpPr txBox="1"/>
          <p:nvPr/>
        </p:nvSpPr>
        <p:spPr>
          <a:xfrm>
            <a:off x="731520" y="6473952"/>
            <a:ext cx="10728655" cy="274320"/>
          </a:xfrm>
          <a:prstGeom prst="rect">
            <a:avLst/>
          </a:prstGeom>
          <a:noFill/>
        </p:spPr>
        <p:txBody>
          <a:bodyPr wrap="square" lIns="0" tIns="0" rIns="0" bIns="0">
            <a:spAutoFit/>
          </a:bodyPr>
          <a:lstStyle/>
          <a:p>
            <a:pPr>
              <a:defRPr sz="850">
                <a:solidFill>
                  <a:srgbClr val="64748B"/>
                </a:solidFill>
              </a:defRPr>
            </a:pPr>
            <a:r>
              <a:t>CuraCascade V2  |  Academic Defense  |  VIT School of Computer Science &amp; Engineering  |  Slide 01 of 25</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71426"/>
        </a:solidFill>
        <a:effectLst/>
      </p:bgPr>
    </p:bg>
    <p:spTree>
      <p:nvGrpSpPr>
        <p:cNvPr id="1" name=""/>
        <p:cNvGrpSpPr/>
        <p:nvPr/>
      </p:nvGrpSpPr>
      <p:grpSpPr/>
      <p:sp>
        <p:nvSpPr>
          <p:cNvPr id="2" name="Rectangle 1"/>
          <p:cNvSpPr/>
          <p:nvPr/>
        </p:nvSpPr>
        <p:spPr>
          <a:xfrm>
            <a:off x="731520" y="0"/>
            <a:ext cx="10728655" cy="36576"/>
          </a:xfrm>
          <a:prstGeom prst="rect">
            <a:avLst/>
          </a:prstGeom>
          <a:solidFill>
            <a:srgbClr val="00D4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1051560"/>
          </a:xfrm>
          <a:prstGeom prst="rect">
            <a:avLst/>
          </a:prstGeom>
          <a:noFill/>
        </p:spPr>
        <p:txBody>
          <a:bodyPr wrap="square" lIns="0" tIns="0" rIns="0" bIns="0">
            <a:spAutoFit/>
          </a:bodyPr>
          <a:lstStyle/>
          <a:p>
            <a:pPr>
              <a:defRPr sz="950" b="1">
                <a:solidFill>
                  <a:srgbClr val="00D4B2"/>
                </a:solidFill>
              </a:defRPr>
            </a:pPr>
            <a:r>
              <a:t>EXECUTIVE SUMMARY</a:t>
            </a:r>
          </a:p>
          <a:p>
            <a:pPr>
              <a:spcBef>
                <a:spcPts val="200"/>
              </a:spcBef>
              <a:defRPr sz="2100" b="1">
                <a:solidFill>
                  <a:srgbClr val="FFFFFF"/>
                </a:solidFill>
              </a:defRPr>
            </a:pPr>
            <a:r>
              <a:t>The Four Pillars of CuraCascade V2</a:t>
            </a:r>
          </a:p>
          <a:p>
            <a:pPr>
              <a:spcBef>
                <a:spcPts val="200"/>
              </a:spcBef>
              <a:defRPr sz="1100">
                <a:solidFill>
                  <a:srgbClr val="94A3B8"/>
                </a:solidFill>
              </a:defRPr>
            </a:pPr>
            <a:r>
              <a:t>System architecture, empirical benchmark verification, and scientific boundaries at a glance</a:t>
            </a:r>
          </a:p>
        </p:txBody>
      </p:sp>
      <p:sp>
        <p:nvSpPr>
          <p:cNvPr id="4" name="Rounded Rectangle 3"/>
          <p:cNvSpPr/>
          <p:nvPr/>
        </p:nvSpPr>
        <p:spPr>
          <a:xfrm>
            <a:off x="731520" y="1554480"/>
            <a:ext cx="2514600" cy="3474720"/>
          </a:xfrm>
          <a:prstGeom prst="roundRect">
            <a:avLst/>
          </a:prstGeom>
          <a:solidFill>
            <a:srgbClr val="0F243A"/>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691640"/>
            <a:ext cx="2240280" cy="3200400"/>
          </a:xfrm>
          <a:prstGeom prst="rect">
            <a:avLst/>
          </a:prstGeom>
          <a:noFill/>
        </p:spPr>
        <p:txBody>
          <a:bodyPr wrap="square">
            <a:spAutoFit/>
          </a:bodyPr>
          <a:lstStyle/>
          <a:p>
            <a:pPr>
              <a:defRPr sz="900" b="1">
                <a:solidFill>
                  <a:srgbClr val="EF4444"/>
                </a:solidFill>
              </a:defRPr>
            </a:pPr>
            <a:r>
              <a:t>🔴 THE REAL-WORLD PROBLEM</a:t>
            </a:r>
          </a:p>
          <a:p>
            <a:pPr>
              <a:spcBef>
                <a:spcPts val="400"/>
              </a:spcBef>
              <a:defRPr sz="1400" b="1">
                <a:solidFill>
                  <a:srgbClr val="FFFFFF"/>
                </a:solidFill>
              </a:defRPr>
            </a:pPr>
            <a:r>
              <a:t>Genomic Evidence Drift</a:t>
            </a:r>
          </a:p>
          <a:p>
            <a:pPr>
              <a:spcBef>
                <a:spcPts val="800"/>
              </a:spcBef>
              <a:defRPr sz="1000">
                <a:solidFill>
                  <a:srgbClr val="94A3B8"/>
                </a:solidFill>
              </a:defRPr>
            </a:pPr>
            <a:r>
              <a:t>When ClinGen downgrades or refutes unproven gene–disease claims, downstream variant repositories like ClinVar do not synchronize automatically. Thousands of 'Pathogenic' variant assertions linger in refuted genes for years, exposing patients to hazardous overdiagnosis.</a:t>
            </a:r>
          </a:p>
        </p:txBody>
      </p:sp>
      <p:sp>
        <p:nvSpPr>
          <p:cNvPr id="6" name="Rounded Rectangle 5"/>
          <p:cNvSpPr/>
          <p:nvPr/>
        </p:nvSpPr>
        <p:spPr>
          <a:xfrm>
            <a:off x="3465576" y="1554480"/>
            <a:ext cx="2514600" cy="3474720"/>
          </a:xfrm>
          <a:prstGeom prst="roundRect">
            <a:avLst/>
          </a:prstGeom>
          <a:solidFill>
            <a:srgbClr val="0F243A"/>
          </a:solidFill>
          <a:ln w="12700">
            <a:solidFill>
              <a:srgbClr val="00D4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02736" y="1691640"/>
            <a:ext cx="2240280" cy="3200400"/>
          </a:xfrm>
          <a:prstGeom prst="rect">
            <a:avLst/>
          </a:prstGeom>
          <a:noFill/>
        </p:spPr>
        <p:txBody>
          <a:bodyPr wrap="square">
            <a:spAutoFit/>
          </a:bodyPr>
          <a:lstStyle/>
          <a:p>
            <a:pPr>
              <a:defRPr sz="900" b="1">
                <a:solidFill>
                  <a:srgbClr val="00D4B2"/>
                </a:solidFill>
              </a:defRPr>
            </a:pPr>
            <a:r>
              <a:t>🟢 OUR APPLIED SOLUTION</a:t>
            </a:r>
          </a:p>
          <a:p>
            <a:pPr>
              <a:spcBef>
                <a:spcPts val="400"/>
              </a:spcBef>
              <a:defRPr sz="1400" b="1">
                <a:solidFill>
                  <a:srgbClr val="FFFFFF"/>
                </a:solidFill>
              </a:defRPr>
            </a:pPr>
            <a:r>
              <a:t>Automated Relational Auditing</a:t>
            </a:r>
          </a:p>
          <a:p>
            <a:pPr>
              <a:spcBef>
                <a:spcPts val="800"/>
              </a:spcBef>
              <a:defRPr sz="1000">
                <a:solidFill>
                  <a:srgbClr val="94A3B8"/>
                </a:solidFill>
              </a:defRPr>
            </a:pPr>
            <a:r>
              <a:t>Engineered an automated 3NF relational warehouse and deterministic disease-aware rule engine. Unifies ClinGen, ClinVar, and PanelApp with ontology crosswalks (MONDO, MedGen) to identify and classify discrepancies into actionable clinical strata.</a:t>
            </a:r>
          </a:p>
        </p:txBody>
      </p:sp>
      <p:sp>
        <p:nvSpPr>
          <p:cNvPr id="8" name="Rounded Rectangle 7"/>
          <p:cNvSpPr/>
          <p:nvPr/>
        </p:nvSpPr>
        <p:spPr>
          <a:xfrm>
            <a:off x="6199632" y="1554480"/>
            <a:ext cx="2514600" cy="3474720"/>
          </a:xfrm>
          <a:prstGeom prst="roundRect">
            <a:avLst/>
          </a:prstGeom>
          <a:solidFill>
            <a:srgbClr val="0F243A"/>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36792" y="1691640"/>
            <a:ext cx="2240280" cy="3200400"/>
          </a:xfrm>
          <a:prstGeom prst="rect">
            <a:avLst/>
          </a:prstGeom>
          <a:noFill/>
        </p:spPr>
        <p:txBody>
          <a:bodyPr wrap="square">
            <a:spAutoFit/>
          </a:bodyPr>
          <a:lstStyle/>
          <a:p>
            <a:pPr>
              <a:defRPr sz="900" b="1">
                <a:solidFill>
                  <a:srgbClr val="38BDF8"/>
                </a:solidFill>
              </a:defRPr>
            </a:pPr>
            <a:r>
              <a:t>🔵 STRONGEST VERIFIED RESULT</a:t>
            </a:r>
          </a:p>
          <a:p>
            <a:pPr>
              <a:spcBef>
                <a:spcPts val="400"/>
              </a:spcBef>
              <a:defRPr sz="1400" b="1">
                <a:solidFill>
                  <a:srgbClr val="FFFFFF"/>
                </a:solidFill>
              </a:defRPr>
            </a:pPr>
            <a:r>
              <a:t>100.0% Audit Precision</a:t>
            </a:r>
          </a:p>
          <a:p>
            <a:pPr>
              <a:spcBef>
                <a:spcPts val="800"/>
              </a:spcBef>
              <a:defRPr sz="1000">
                <a:solidFill>
                  <a:srgbClr val="94A3B8"/>
                </a:solidFill>
              </a:defRPr>
            </a:pPr>
            <a:r>
              <a:t>On an independent, firewalled benchmark of 100 gene–disease dyads, CuraCascade achieved 100.0% precision and 100.0% specificity across 94 evaluable cases (18 TP, 0 FP, 42 TN). Every single flagged alert is a verified, authentic conflict.</a:t>
            </a:r>
          </a:p>
        </p:txBody>
      </p:sp>
      <p:sp>
        <p:nvSpPr>
          <p:cNvPr id="10" name="Rounded Rectangle 9"/>
          <p:cNvSpPr/>
          <p:nvPr/>
        </p:nvSpPr>
        <p:spPr>
          <a:xfrm>
            <a:off x="8933688" y="1554480"/>
            <a:ext cx="2514600" cy="3474720"/>
          </a:xfrm>
          <a:prstGeom prst="roundRect">
            <a:avLst/>
          </a:prstGeom>
          <a:solidFill>
            <a:srgbClr val="0F243A"/>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070848" y="1691640"/>
            <a:ext cx="2240280" cy="3200400"/>
          </a:xfrm>
          <a:prstGeom prst="rect">
            <a:avLst/>
          </a:prstGeom>
          <a:noFill/>
        </p:spPr>
        <p:txBody>
          <a:bodyPr wrap="square">
            <a:spAutoFit/>
          </a:bodyPr>
          <a:lstStyle/>
          <a:p>
            <a:pPr>
              <a:defRPr sz="900" b="1">
                <a:solidFill>
                  <a:srgbClr val="F59E0B"/>
                </a:solidFill>
              </a:defRPr>
            </a:pPr>
            <a:r>
              <a:t>🟡 SCIENTIFIC BOUNDARY</a:t>
            </a:r>
          </a:p>
          <a:p>
            <a:pPr>
              <a:spcBef>
                <a:spcPts val="400"/>
              </a:spcBef>
              <a:defRPr sz="1400" b="1">
                <a:solidFill>
                  <a:srgbClr val="FFFFFF"/>
                </a:solidFill>
              </a:defRPr>
            </a:pPr>
            <a:r>
              <a:t>Conservative 34.6% Recall</a:t>
            </a:r>
          </a:p>
          <a:p>
            <a:pPr>
              <a:spcBef>
                <a:spcPts val="800"/>
              </a:spcBef>
              <a:defRPr sz="1000">
                <a:solidFill>
                  <a:srgbClr val="94A3B8"/>
                </a:solidFill>
              </a:defRPr>
            </a:pPr>
            <a:r>
              <a:t>System recall is 34.6% because the engine intentionally refuses to guess when variants are labeled under broad umbrella terms ('Cardiovascular phenotype'). In clinical informatics, zero false-positive alerts prevents clinician alert fatigue.</a:t>
            </a:r>
          </a:p>
        </p:txBody>
      </p:sp>
      <p:sp>
        <p:nvSpPr>
          <p:cNvPr id="12" name="Rounded Rectangle 11"/>
          <p:cNvSpPr/>
          <p:nvPr/>
        </p:nvSpPr>
        <p:spPr>
          <a:xfrm>
            <a:off x="731520" y="5212080"/>
            <a:ext cx="10728655" cy="1051560"/>
          </a:xfrm>
          <a:prstGeom prst="roundRect">
            <a:avLst/>
          </a:prstGeom>
          <a:solidFill>
            <a:srgbClr val="16375A"/>
          </a:solidFill>
          <a:ln w="12700">
            <a:solidFill>
              <a:srgbClr val="1E40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5303520"/>
            <a:ext cx="1788109" cy="868680"/>
          </a:xfrm>
          <a:prstGeom prst="rect">
            <a:avLst/>
          </a:prstGeom>
          <a:noFill/>
        </p:spPr>
        <p:txBody>
          <a:bodyPr wrap="square">
            <a:spAutoFit/>
          </a:bodyPr>
          <a:lstStyle/>
          <a:p>
            <a:pPr algn="ctr">
              <a:defRPr sz="1700" b="1">
                <a:solidFill>
                  <a:srgbClr val="00D4B2"/>
                </a:solidFill>
              </a:defRPr>
            </a:pPr>
            <a:r>
              <a:t>3,033</a:t>
            </a:r>
          </a:p>
          <a:p>
            <a:pPr algn="ctr">
              <a:spcBef>
                <a:spcPts val="200"/>
              </a:spcBef>
              <a:defRPr sz="850">
                <a:solidFill>
                  <a:srgbClr val="94A3B8"/>
                </a:solidFill>
              </a:defRPr>
            </a:pPr>
            <a:r>
              <a:t>Genes Ingested</a:t>
            </a:r>
          </a:p>
        </p:txBody>
      </p:sp>
      <p:sp>
        <p:nvSpPr>
          <p:cNvPr id="14" name="TextBox 13"/>
          <p:cNvSpPr txBox="1"/>
          <p:nvPr/>
        </p:nvSpPr>
        <p:spPr>
          <a:xfrm>
            <a:off x="2519629" y="5303520"/>
            <a:ext cx="1788109" cy="868680"/>
          </a:xfrm>
          <a:prstGeom prst="rect">
            <a:avLst/>
          </a:prstGeom>
          <a:noFill/>
        </p:spPr>
        <p:txBody>
          <a:bodyPr wrap="square">
            <a:spAutoFit/>
          </a:bodyPr>
          <a:lstStyle/>
          <a:p>
            <a:pPr algn="ctr">
              <a:defRPr sz="1700" b="1">
                <a:solidFill>
                  <a:srgbClr val="00D4B2"/>
                </a:solidFill>
              </a:defRPr>
            </a:pPr>
            <a:r>
              <a:t>51,025</a:t>
            </a:r>
          </a:p>
          <a:p>
            <a:pPr algn="ctr">
              <a:spcBef>
                <a:spcPts val="200"/>
              </a:spcBef>
              <a:defRPr sz="850">
                <a:solidFill>
                  <a:srgbClr val="94A3B8"/>
                </a:solidFill>
              </a:defRPr>
            </a:pPr>
            <a:r>
              <a:t>ClinVar Variants</a:t>
            </a:r>
          </a:p>
        </p:txBody>
      </p:sp>
      <p:sp>
        <p:nvSpPr>
          <p:cNvPr id="15" name="TextBox 14"/>
          <p:cNvSpPr txBox="1"/>
          <p:nvPr/>
        </p:nvSpPr>
        <p:spPr>
          <a:xfrm>
            <a:off x="4307738" y="5303520"/>
            <a:ext cx="1788109" cy="868680"/>
          </a:xfrm>
          <a:prstGeom prst="rect">
            <a:avLst/>
          </a:prstGeom>
          <a:noFill/>
        </p:spPr>
        <p:txBody>
          <a:bodyPr wrap="square">
            <a:spAutoFit/>
          </a:bodyPr>
          <a:lstStyle/>
          <a:p>
            <a:pPr algn="ctr">
              <a:defRPr sz="1700" b="1">
                <a:solidFill>
                  <a:srgbClr val="00D4B2"/>
                </a:solidFill>
              </a:defRPr>
            </a:pPr>
            <a:r>
              <a:t>51,251</a:t>
            </a:r>
          </a:p>
          <a:p>
            <a:pPr algn="ctr">
              <a:spcBef>
                <a:spcPts val="200"/>
              </a:spcBef>
              <a:defRPr sz="850">
                <a:solidFill>
                  <a:srgbClr val="94A3B8"/>
                </a:solidFill>
              </a:defRPr>
            </a:pPr>
            <a:r>
              <a:t>Audit Findings</a:t>
            </a:r>
          </a:p>
        </p:txBody>
      </p:sp>
      <p:sp>
        <p:nvSpPr>
          <p:cNvPr id="16" name="TextBox 15"/>
          <p:cNvSpPr txBox="1"/>
          <p:nvPr/>
        </p:nvSpPr>
        <p:spPr>
          <a:xfrm>
            <a:off x="6095847" y="5303520"/>
            <a:ext cx="1788109" cy="868680"/>
          </a:xfrm>
          <a:prstGeom prst="rect">
            <a:avLst/>
          </a:prstGeom>
          <a:noFill/>
        </p:spPr>
        <p:txBody>
          <a:bodyPr wrap="square">
            <a:spAutoFit/>
          </a:bodyPr>
          <a:lstStyle/>
          <a:p>
            <a:pPr algn="ctr">
              <a:defRPr sz="1700" b="1">
                <a:solidFill>
                  <a:srgbClr val="F59E0B"/>
                </a:solidFill>
              </a:defRPr>
            </a:pPr>
            <a:r>
              <a:t>2.82 Yrs</a:t>
            </a:r>
          </a:p>
          <a:p>
            <a:pPr algn="ctr">
              <a:spcBef>
                <a:spcPts val="200"/>
              </a:spcBef>
              <a:defRPr sz="850">
                <a:solidFill>
                  <a:srgbClr val="94A3B8"/>
                </a:solidFill>
              </a:defRPr>
            </a:pPr>
            <a:r>
              <a:t>Median Lag (1,030d)</a:t>
            </a:r>
          </a:p>
        </p:txBody>
      </p:sp>
      <p:sp>
        <p:nvSpPr>
          <p:cNvPr id="17" name="TextBox 16"/>
          <p:cNvSpPr txBox="1"/>
          <p:nvPr/>
        </p:nvSpPr>
        <p:spPr>
          <a:xfrm>
            <a:off x="7883956" y="5303520"/>
            <a:ext cx="1788109" cy="868680"/>
          </a:xfrm>
          <a:prstGeom prst="rect">
            <a:avLst/>
          </a:prstGeom>
          <a:noFill/>
        </p:spPr>
        <p:txBody>
          <a:bodyPr wrap="square">
            <a:spAutoFit/>
          </a:bodyPr>
          <a:lstStyle/>
          <a:p>
            <a:pPr algn="ctr">
              <a:defRPr sz="1700" b="1">
                <a:solidFill>
                  <a:srgbClr val="00D4B2"/>
                </a:solidFill>
              </a:defRPr>
            </a:pPr>
            <a:r>
              <a:t>182,760</a:t>
            </a:r>
          </a:p>
          <a:p>
            <a:pPr algn="ctr">
              <a:spcBef>
                <a:spcPts val="200"/>
              </a:spcBef>
              <a:defRPr sz="850">
                <a:solidFill>
                  <a:srgbClr val="94A3B8"/>
                </a:solidFill>
              </a:defRPr>
            </a:pPr>
            <a:r>
              <a:t>Patient-Years at Risk</a:t>
            </a:r>
          </a:p>
        </p:txBody>
      </p:sp>
      <p:sp>
        <p:nvSpPr>
          <p:cNvPr id="18" name="TextBox 17"/>
          <p:cNvSpPr txBox="1"/>
          <p:nvPr/>
        </p:nvSpPr>
        <p:spPr>
          <a:xfrm>
            <a:off x="9672066" y="5303520"/>
            <a:ext cx="1788109" cy="868680"/>
          </a:xfrm>
          <a:prstGeom prst="rect">
            <a:avLst/>
          </a:prstGeom>
          <a:noFill/>
        </p:spPr>
        <p:txBody>
          <a:bodyPr wrap="square">
            <a:spAutoFit/>
          </a:bodyPr>
          <a:lstStyle/>
          <a:p>
            <a:pPr algn="ctr">
              <a:defRPr sz="1700" b="1">
                <a:solidFill>
                  <a:srgbClr val="00D4B2"/>
                </a:solidFill>
              </a:defRPr>
            </a:pPr>
            <a:r>
              <a:t>47 / 47</a:t>
            </a:r>
          </a:p>
          <a:p>
            <a:pPr algn="ctr">
              <a:spcBef>
                <a:spcPts val="200"/>
              </a:spcBef>
              <a:defRPr sz="850">
                <a:solidFill>
                  <a:srgbClr val="94A3B8"/>
                </a:solidFill>
              </a:defRPr>
            </a:pPr>
            <a:r>
              <a:t>Tests Passing (Pytest)</a:t>
            </a:r>
          </a:p>
        </p:txBody>
      </p:sp>
      <p:sp>
        <p:nvSpPr>
          <p:cNvPr id="19" name="TextBox 18"/>
          <p:cNvSpPr txBox="1"/>
          <p:nvPr/>
        </p:nvSpPr>
        <p:spPr>
          <a:xfrm>
            <a:off x="731520" y="6473952"/>
            <a:ext cx="10728655" cy="274320"/>
          </a:xfrm>
          <a:prstGeom prst="rect">
            <a:avLst/>
          </a:prstGeom>
          <a:noFill/>
        </p:spPr>
        <p:txBody>
          <a:bodyPr wrap="square" lIns="0" tIns="0" rIns="0" bIns="0">
            <a:spAutoFit/>
          </a:bodyPr>
          <a:lstStyle/>
          <a:p>
            <a:pPr>
              <a:defRPr sz="850">
                <a:solidFill>
                  <a:srgbClr val="64748B"/>
                </a:solidFill>
              </a:defRPr>
            </a:pPr>
            <a:r>
              <a:t>CuraCascade V2  |  Academic Defense  |  VIT School of Computer Science &amp; Engineering  |  Slide 02 of 25</a:t>
            </a:r>
          </a:p>
        </p:txBody>
      </p:sp>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71426"/>
        </a:solidFill>
        <a:effectLst/>
      </p:bgPr>
    </p:bg>
    <p:spTree>
      <p:nvGrpSpPr>
        <p:cNvPr id="1" name=""/>
        <p:cNvGrpSpPr/>
        <p:nvPr/>
      </p:nvGrpSpPr>
      <p:grpSpPr/>
      <p:sp>
        <p:nvSpPr>
          <p:cNvPr id="2" name="Rectangle 1"/>
          <p:cNvSpPr/>
          <p:nvPr/>
        </p:nvSpPr>
        <p:spPr>
          <a:xfrm>
            <a:off x="731520" y="0"/>
            <a:ext cx="10728655" cy="36576"/>
          </a:xfrm>
          <a:prstGeom prst="rect">
            <a:avLst/>
          </a:prstGeom>
          <a:solidFill>
            <a:srgbClr val="00D4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1051560"/>
          </a:xfrm>
          <a:prstGeom prst="rect">
            <a:avLst/>
          </a:prstGeom>
          <a:noFill/>
        </p:spPr>
        <p:txBody>
          <a:bodyPr wrap="square" lIns="0" tIns="0" rIns="0" bIns="0">
            <a:spAutoFit/>
          </a:bodyPr>
          <a:lstStyle/>
          <a:p>
            <a:pPr>
              <a:defRPr sz="950" b="1">
                <a:solidFill>
                  <a:srgbClr val="00D4B2"/>
                </a:solidFill>
              </a:defRPr>
            </a:pPr>
            <a:r>
              <a:t>THE REAL-WORLD PROBLEM</a:t>
            </a:r>
          </a:p>
          <a:p>
            <a:pPr>
              <a:spcBef>
                <a:spcPts val="200"/>
              </a:spcBef>
              <a:defRPr sz="2100" b="1">
                <a:solidFill>
                  <a:srgbClr val="FFFFFF"/>
                </a:solidFill>
              </a:defRPr>
            </a:pPr>
            <a:r>
              <a:t>Genomic Evidence Drift &amp; Downstream Clinical Lag</a:t>
            </a:r>
          </a:p>
          <a:p>
            <a:pPr>
              <a:spcBef>
                <a:spcPts val="200"/>
              </a:spcBef>
              <a:defRPr sz="1100">
                <a:solidFill>
                  <a:srgbClr val="94A3B8"/>
                </a:solidFill>
              </a:defRPr>
            </a:pPr>
            <a:r>
              <a:t>Why updated gene–disease validity assessments fail to propagate to downstream clinical databases</a:t>
            </a:r>
          </a:p>
        </p:txBody>
      </p:sp>
      <p:sp>
        <p:nvSpPr>
          <p:cNvPr id="4" name="Rounded Rectangle 3"/>
          <p:cNvSpPr/>
          <p:nvPr/>
        </p:nvSpPr>
        <p:spPr>
          <a:xfrm>
            <a:off x="731520" y="1554480"/>
            <a:ext cx="5120640" cy="4709160"/>
          </a:xfrm>
          <a:prstGeom prst="roundRect">
            <a:avLst/>
          </a:prstGeom>
          <a:solidFill>
            <a:srgbClr val="0F243A"/>
          </a:solidFill>
          <a:ln w="12700">
            <a:solidFill>
              <a:srgbClr val="1E40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91640"/>
            <a:ext cx="4754880" cy="4389120"/>
          </a:xfrm>
          <a:prstGeom prst="rect">
            <a:avLst/>
          </a:prstGeom>
          <a:noFill/>
        </p:spPr>
        <p:txBody>
          <a:bodyPr wrap="square">
            <a:spAutoFit/>
          </a:bodyPr>
          <a:lstStyle/>
          <a:p>
            <a:pPr>
              <a:defRPr sz="1000" b="1">
                <a:solidFill>
                  <a:srgbClr val="38BDF8"/>
                </a:solidFill>
              </a:defRPr>
            </a:pPr>
            <a:r>
              <a:t>STAGE 1: EXPERT CURATION RELEASE (T = 0)</a:t>
            </a:r>
          </a:p>
          <a:p>
            <a:pPr>
              <a:spcBef>
                <a:spcPts val="300"/>
              </a:spcBef>
              <a:defRPr sz="1000">
                <a:solidFill>
                  <a:srgbClr val="F1F5F9"/>
                </a:solidFill>
              </a:defRPr>
            </a:pPr>
            <a:r>
              <a:t>ClinGen expert panels systematically re-evaluate historic gene–disease associations using standardized monogenic scoring criteria. Genes like MYOZ2 or CACNA2D1 are officially downgraded to 'Refuted' or 'No Evidence'.</a:t>
            </a:r>
          </a:p>
          <a:p>
            <a:pPr>
              <a:spcBef>
                <a:spcPts val="1200"/>
              </a:spcBef>
              <a:defRPr sz="1000" b="1">
                <a:solidFill>
                  <a:srgbClr val="F59E0B"/>
                </a:solidFill>
              </a:defRPr>
            </a:pPr>
            <a:r>
              <a:t>STAGE 2: ASYNCHRONOUS DOWNSTREAM DELAY (T = +2.82 YRS)</a:t>
            </a:r>
          </a:p>
          <a:p>
            <a:pPr>
              <a:spcBef>
                <a:spcPts val="300"/>
              </a:spcBef>
              <a:defRPr sz="1000">
                <a:solidFill>
                  <a:srgbClr val="F1F5F9"/>
                </a:solidFill>
              </a:defRPr>
            </a:pPr>
            <a:r>
              <a:t>Commercial diagnostic laboratories and public repositories (ClinVar) operate asynchronously. Re-curating variants requires uncompensated clinical labor. Outdated 'Pathogenic' assertions persist indefinitely.</a:t>
            </a:r>
          </a:p>
          <a:p>
            <a:pPr>
              <a:spcBef>
                <a:spcPts val="1200"/>
              </a:spcBef>
              <a:defRPr sz="1000" b="1">
                <a:solidFill>
                  <a:srgbClr val="EF4444"/>
                </a:solidFill>
              </a:defRPr>
            </a:pPr>
            <a:r>
              <a:t>STAGE 3: CLINICAL MISDIRECTION &amp; PATIENT RISK</a:t>
            </a:r>
          </a:p>
          <a:p>
            <a:pPr>
              <a:spcBef>
                <a:spcPts val="300"/>
              </a:spcBef>
              <a:defRPr sz="1000">
                <a:solidFill>
                  <a:srgbClr val="F1F5F9"/>
                </a:solidFill>
              </a:defRPr>
            </a:pPr>
            <a:r>
              <a:t>Patients undergoing multigene panel testing receive reports declaring variants 'Pathogenic' for diseases the gene does not cause. This leads to inappropriate surgical interventions, ICD implantations, and family anxiety.</a:t>
            </a:r>
          </a:p>
        </p:txBody>
      </p:sp>
      <p:sp>
        <p:nvSpPr>
          <p:cNvPr id="6" name="Rounded Rectangle 5"/>
          <p:cNvSpPr/>
          <p:nvPr/>
        </p:nvSpPr>
        <p:spPr>
          <a:xfrm>
            <a:off x="6126480" y="1554480"/>
            <a:ext cx="5333695" cy="4709160"/>
          </a:xfrm>
          <a:prstGeom prst="roundRect">
            <a:avLst/>
          </a:prstGeom>
          <a:solidFill>
            <a:srgbClr val="0F243A"/>
          </a:solidFill>
          <a:ln w="12700">
            <a:solidFill>
              <a:srgbClr val="1E40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272784" y="1700784"/>
            <a:ext cx="5041087" cy="2542032"/>
          </a:xfrm>
          <a:prstGeom prst="roundRect">
            <a:avLst/>
          </a:prstGeom>
          <a:solidFill>
            <a:srgbClr val="0B1B2E"/>
          </a:solidFill>
          <a:ln w="12700">
            <a:solidFill>
              <a:srgbClr val="1E40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igure_knowledge_lag.png"/>
          <p:cNvPicPr>
            <a:picLocks noChangeAspect="1"/>
          </p:cNvPicPr>
          <p:nvPr/>
        </p:nvPicPr>
        <p:blipFill>
          <a:blip r:embed="rId2"/>
          <a:stretch>
            <a:fillRect/>
          </a:stretch>
        </p:blipFill>
        <p:spPr>
          <a:xfrm>
            <a:off x="6309360" y="1737360"/>
            <a:ext cx="4967935" cy="2468880"/>
          </a:xfrm>
          <a:prstGeom prst="rect">
            <a:avLst/>
          </a:prstGeom>
        </p:spPr>
      </p:pic>
      <p:sp>
        <p:nvSpPr>
          <p:cNvPr id="9" name="Rounded Rectangle 8"/>
          <p:cNvSpPr/>
          <p:nvPr/>
        </p:nvSpPr>
        <p:spPr>
          <a:xfrm>
            <a:off x="6309360" y="4389120"/>
            <a:ext cx="4967935" cy="1691640"/>
          </a:xfrm>
          <a:prstGeom prst="roundRect">
            <a:avLst/>
          </a:prstGeom>
          <a:solidFill>
            <a:srgbClr val="16375A"/>
          </a:solidFill>
          <a:ln w="12700">
            <a:solidFill>
              <a:srgbClr val="00D4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4480560"/>
            <a:ext cx="4663440" cy="1508760"/>
          </a:xfrm>
          <a:prstGeom prst="rect">
            <a:avLst/>
          </a:prstGeom>
          <a:noFill/>
        </p:spPr>
        <p:txBody>
          <a:bodyPr wrap="square">
            <a:spAutoFit/>
          </a:bodyPr>
          <a:lstStyle/>
          <a:p>
            <a:pPr>
              <a:defRPr sz="950" b="1">
                <a:solidFill>
                  <a:srgbClr val="00D4B2"/>
                </a:solidFill>
              </a:defRPr>
            </a:pPr>
            <a:r>
              <a:t>EMPIRICAL CASE: MYOZ2 IN HYPERTROPHIC CARDIOMYOPATHY</a:t>
            </a:r>
          </a:p>
          <a:p>
            <a:pPr>
              <a:spcBef>
                <a:spcPts val="300"/>
              </a:spcBef>
              <a:defRPr sz="950">
                <a:solidFill>
                  <a:srgbClr val="FFFFFF"/>
                </a:solidFill>
              </a:defRPr>
            </a:pPr>
            <a:r>
              <a:t>• ClinGen Curation: Refuted in 2019 (lack of segregation in broad cohorts).</a:t>
            </a:r>
          </a:p>
          <a:p>
            <a:pPr>
              <a:spcBef>
                <a:spcPts val="200"/>
              </a:spcBef>
              <a:defRPr sz="950">
                <a:solidFill>
                  <a:srgbClr val="FFFFFF"/>
                </a:solidFill>
              </a:defRPr>
            </a:pPr>
            <a:r>
              <a:t>• ClinVar Reality: Multiple active 'Pathogenic' variant assertions persisted for &gt;5.9 years.</a:t>
            </a:r>
          </a:p>
          <a:p>
            <a:pPr>
              <a:spcBef>
                <a:spcPts val="200"/>
              </a:spcBef>
              <a:defRPr sz="950">
                <a:solidFill>
                  <a:srgbClr val="F59E0B"/>
                </a:solidFill>
              </a:defRPr>
            </a:pPr>
            <a:r>
              <a:t>• Downstream Impact: Diagnostic panels continued testing MYOZ2, risking overtreatment.</a:t>
            </a:r>
          </a:p>
        </p:txBody>
      </p:sp>
      <p:sp>
        <p:nvSpPr>
          <p:cNvPr id="11" name="TextBox 10"/>
          <p:cNvSpPr txBox="1"/>
          <p:nvPr/>
        </p:nvSpPr>
        <p:spPr>
          <a:xfrm>
            <a:off x="731520" y="6473952"/>
            <a:ext cx="10728655" cy="274320"/>
          </a:xfrm>
          <a:prstGeom prst="rect">
            <a:avLst/>
          </a:prstGeom>
          <a:noFill/>
        </p:spPr>
        <p:txBody>
          <a:bodyPr wrap="square" lIns="0" tIns="0" rIns="0" bIns="0">
            <a:spAutoFit/>
          </a:bodyPr>
          <a:lstStyle/>
          <a:p>
            <a:pPr>
              <a:defRPr sz="850">
                <a:solidFill>
                  <a:srgbClr val="64748B"/>
                </a:solidFill>
              </a:defRPr>
            </a:pPr>
            <a:r>
              <a:t>CuraCascade V2  |  Academic Defense  |  VIT School of Computer Science &amp; Engineering  |  Slide 03 of 25</a:t>
            </a:r>
          </a:p>
        </p:txBody>
      </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71426"/>
        </a:solidFill>
        <a:effectLst/>
      </p:bgPr>
    </p:bg>
    <p:spTree>
      <p:nvGrpSpPr>
        <p:cNvPr id="1" name=""/>
        <p:cNvGrpSpPr/>
        <p:nvPr/>
      </p:nvGrpSpPr>
      <p:grpSpPr/>
      <p:sp>
        <p:nvSpPr>
          <p:cNvPr id="2" name="Rectangle 1"/>
          <p:cNvSpPr/>
          <p:nvPr/>
        </p:nvSpPr>
        <p:spPr>
          <a:xfrm>
            <a:off x="731520" y="0"/>
            <a:ext cx="10728655" cy="36576"/>
          </a:xfrm>
          <a:prstGeom prst="rect">
            <a:avLst/>
          </a:prstGeom>
          <a:solidFill>
            <a:srgbClr val="00D4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1051560"/>
          </a:xfrm>
          <a:prstGeom prst="rect">
            <a:avLst/>
          </a:prstGeom>
          <a:noFill/>
        </p:spPr>
        <p:txBody>
          <a:bodyPr wrap="square" lIns="0" tIns="0" rIns="0" bIns="0">
            <a:spAutoFit/>
          </a:bodyPr>
          <a:lstStyle/>
          <a:p>
            <a:pPr>
              <a:defRPr sz="950" b="1">
                <a:solidFill>
                  <a:srgbClr val="00D4B2"/>
                </a:solidFill>
              </a:defRPr>
            </a:pPr>
            <a:r>
              <a:t>BIOMEDICAL FOUNDATIONS I</a:t>
            </a:r>
          </a:p>
          <a:p>
            <a:pPr>
              <a:spcBef>
                <a:spcPts val="200"/>
              </a:spcBef>
              <a:defRPr sz="2100" b="1">
                <a:solidFill>
                  <a:srgbClr val="FFFFFF"/>
                </a:solidFill>
              </a:defRPr>
            </a:pPr>
            <a:r>
              <a:t>The Central Dogma: DNA, Genes, Variants, and Proteins</a:t>
            </a:r>
          </a:p>
          <a:p>
            <a:pPr>
              <a:spcBef>
                <a:spcPts val="200"/>
              </a:spcBef>
              <a:defRPr sz="1100">
                <a:solidFill>
                  <a:srgbClr val="94A3B8"/>
                </a:solidFill>
              </a:defRPr>
            </a:pPr>
            <a:r>
              <a:t>Establishing genomic first principles for multidisciplinary academic examination</a:t>
            </a:r>
          </a:p>
        </p:txBody>
      </p:sp>
      <p:sp>
        <p:nvSpPr>
          <p:cNvPr id="4" name="Rounded Rectangle 3"/>
          <p:cNvSpPr/>
          <p:nvPr/>
        </p:nvSpPr>
        <p:spPr>
          <a:xfrm>
            <a:off x="731520" y="1554480"/>
            <a:ext cx="2514600" cy="2194560"/>
          </a:xfrm>
          <a:prstGeom prst="roundRect">
            <a:avLst/>
          </a:prstGeom>
          <a:solidFill>
            <a:srgbClr val="0F243A"/>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691640"/>
            <a:ext cx="2240280" cy="1920240"/>
          </a:xfrm>
          <a:prstGeom prst="rect">
            <a:avLst/>
          </a:prstGeom>
          <a:noFill/>
        </p:spPr>
        <p:txBody>
          <a:bodyPr wrap="square">
            <a:spAutoFit/>
          </a:bodyPr>
          <a:lstStyle/>
          <a:p>
            <a:pPr>
              <a:defRPr sz="1300" b="1">
                <a:solidFill>
                  <a:srgbClr val="38BDF8"/>
                </a:solidFill>
              </a:defRPr>
            </a:pPr>
            <a:r>
              <a:t>01. DNA</a:t>
            </a:r>
          </a:p>
          <a:p>
            <a:pPr>
              <a:spcBef>
                <a:spcPts val="200"/>
              </a:spcBef>
              <a:defRPr sz="950" b="1">
                <a:solidFill>
                  <a:srgbClr val="FFFFFF"/>
                </a:solidFill>
              </a:defRPr>
            </a:pPr>
            <a:r>
              <a:t>3.1 Billion Base Pairs</a:t>
            </a:r>
          </a:p>
          <a:p>
            <a:pPr>
              <a:spcBef>
                <a:spcPts val="500"/>
              </a:spcBef>
              <a:defRPr sz="900">
                <a:solidFill>
                  <a:srgbClr val="94A3B8"/>
                </a:solidFill>
              </a:defRPr>
            </a:pPr>
            <a:r>
              <a:t>Double-helix genetic code composed of Adenine, Thymine, Cytosine, and Guanine across 23 chromosome pairs.</a:t>
            </a:r>
          </a:p>
        </p:txBody>
      </p:sp>
      <p:sp>
        <p:nvSpPr>
          <p:cNvPr id="6" name="Rounded Rectangle 5"/>
          <p:cNvSpPr/>
          <p:nvPr/>
        </p:nvSpPr>
        <p:spPr>
          <a:xfrm>
            <a:off x="3465576" y="1554480"/>
            <a:ext cx="2514600" cy="2194560"/>
          </a:xfrm>
          <a:prstGeom prst="roundRect">
            <a:avLst/>
          </a:prstGeom>
          <a:solidFill>
            <a:srgbClr val="0F243A"/>
          </a:solidFill>
          <a:ln w="12700">
            <a:solidFill>
              <a:srgbClr val="00D4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02736" y="1691640"/>
            <a:ext cx="2240280" cy="1920240"/>
          </a:xfrm>
          <a:prstGeom prst="rect">
            <a:avLst/>
          </a:prstGeom>
          <a:noFill/>
        </p:spPr>
        <p:txBody>
          <a:bodyPr wrap="square">
            <a:spAutoFit/>
          </a:bodyPr>
          <a:lstStyle/>
          <a:p>
            <a:pPr>
              <a:defRPr sz="1300" b="1">
                <a:solidFill>
                  <a:srgbClr val="00D4B2"/>
                </a:solidFill>
              </a:defRPr>
            </a:pPr>
            <a:r>
              <a:t>02. GENE</a:t>
            </a:r>
          </a:p>
          <a:p>
            <a:pPr>
              <a:spcBef>
                <a:spcPts val="200"/>
              </a:spcBef>
              <a:defRPr sz="950" b="1">
                <a:solidFill>
                  <a:srgbClr val="FFFFFF"/>
                </a:solidFill>
              </a:defRPr>
            </a:pPr>
            <a:r>
              <a:t>~20,000 Coding Units</a:t>
            </a:r>
          </a:p>
          <a:p>
            <a:pPr>
              <a:spcBef>
                <a:spcPts val="500"/>
              </a:spcBef>
              <a:defRPr sz="900">
                <a:solidFill>
                  <a:srgbClr val="94A3B8"/>
                </a:solidFill>
              </a:defRPr>
            </a:pPr>
            <a:r>
              <a:t>Contiguous DNA segments that transcribe into messenger RNA (mRNA) to direct functional cellular machinery.</a:t>
            </a:r>
          </a:p>
        </p:txBody>
      </p:sp>
      <p:sp>
        <p:nvSpPr>
          <p:cNvPr id="8" name="Rounded Rectangle 7"/>
          <p:cNvSpPr/>
          <p:nvPr/>
        </p:nvSpPr>
        <p:spPr>
          <a:xfrm>
            <a:off x="6199632" y="1554480"/>
            <a:ext cx="2514600" cy="2194560"/>
          </a:xfrm>
          <a:prstGeom prst="roundRect">
            <a:avLst/>
          </a:prstGeom>
          <a:solidFill>
            <a:srgbClr val="0F243A"/>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36792" y="1691640"/>
            <a:ext cx="2240280" cy="1920240"/>
          </a:xfrm>
          <a:prstGeom prst="rect">
            <a:avLst/>
          </a:prstGeom>
          <a:noFill/>
        </p:spPr>
        <p:txBody>
          <a:bodyPr wrap="square">
            <a:spAutoFit/>
          </a:bodyPr>
          <a:lstStyle/>
          <a:p>
            <a:pPr>
              <a:defRPr sz="1300" b="1">
                <a:solidFill>
                  <a:srgbClr val="F59E0B"/>
                </a:solidFill>
              </a:defRPr>
            </a:pPr>
            <a:r>
              <a:t>03. VARIANT</a:t>
            </a:r>
          </a:p>
          <a:p>
            <a:pPr>
              <a:spcBef>
                <a:spcPts val="200"/>
              </a:spcBef>
              <a:defRPr sz="950" b="1">
                <a:solidFill>
                  <a:srgbClr val="FFFFFF"/>
                </a:solidFill>
              </a:defRPr>
            </a:pPr>
            <a:r>
              <a:t>Permanent Alteration</a:t>
            </a:r>
          </a:p>
          <a:p>
            <a:pPr>
              <a:spcBef>
                <a:spcPts val="500"/>
              </a:spcBef>
              <a:defRPr sz="900">
                <a:solidFill>
                  <a:srgbClr val="94A3B8"/>
                </a:solidFill>
              </a:defRPr>
            </a:pPr>
            <a:r>
              <a:t>Nucleotide change (substitution, insertion, deletion) relative to the reference human genome assembly.</a:t>
            </a:r>
          </a:p>
        </p:txBody>
      </p:sp>
      <p:sp>
        <p:nvSpPr>
          <p:cNvPr id="10" name="Rounded Rectangle 9"/>
          <p:cNvSpPr/>
          <p:nvPr/>
        </p:nvSpPr>
        <p:spPr>
          <a:xfrm>
            <a:off x="8933688" y="1554480"/>
            <a:ext cx="2514600" cy="2194560"/>
          </a:xfrm>
          <a:prstGeom prst="roundRect">
            <a:avLst/>
          </a:prstGeom>
          <a:solidFill>
            <a:srgbClr val="0F243A"/>
          </a:solidFill>
          <a:ln w="1270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070848" y="1691640"/>
            <a:ext cx="2240280" cy="1920240"/>
          </a:xfrm>
          <a:prstGeom prst="rect">
            <a:avLst/>
          </a:prstGeom>
          <a:noFill/>
        </p:spPr>
        <p:txBody>
          <a:bodyPr wrap="square">
            <a:spAutoFit/>
          </a:bodyPr>
          <a:lstStyle/>
          <a:p>
            <a:pPr>
              <a:defRPr sz="1300" b="1">
                <a:solidFill>
                  <a:srgbClr val="A855F7"/>
                </a:solidFill>
              </a:defRPr>
            </a:pPr>
            <a:r>
              <a:t>04. PROTEIN</a:t>
            </a:r>
          </a:p>
          <a:p>
            <a:pPr>
              <a:spcBef>
                <a:spcPts val="200"/>
              </a:spcBef>
              <a:defRPr sz="950" b="1">
                <a:solidFill>
                  <a:srgbClr val="FFFFFF"/>
                </a:solidFill>
              </a:defRPr>
            </a:pPr>
            <a:r>
              <a:t>Biological Product</a:t>
            </a:r>
          </a:p>
          <a:p>
            <a:pPr>
              <a:spcBef>
                <a:spcPts val="500"/>
              </a:spcBef>
              <a:defRPr sz="900">
                <a:solidFill>
                  <a:srgbClr val="94A3B8"/>
                </a:solidFill>
              </a:defRPr>
            </a:pPr>
            <a:r>
              <a:t>Folded polypeptide chains forming structural elements and enzymes. Missense/nonsense changes alter function.</a:t>
            </a:r>
          </a:p>
        </p:txBody>
      </p:sp>
      <p:sp>
        <p:nvSpPr>
          <p:cNvPr id="12" name="Rounded Rectangle 11"/>
          <p:cNvSpPr/>
          <p:nvPr/>
        </p:nvSpPr>
        <p:spPr>
          <a:xfrm>
            <a:off x="731520" y="3977639"/>
            <a:ext cx="10728655" cy="2286000"/>
          </a:xfrm>
          <a:prstGeom prst="roundRect">
            <a:avLst/>
          </a:prstGeom>
          <a:solidFill>
            <a:srgbClr val="0F243A"/>
          </a:solidFill>
          <a:ln w="12700">
            <a:solidFill>
              <a:srgbClr val="1E40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4114800"/>
            <a:ext cx="10362895" cy="2011680"/>
          </a:xfrm>
          <a:prstGeom prst="rect">
            <a:avLst/>
          </a:prstGeom>
          <a:noFill/>
        </p:spPr>
        <p:txBody>
          <a:bodyPr wrap="square">
            <a:spAutoFit/>
          </a:bodyPr>
          <a:lstStyle/>
          <a:p>
            <a:pPr>
              <a:defRPr sz="1100" b="1">
                <a:solidFill>
                  <a:srgbClr val="00D4B2"/>
                </a:solidFill>
              </a:defRPr>
            </a:pPr>
            <a:r>
              <a:t>POPULATION GENOMICS: BENIGN POLYMORPHISMS VS. DAMAGING MONOGENIC MUTATIONS</a:t>
            </a:r>
          </a:p>
          <a:p>
            <a:pPr>
              <a:spcBef>
                <a:spcPts val="400"/>
              </a:spcBef>
              <a:defRPr sz="1000">
                <a:solidFill>
                  <a:srgbClr val="F1F5F9"/>
                </a:solidFill>
              </a:defRPr>
            </a:pPr>
            <a:r>
              <a:t>• Human Genomic Diversity: Every individual carries 4 to 5 million genetic variants across their genome; 99.9% are harmless polymorphisms.</a:t>
            </a:r>
          </a:p>
          <a:p>
            <a:pPr>
              <a:spcBef>
                <a:spcPts val="300"/>
              </a:spcBef>
              <a:defRPr sz="1000">
                <a:solidFill>
                  <a:srgbClr val="F1F5F9"/>
                </a:solidFill>
              </a:defRPr>
            </a:pPr>
            <a:r>
              <a:t>• Missense Substitutions: A single nucleotide change replaces an amino acid. May be benign or disrupt active catalytic binding pockets.</a:t>
            </a:r>
          </a:p>
          <a:p>
            <a:pPr>
              <a:spcBef>
                <a:spcPts val="300"/>
              </a:spcBef>
              <a:defRPr sz="1000">
                <a:solidFill>
                  <a:srgbClr val="F1F5F9"/>
                </a:solidFill>
              </a:defRPr>
            </a:pPr>
            <a:r>
              <a:t>• Truncating / Nonsense Mutations: Converts an amino acid codon into a premature stop codon, causing haploinsufficiency or nonsense-mediated decay.</a:t>
            </a:r>
          </a:p>
          <a:p>
            <a:pPr>
              <a:spcBef>
                <a:spcPts val="300"/>
              </a:spcBef>
              <a:defRPr sz="1000" b="1">
                <a:solidFill>
                  <a:srgbClr val="10B981"/>
                </a:solidFill>
              </a:defRPr>
            </a:pPr>
            <a:r>
              <a:t>• The Population Frequency Rule (gnomAD): If an allele is observed at high frequency (&gt;5%) in healthy global populations, it cannot cause a severe rare childhood disease.</a:t>
            </a:r>
          </a:p>
        </p:txBody>
      </p:sp>
      <p:sp>
        <p:nvSpPr>
          <p:cNvPr id="14" name="TextBox 13"/>
          <p:cNvSpPr txBox="1"/>
          <p:nvPr/>
        </p:nvSpPr>
        <p:spPr>
          <a:xfrm>
            <a:off x="731520" y="6473952"/>
            <a:ext cx="10728655" cy="274320"/>
          </a:xfrm>
          <a:prstGeom prst="rect">
            <a:avLst/>
          </a:prstGeom>
          <a:noFill/>
        </p:spPr>
        <p:txBody>
          <a:bodyPr wrap="square" lIns="0" tIns="0" rIns="0" bIns="0">
            <a:spAutoFit/>
          </a:bodyPr>
          <a:lstStyle/>
          <a:p>
            <a:pPr>
              <a:defRPr sz="850">
                <a:solidFill>
                  <a:srgbClr val="64748B"/>
                </a:solidFill>
              </a:defRPr>
            </a:pPr>
            <a:r>
              <a:t>CuraCascade V2  |  Academic Defense  |  VIT School of Computer Science &amp; Engineering  |  Slide 04 of 25</a:t>
            </a:r>
          </a:p>
        </p:txBody>
      </p:sp>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71426"/>
        </a:solidFill>
        <a:effectLst/>
      </p:bgPr>
    </p:bg>
    <p:spTree>
      <p:nvGrpSpPr>
        <p:cNvPr id="1" name=""/>
        <p:cNvGrpSpPr/>
        <p:nvPr/>
      </p:nvGrpSpPr>
      <p:grpSpPr/>
      <p:sp>
        <p:nvSpPr>
          <p:cNvPr id="2" name="Rectangle 1"/>
          <p:cNvSpPr/>
          <p:nvPr/>
        </p:nvSpPr>
        <p:spPr>
          <a:xfrm>
            <a:off x="731520" y="0"/>
            <a:ext cx="10728655" cy="36576"/>
          </a:xfrm>
          <a:prstGeom prst="rect">
            <a:avLst/>
          </a:prstGeom>
          <a:solidFill>
            <a:srgbClr val="00D4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1051560"/>
          </a:xfrm>
          <a:prstGeom prst="rect">
            <a:avLst/>
          </a:prstGeom>
          <a:noFill/>
        </p:spPr>
        <p:txBody>
          <a:bodyPr wrap="square" lIns="0" tIns="0" rIns="0" bIns="0">
            <a:spAutoFit/>
          </a:bodyPr>
          <a:lstStyle/>
          <a:p>
            <a:pPr>
              <a:defRPr sz="950" b="1">
                <a:solidFill>
                  <a:srgbClr val="00D4B2"/>
                </a:solidFill>
              </a:defRPr>
            </a:pPr>
            <a:r>
              <a:t>BIOMEDICAL FOUNDATIONS II</a:t>
            </a:r>
          </a:p>
          <a:p>
            <a:pPr>
              <a:spcBef>
                <a:spcPts val="200"/>
              </a:spcBef>
              <a:defRPr sz="2100" b="1">
                <a:solidFill>
                  <a:srgbClr val="FFFFFF"/>
                </a:solidFill>
              </a:defRPr>
            </a:pPr>
            <a:r>
              <a:t>Gene Validity vs. Variant Pathogenicity</a:t>
            </a:r>
          </a:p>
          <a:p>
            <a:pPr>
              <a:spcBef>
                <a:spcPts val="200"/>
              </a:spcBef>
              <a:defRPr sz="1100">
                <a:solidFill>
                  <a:srgbClr val="94A3B8"/>
                </a:solidFill>
              </a:defRPr>
            </a:pPr>
            <a:r>
              <a:t>The fundamental conceptual distinction that underpins the entire CuraCascade audit architecture</a:t>
            </a:r>
          </a:p>
        </p:txBody>
      </p:sp>
      <p:sp>
        <p:nvSpPr>
          <p:cNvPr id="4" name="Rounded Rectangle 3"/>
          <p:cNvSpPr/>
          <p:nvPr/>
        </p:nvSpPr>
        <p:spPr>
          <a:xfrm>
            <a:off x="731520" y="1554480"/>
            <a:ext cx="5212080" cy="3383280"/>
          </a:xfrm>
          <a:prstGeom prst="roundRect">
            <a:avLst/>
          </a:prstGeom>
          <a:solidFill>
            <a:srgbClr val="0F243A"/>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91640"/>
            <a:ext cx="4846320" cy="3108960"/>
          </a:xfrm>
          <a:prstGeom prst="rect">
            <a:avLst/>
          </a:prstGeom>
          <a:noFill/>
        </p:spPr>
        <p:txBody>
          <a:bodyPr wrap="square">
            <a:spAutoFit/>
          </a:bodyPr>
          <a:lstStyle/>
          <a:p>
            <a:pPr>
              <a:defRPr sz="1100" b="1">
                <a:solidFill>
                  <a:srgbClr val="38BDF8"/>
                </a:solidFill>
              </a:defRPr>
            </a:pPr>
            <a:r>
              <a:t>GENE-LEVEL CLINICAL VALIDITY (ClinGen)</a:t>
            </a:r>
          </a:p>
          <a:p>
            <a:pPr>
              <a:spcBef>
                <a:spcPts val="400"/>
              </a:spcBef>
              <a:defRPr sz="1100" b="1">
                <a:solidFill>
                  <a:srgbClr val="FFFFFF"/>
                </a:solidFill>
              </a:defRPr>
            </a:pPr>
            <a:r>
              <a:t>Primary Question: 'Does variation in Gene X cause Disease Y?'</a:t>
            </a:r>
          </a:p>
          <a:p>
            <a:pPr>
              <a:spcBef>
                <a:spcPts val="300"/>
              </a:spcBef>
              <a:defRPr sz="950">
                <a:solidFill>
                  <a:srgbClr val="F1F5F9"/>
                </a:solidFill>
              </a:defRPr>
            </a:pPr>
            <a:r>
              <a:t>• Curated by ClinGen Gene Curation Expert Panels (GCEPs).</a:t>
            </a:r>
          </a:p>
          <a:p>
            <a:pPr>
              <a:spcBef>
                <a:spcPts val="300"/>
              </a:spcBef>
              <a:defRPr sz="950">
                <a:solidFill>
                  <a:srgbClr val="F1F5F9"/>
                </a:solidFill>
              </a:defRPr>
            </a:pPr>
            <a:r>
              <a:t>• Evaluates human genetic evidence: Mendelian segregation LOD scores, case-control odds ratios.</a:t>
            </a:r>
          </a:p>
          <a:p>
            <a:pPr>
              <a:spcBef>
                <a:spcPts val="300"/>
              </a:spcBef>
              <a:defRPr sz="950">
                <a:solidFill>
                  <a:srgbClr val="F1F5F9"/>
                </a:solidFill>
              </a:defRPr>
            </a:pPr>
            <a:r>
              <a:t>• Evaluates experimental evidence: Knock-out animal models, in vitro biochemical rescue.</a:t>
            </a:r>
          </a:p>
          <a:p>
            <a:pPr>
              <a:spcBef>
                <a:spcPts val="300"/>
              </a:spcBef>
              <a:defRPr sz="950">
                <a:solidFill>
                  <a:srgbClr val="F1F5F9"/>
                </a:solidFill>
              </a:defRPr>
            </a:pPr>
            <a:r>
              <a:t>• Standardized Classification Tiers: Definitive, Strong, Moderate, Limited, Disputed, Refuted.</a:t>
            </a:r>
          </a:p>
          <a:p>
            <a:pPr>
              <a:spcBef>
                <a:spcPts val="300"/>
              </a:spcBef>
              <a:defRPr sz="950">
                <a:solidFill>
                  <a:srgbClr val="F1F5F9"/>
                </a:solidFill>
              </a:defRPr>
            </a:pPr>
            <a:r>
              <a:t>• Unit of Analysis: The Gene–Disease Dyad (e.g., MYH7 — Hypertrophic Cardiomyopathy).</a:t>
            </a:r>
          </a:p>
        </p:txBody>
      </p:sp>
      <p:sp>
        <p:nvSpPr>
          <p:cNvPr id="6" name="Rounded Rectangle 5"/>
          <p:cNvSpPr/>
          <p:nvPr/>
        </p:nvSpPr>
        <p:spPr>
          <a:xfrm>
            <a:off x="6248095" y="1554480"/>
            <a:ext cx="5212080" cy="3383280"/>
          </a:xfrm>
          <a:prstGeom prst="roundRect">
            <a:avLst/>
          </a:prstGeom>
          <a:solidFill>
            <a:srgbClr val="0F243A"/>
          </a:solidFill>
          <a:ln w="12700">
            <a:solidFill>
              <a:srgbClr val="00D4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46520" y="1691640"/>
            <a:ext cx="4846320" cy="3108960"/>
          </a:xfrm>
          <a:prstGeom prst="rect">
            <a:avLst/>
          </a:prstGeom>
          <a:noFill/>
        </p:spPr>
        <p:txBody>
          <a:bodyPr wrap="square">
            <a:spAutoFit/>
          </a:bodyPr>
          <a:lstStyle/>
          <a:p>
            <a:pPr>
              <a:defRPr sz="1100" b="1">
                <a:solidFill>
                  <a:srgbClr val="00D4B2"/>
                </a:solidFill>
              </a:defRPr>
            </a:pPr>
            <a:r>
              <a:t>VARIANT-LEVEL PATHOGENICITY (ClinVar / ACMG)</a:t>
            </a:r>
          </a:p>
          <a:p>
            <a:pPr>
              <a:spcBef>
                <a:spcPts val="400"/>
              </a:spcBef>
              <a:defRPr sz="1100" b="1">
                <a:solidFill>
                  <a:srgbClr val="FFFFFF"/>
                </a:solidFill>
              </a:defRPr>
            </a:pPr>
            <a:r>
              <a:t>Primary Question: 'Does Variant Z alter protein function to cause disease?'</a:t>
            </a:r>
          </a:p>
          <a:p>
            <a:pPr>
              <a:spcBef>
                <a:spcPts val="300"/>
              </a:spcBef>
              <a:defRPr sz="950">
                <a:solidFill>
                  <a:srgbClr val="F1F5F9"/>
                </a:solidFill>
              </a:defRPr>
            </a:pPr>
            <a:r>
              <a:t>• Curated by diagnostic testing laboratories under ACMG/AMP 2015 rules.</a:t>
            </a:r>
          </a:p>
          <a:p>
            <a:pPr>
              <a:spcBef>
                <a:spcPts val="300"/>
              </a:spcBef>
              <a:defRPr sz="950">
                <a:solidFill>
                  <a:srgbClr val="F1F5F9"/>
                </a:solidFill>
              </a:defRPr>
            </a:pPr>
            <a:r>
              <a:t>• Evaluates variant attributes: Population frequency in gnomAD, in silico structural damage.</a:t>
            </a:r>
          </a:p>
          <a:p>
            <a:pPr>
              <a:spcBef>
                <a:spcPts val="300"/>
              </a:spcBef>
              <a:defRPr sz="950">
                <a:solidFill>
                  <a:srgbClr val="F1F5F9"/>
                </a:solidFill>
              </a:defRPr>
            </a:pPr>
            <a:r>
              <a:t>• Evaluates functional assays: Enzyme kinetics, protein stability assays.</a:t>
            </a:r>
          </a:p>
          <a:p>
            <a:pPr>
              <a:spcBef>
                <a:spcPts val="300"/>
              </a:spcBef>
              <a:defRPr sz="950">
                <a:solidFill>
                  <a:srgbClr val="F1F5F9"/>
                </a:solidFill>
              </a:defRPr>
            </a:pPr>
            <a:r>
              <a:t>• 5-Tier Classification: Pathogenic (P), Likely Pathogenic (LP), VUS, Likely Benign (LB), Benign (B).</a:t>
            </a:r>
          </a:p>
          <a:p>
            <a:pPr>
              <a:spcBef>
                <a:spcPts val="300"/>
              </a:spcBef>
              <a:defRPr sz="950">
                <a:solidFill>
                  <a:srgbClr val="F1F5F9"/>
                </a:solidFill>
              </a:defRPr>
            </a:pPr>
            <a:r>
              <a:t>• Unit of Analysis: The Specific Allele (e.g., NM_000257.4:c.2119C&gt;T, p.Arg707Ter).</a:t>
            </a:r>
          </a:p>
        </p:txBody>
      </p:sp>
      <p:sp>
        <p:nvSpPr>
          <p:cNvPr id="8" name="Rounded Rectangle 7"/>
          <p:cNvSpPr/>
          <p:nvPr/>
        </p:nvSpPr>
        <p:spPr>
          <a:xfrm>
            <a:off x="731520" y="5074920"/>
            <a:ext cx="10728655" cy="1188720"/>
          </a:xfrm>
          <a:prstGeom prst="roundRect">
            <a:avLst/>
          </a:prstGeom>
          <a:solidFill>
            <a:srgbClr val="16375A"/>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166360"/>
            <a:ext cx="10362895" cy="1005840"/>
          </a:xfrm>
          <a:prstGeom prst="rect">
            <a:avLst/>
          </a:prstGeom>
          <a:noFill/>
        </p:spPr>
        <p:txBody>
          <a:bodyPr wrap="square">
            <a:spAutoFit/>
          </a:bodyPr>
          <a:lstStyle/>
          <a:p>
            <a:pPr>
              <a:defRPr sz="1050" b="1">
                <a:solidFill>
                  <a:srgbClr val="EF4444"/>
                </a:solidFill>
              </a:defRPr>
            </a:pPr>
            <a:r>
              <a:t>⚠️ THE CENTRAL VULNERABILITY: VARIANT PATHOGENICITY IS STRICTLY CONDITIONAL UPON GENE VALIDITY</a:t>
            </a:r>
          </a:p>
          <a:p>
            <a:pPr>
              <a:spcBef>
                <a:spcPts val="300"/>
              </a:spcBef>
              <a:defRPr sz="950">
                <a:solidFill>
                  <a:srgbClr val="FFFFFF"/>
                </a:solidFill>
              </a:defRPr>
            </a:pPr>
            <a:r>
              <a:t>Even if a variant severely truncates protein synthesis, if the gene itself is REFUTED for that disease, classifying the variant as 'Pathogenic' for that disease is biologically contradictory. A variant cannot cause a condition if the gene does not. CuraCascade was engineered to detect this exact contradiction.</a:t>
            </a:r>
          </a:p>
        </p:txBody>
      </p:sp>
      <p:sp>
        <p:nvSpPr>
          <p:cNvPr id="10" name="TextBox 9"/>
          <p:cNvSpPr txBox="1"/>
          <p:nvPr/>
        </p:nvSpPr>
        <p:spPr>
          <a:xfrm>
            <a:off x="731520" y="6473952"/>
            <a:ext cx="10728655" cy="274320"/>
          </a:xfrm>
          <a:prstGeom prst="rect">
            <a:avLst/>
          </a:prstGeom>
          <a:noFill/>
        </p:spPr>
        <p:txBody>
          <a:bodyPr wrap="square" lIns="0" tIns="0" rIns="0" bIns="0">
            <a:spAutoFit/>
          </a:bodyPr>
          <a:lstStyle/>
          <a:p>
            <a:pPr>
              <a:defRPr sz="850">
                <a:solidFill>
                  <a:srgbClr val="64748B"/>
                </a:solidFill>
              </a:defRPr>
            </a:pPr>
            <a:r>
              <a:t>CuraCascade V2  |  Academic Defense  |  VIT School of Computer Science &amp; Engineering  |  Slide 05 of 25</a:t>
            </a:r>
          </a:p>
        </p:txBody>
      </p:sp>
    </p:spTree>
  </p:cSld>
  <p:clrMapOvr>
    <a:masterClrMapping/>
  </p:clrMapOvr>
  <p:transition spd="med">
    <p:fade/>
  </p:transition>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71426"/>
        </a:solidFill>
        <a:effectLst/>
      </p:bgPr>
    </p:bg>
    <p:spTree>
      <p:nvGrpSpPr>
        <p:cNvPr id="1" name=""/>
        <p:cNvGrpSpPr/>
        <p:nvPr/>
      </p:nvGrpSpPr>
      <p:grpSpPr/>
      <p:sp>
        <p:nvSpPr>
          <p:cNvPr id="2" name="Rectangle 1"/>
          <p:cNvSpPr/>
          <p:nvPr/>
        </p:nvSpPr>
        <p:spPr>
          <a:xfrm>
            <a:off x="731520" y="0"/>
            <a:ext cx="10728655" cy="36576"/>
          </a:xfrm>
          <a:prstGeom prst="rect">
            <a:avLst/>
          </a:prstGeom>
          <a:solidFill>
            <a:srgbClr val="00D4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1051560"/>
          </a:xfrm>
          <a:prstGeom prst="rect">
            <a:avLst/>
          </a:prstGeom>
          <a:noFill/>
        </p:spPr>
        <p:txBody>
          <a:bodyPr wrap="square" lIns="0" tIns="0" rIns="0" bIns="0">
            <a:spAutoFit/>
          </a:bodyPr>
          <a:lstStyle/>
          <a:p>
            <a:pPr>
              <a:defRPr sz="950" b="1">
                <a:solidFill>
                  <a:srgbClr val="00D4B2"/>
                </a:solidFill>
              </a:defRPr>
            </a:pPr>
            <a:r>
              <a:t>THE DATA ECOSYSTEM</a:t>
            </a:r>
          </a:p>
          <a:p>
            <a:pPr>
              <a:spcBef>
                <a:spcPts val="200"/>
              </a:spcBef>
              <a:defRPr sz="2100" b="1">
                <a:solidFill>
                  <a:srgbClr val="FFFFFF"/>
                </a:solidFill>
              </a:defRPr>
            </a:pPr>
            <a:r>
              <a:t>The Public Genomic Intelligence Ecosystem</a:t>
            </a:r>
          </a:p>
          <a:p>
            <a:pPr>
              <a:spcBef>
                <a:spcPts val="200"/>
              </a:spcBef>
              <a:defRPr sz="1100">
                <a:solidFill>
                  <a:srgbClr val="94A3B8"/>
                </a:solidFill>
              </a:defRPr>
            </a:pPr>
            <a:r>
              <a:t>Mapping the roles, granularities, and governance of primary biomedical data repositories</a:t>
            </a:r>
          </a:p>
        </p:txBody>
      </p:sp>
      <p:sp>
        <p:nvSpPr>
          <p:cNvPr id="4" name="Rounded Rectangle 3"/>
          <p:cNvSpPr/>
          <p:nvPr/>
        </p:nvSpPr>
        <p:spPr>
          <a:xfrm>
            <a:off x="731520" y="1554480"/>
            <a:ext cx="1965960" cy="4709160"/>
          </a:xfrm>
          <a:prstGeom prst="roundRect">
            <a:avLst/>
          </a:prstGeom>
          <a:solidFill>
            <a:srgbClr val="0F243A"/>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691640"/>
            <a:ext cx="1746504" cy="4389120"/>
          </a:xfrm>
          <a:prstGeom prst="rect">
            <a:avLst/>
          </a:prstGeom>
          <a:noFill/>
        </p:spPr>
        <p:txBody>
          <a:bodyPr wrap="square">
            <a:spAutoFit/>
          </a:bodyPr>
          <a:lstStyle/>
          <a:p>
            <a:pPr>
              <a:defRPr sz="1400" b="1">
                <a:solidFill>
                  <a:srgbClr val="38BDF8"/>
                </a:solidFill>
              </a:defRPr>
            </a:pPr>
            <a:r>
              <a:t>ClinGen</a:t>
            </a:r>
          </a:p>
          <a:p>
            <a:pPr>
              <a:spcBef>
                <a:spcPts val="200"/>
              </a:spcBef>
              <a:defRPr sz="900" b="1">
                <a:solidFill>
                  <a:srgbClr val="FFFFFF"/>
                </a:solidFill>
              </a:defRPr>
            </a:pPr>
            <a:r>
              <a:t>Gene Validity Authority</a:t>
            </a:r>
          </a:p>
          <a:p>
            <a:pPr>
              <a:spcBef>
                <a:spcPts val="600"/>
              </a:spcBef>
              <a:defRPr sz="850">
                <a:solidFill>
                  <a:srgbClr val="F1F5F9"/>
                </a:solidFill>
              </a:defRPr>
            </a:pPr>
            <a:r>
              <a:t>NIH-funded expert consortium curating gene–disease validity (Definitive to Refuted) and dosage sensitivity.</a:t>
            </a:r>
          </a:p>
          <a:p>
            <a:pPr>
              <a:spcBef>
                <a:spcPts val="800"/>
              </a:spcBef>
              <a:defRPr sz="850" b="1">
                <a:solidFill>
                  <a:srgbClr val="38BDF8"/>
                </a:solidFill>
              </a:defRPr>
            </a:pPr>
            <a:r>
              <a:t>Key Attributes:</a:t>
            </a:r>
          </a:p>
          <a:p>
            <a:pPr>
              <a:spcBef>
                <a:spcPts val="200"/>
              </a:spcBef>
              <a:defRPr sz="800">
                <a:solidFill>
                  <a:srgbClr val="94A3B8"/>
                </a:solidFill>
              </a:defRPr>
            </a:pPr>
            <a:r>
              <a:t>Weekly curations, MONDO disease ontologies, ~2,000 curated dyads.</a:t>
            </a:r>
          </a:p>
        </p:txBody>
      </p:sp>
      <p:sp>
        <p:nvSpPr>
          <p:cNvPr id="6" name="Rounded Rectangle 5"/>
          <p:cNvSpPr/>
          <p:nvPr/>
        </p:nvSpPr>
        <p:spPr>
          <a:xfrm>
            <a:off x="2916935" y="1554480"/>
            <a:ext cx="1965960" cy="4709160"/>
          </a:xfrm>
          <a:prstGeom prst="roundRect">
            <a:avLst/>
          </a:prstGeom>
          <a:solidFill>
            <a:srgbClr val="0F243A"/>
          </a:solidFill>
          <a:ln w="12700">
            <a:solidFill>
              <a:srgbClr val="00D4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026663" y="1691640"/>
            <a:ext cx="1746504" cy="4389120"/>
          </a:xfrm>
          <a:prstGeom prst="rect">
            <a:avLst/>
          </a:prstGeom>
          <a:noFill/>
        </p:spPr>
        <p:txBody>
          <a:bodyPr wrap="square">
            <a:spAutoFit/>
          </a:bodyPr>
          <a:lstStyle/>
          <a:p>
            <a:pPr>
              <a:defRPr sz="1400" b="1">
                <a:solidFill>
                  <a:srgbClr val="00D4B2"/>
                </a:solidFill>
              </a:defRPr>
            </a:pPr>
            <a:r>
              <a:t>NCBI ClinVar</a:t>
            </a:r>
          </a:p>
          <a:p>
            <a:pPr>
              <a:spcBef>
                <a:spcPts val="200"/>
              </a:spcBef>
              <a:defRPr sz="900" b="1">
                <a:solidFill>
                  <a:srgbClr val="FFFFFF"/>
                </a:solidFill>
              </a:defRPr>
            </a:pPr>
            <a:r>
              <a:t>Variant Assertions</a:t>
            </a:r>
          </a:p>
          <a:p>
            <a:pPr>
              <a:spcBef>
                <a:spcPts val="600"/>
              </a:spcBef>
              <a:defRPr sz="850">
                <a:solidFill>
                  <a:srgbClr val="F1F5F9"/>
                </a:solidFill>
              </a:defRPr>
            </a:pPr>
            <a:r>
              <a:t>Public archive of variant-level clinical interpretations submitted by commercial and academic laboratories.</a:t>
            </a:r>
          </a:p>
          <a:p>
            <a:pPr>
              <a:spcBef>
                <a:spcPts val="800"/>
              </a:spcBef>
              <a:defRPr sz="850" b="1">
                <a:solidFill>
                  <a:srgbClr val="00D4B2"/>
                </a:solidFill>
              </a:defRPr>
            </a:pPr>
            <a:r>
              <a:t>Key Attributes:</a:t>
            </a:r>
          </a:p>
          <a:p>
            <a:pPr>
              <a:spcBef>
                <a:spcPts val="200"/>
              </a:spcBef>
              <a:defRPr sz="800">
                <a:solidFill>
                  <a:srgbClr val="94A3B8"/>
                </a:solidFill>
              </a:defRPr>
            </a:pPr>
            <a:r>
              <a:t>Daily submissions, MedGen disease IDs, &gt;3.5 million variant assertions.</a:t>
            </a:r>
          </a:p>
        </p:txBody>
      </p:sp>
      <p:sp>
        <p:nvSpPr>
          <p:cNvPr id="8" name="Rounded Rectangle 7"/>
          <p:cNvSpPr/>
          <p:nvPr/>
        </p:nvSpPr>
        <p:spPr>
          <a:xfrm>
            <a:off x="5102351" y="1554480"/>
            <a:ext cx="1965960" cy="4709160"/>
          </a:xfrm>
          <a:prstGeom prst="roundRect">
            <a:avLst/>
          </a:prstGeom>
          <a:solidFill>
            <a:srgbClr val="0F243A"/>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212079" y="1691640"/>
            <a:ext cx="1746504" cy="4389120"/>
          </a:xfrm>
          <a:prstGeom prst="rect">
            <a:avLst/>
          </a:prstGeom>
          <a:noFill/>
        </p:spPr>
        <p:txBody>
          <a:bodyPr wrap="square">
            <a:spAutoFit/>
          </a:bodyPr>
          <a:lstStyle/>
          <a:p>
            <a:pPr>
              <a:defRPr sz="1400" b="1">
                <a:solidFill>
                  <a:srgbClr val="10B981"/>
                </a:solidFill>
              </a:defRPr>
            </a:pPr>
            <a:r>
              <a:t>PanelApp</a:t>
            </a:r>
          </a:p>
          <a:p>
            <a:pPr>
              <a:spcBef>
                <a:spcPts val="200"/>
              </a:spcBef>
              <a:defRPr sz="900" b="1">
                <a:solidFill>
                  <a:srgbClr val="FFFFFF"/>
                </a:solidFill>
              </a:defRPr>
            </a:pPr>
            <a:r>
              <a:t>Diagnostic Gene Panels</a:t>
            </a:r>
          </a:p>
          <a:p>
            <a:pPr>
              <a:spcBef>
                <a:spcPts val="600"/>
              </a:spcBef>
              <a:defRPr sz="850">
                <a:solidFill>
                  <a:srgbClr val="F1F5F9"/>
                </a:solidFill>
              </a:defRPr>
            </a:pPr>
            <a:r>
              <a:t>Genomics England platform grading gene inclusions via a traffic-light tier (Green=Diagnostic, Amber, Red).</a:t>
            </a:r>
          </a:p>
          <a:p>
            <a:pPr>
              <a:spcBef>
                <a:spcPts val="800"/>
              </a:spcBef>
              <a:defRPr sz="850" b="1">
                <a:solidFill>
                  <a:srgbClr val="10B981"/>
                </a:solidFill>
              </a:defRPr>
            </a:pPr>
            <a:r>
              <a:t>Key Attributes:</a:t>
            </a:r>
          </a:p>
          <a:p>
            <a:pPr>
              <a:spcBef>
                <a:spcPts val="200"/>
              </a:spcBef>
              <a:defRPr sz="800">
                <a:solidFill>
                  <a:srgbClr val="94A3B8"/>
                </a:solidFill>
              </a:defRPr>
            </a:pPr>
            <a:r>
              <a:t>Crowdsourced expert consensus, 500+ disease-specific panels.</a:t>
            </a:r>
          </a:p>
        </p:txBody>
      </p:sp>
      <p:sp>
        <p:nvSpPr>
          <p:cNvPr id="10" name="Rounded Rectangle 9"/>
          <p:cNvSpPr/>
          <p:nvPr/>
        </p:nvSpPr>
        <p:spPr>
          <a:xfrm>
            <a:off x="7287767" y="1554480"/>
            <a:ext cx="1965960" cy="4709160"/>
          </a:xfrm>
          <a:prstGeom prst="roundRect">
            <a:avLst/>
          </a:prstGeom>
          <a:solidFill>
            <a:srgbClr val="0F243A"/>
          </a:solidFill>
          <a:ln w="1270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97495" y="1691640"/>
            <a:ext cx="1746504" cy="4389120"/>
          </a:xfrm>
          <a:prstGeom prst="rect">
            <a:avLst/>
          </a:prstGeom>
          <a:noFill/>
        </p:spPr>
        <p:txBody>
          <a:bodyPr wrap="square">
            <a:spAutoFit/>
          </a:bodyPr>
          <a:lstStyle/>
          <a:p>
            <a:pPr>
              <a:defRPr sz="1400" b="1">
                <a:solidFill>
                  <a:srgbClr val="A855F7"/>
                </a:solidFill>
              </a:defRPr>
            </a:pPr>
            <a:r>
              <a:t>gnomAD</a:t>
            </a:r>
          </a:p>
          <a:p>
            <a:pPr>
              <a:spcBef>
                <a:spcPts val="200"/>
              </a:spcBef>
              <a:defRPr sz="900" b="1">
                <a:solidFill>
                  <a:srgbClr val="FFFFFF"/>
                </a:solidFill>
              </a:defRPr>
            </a:pPr>
            <a:r>
              <a:t>Population Frequencies</a:t>
            </a:r>
          </a:p>
          <a:p>
            <a:pPr>
              <a:spcBef>
                <a:spcPts val="600"/>
              </a:spcBef>
              <a:defRPr sz="850">
                <a:solidFill>
                  <a:srgbClr val="F1F5F9"/>
                </a:solidFill>
              </a:defRPr>
            </a:pPr>
            <a:r>
              <a:t>Global reference database of allele frequencies across &gt;140,000 exomes/genomes used to establish rarity.</a:t>
            </a:r>
          </a:p>
          <a:p>
            <a:pPr>
              <a:spcBef>
                <a:spcPts val="800"/>
              </a:spcBef>
              <a:defRPr sz="850" b="1">
                <a:solidFill>
                  <a:srgbClr val="A855F7"/>
                </a:solidFill>
              </a:defRPr>
            </a:pPr>
            <a:r>
              <a:t>Key Attributes:</a:t>
            </a:r>
          </a:p>
          <a:p>
            <a:pPr>
              <a:spcBef>
                <a:spcPts val="200"/>
              </a:spcBef>
              <a:defRPr sz="800">
                <a:solidFill>
                  <a:srgbClr val="94A3B8"/>
                </a:solidFill>
              </a:defRPr>
            </a:pPr>
            <a:r>
              <a:t>Periodic multi-ancestry releases (v2, v3, v4).</a:t>
            </a:r>
          </a:p>
        </p:txBody>
      </p:sp>
      <p:sp>
        <p:nvSpPr>
          <p:cNvPr id="12" name="Rounded Rectangle 11"/>
          <p:cNvSpPr/>
          <p:nvPr/>
        </p:nvSpPr>
        <p:spPr>
          <a:xfrm>
            <a:off x="9473184" y="1554480"/>
            <a:ext cx="1965960" cy="4709160"/>
          </a:xfrm>
          <a:prstGeom prst="roundRect">
            <a:avLst/>
          </a:prstGeom>
          <a:solidFill>
            <a:srgbClr val="0F243A"/>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582911" y="1691640"/>
            <a:ext cx="1746504" cy="4389120"/>
          </a:xfrm>
          <a:prstGeom prst="rect">
            <a:avLst/>
          </a:prstGeom>
          <a:noFill/>
        </p:spPr>
        <p:txBody>
          <a:bodyPr wrap="square">
            <a:spAutoFit/>
          </a:bodyPr>
          <a:lstStyle/>
          <a:p>
            <a:pPr>
              <a:defRPr sz="1400" b="1">
                <a:solidFill>
                  <a:srgbClr val="F59E0B"/>
                </a:solidFill>
              </a:defRPr>
            </a:pPr>
            <a:r>
              <a:t>MONDO / HGNC</a:t>
            </a:r>
          </a:p>
          <a:p>
            <a:pPr>
              <a:spcBef>
                <a:spcPts val="200"/>
              </a:spcBef>
              <a:defRPr sz="900" b="1">
                <a:solidFill>
                  <a:srgbClr val="FFFFFF"/>
                </a:solidFill>
              </a:defRPr>
            </a:pPr>
            <a:r>
              <a:t>Ontology Standards</a:t>
            </a:r>
          </a:p>
          <a:p>
            <a:pPr>
              <a:spcBef>
                <a:spcPts val="600"/>
              </a:spcBef>
              <a:defRPr sz="850">
                <a:solidFill>
                  <a:srgbClr val="F1F5F9"/>
                </a:solidFill>
              </a:defRPr>
            </a:pPr>
            <a:r>
              <a:t>Monarch Disease Ontology and HUGO Gene Nomenclature Committee providing canonical IDs.</a:t>
            </a:r>
          </a:p>
          <a:p>
            <a:pPr>
              <a:spcBef>
                <a:spcPts val="800"/>
              </a:spcBef>
              <a:defRPr sz="850" b="1">
                <a:solidFill>
                  <a:srgbClr val="F59E0B"/>
                </a:solidFill>
              </a:defRPr>
            </a:pPr>
            <a:r>
              <a:t>Key Attributes:</a:t>
            </a:r>
          </a:p>
          <a:p>
            <a:pPr>
              <a:spcBef>
                <a:spcPts val="200"/>
              </a:spcBef>
              <a:defRPr sz="800">
                <a:solidFill>
                  <a:srgbClr val="94A3B8"/>
                </a:solidFill>
              </a:defRPr>
            </a:pPr>
            <a:r>
              <a:t>Hierarchical disease classification and approved gene symbols.</a:t>
            </a:r>
          </a:p>
        </p:txBody>
      </p:sp>
      <p:sp>
        <p:nvSpPr>
          <p:cNvPr id="14" name="TextBox 13"/>
          <p:cNvSpPr txBox="1"/>
          <p:nvPr/>
        </p:nvSpPr>
        <p:spPr>
          <a:xfrm>
            <a:off x="731520" y="6473952"/>
            <a:ext cx="10728655" cy="274320"/>
          </a:xfrm>
          <a:prstGeom prst="rect">
            <a:avLst/>
          </a:prstGeom>
          <a:noFill/>
        </p:spPr>
        <p:txBody>
          <a:bodyPr wrap="square" lIns="0" tIns="0" rIns="0" bIns="0">
            <a:spAutoFit/>
          </a:bodyPr>
          <a:lstStyle/>
          <a:p>
            <a:pPr>
              <a:defRPr sz="850">
                <a:solidFill>
                  <a:srgbClr val="64748B"/>
                </a:solidFill>
              </a:defRPr>
            </a:pPr>
            <a:r>
              <a:t>CuraCascade V2  |  Academic Defense  |  VIT School of Computer Science &amp; Engineering  |  Slide 06 of 25</a:t>
            </a:r>
          </a:p>
        </p:txBody>
      </p:sp>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71426"/>
        </a:solidFill>
        <a:effectLst/>
      </p:bgPr>
    </p:bg>
    <p:spTree>
      <p:nvGrpSpPr>
        <p:cNvPr id="1" name=""/>
        <p:cNvGrpSpPr/>
        <p:nvPr/>
      </p:nvGrpSpPr>
      <p:grpSpPr/>
      <p:sp>
        <p:nvSpPr>
          <p:cNvPr id="2" name="Rectangle 1"/>
          <p:cNvSpPr/>
          <p:nvPr/>
        </p:nvSpPr>
        <p:spPr>
          <a:xfrm>
            <a:off x="731520" y="0"/>
            <a:ext cx="10728655" cy="36576"/>
          </a:xfrm>
          <a:prstGeom prst="rect">
            <a:avLst/>
          </a:prstGeom>
          <a:solidFill>
            <a:srgbClr val="00D4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1051560"/>
          </a:xfrm>
          <a:prstGeom prst="rect">
            <a:avLst/>
          </a:prstGeom>
          <a:noFill/>
        </p:spPr>
        <p:txBody>
          <a:bodyPr wrap="square" lIns="0" tIns="0" rIns="0" bIns="0">
            <a:spAutoFit/>
          </a:bodyPr>
          <a:lstStyle/>
          <a:p>
            <a:pPr>
              <a:defRPr sz="950" b="1">
                <a:solidFill>
                  <a:srgbClr val="00D4B2"/>
                </a:solidFill>
              </a:defRPr>
            </a:pPr>
            <a:r>
              <a:t>ROOT CAUSE ANALYSIS</a:t>
            </a:r>
          </a:p>
          <a:p>
            <a:pPr>
              <a:spcBef>
                <a:spcPts val="200"/>
              </a:spcBef>
              <a:defRPr sz="2100" b="1">
                <a:solidFill>
                  <a:srgbClr val="FFFFFF"/>
                </a:solidFill>
              </a:defRPr>
            </a:pPr>
            <a:r>
              <a:t>Why Genomic Evidence Disagrees in Practice</a:t>
            </a:r>
          </a:p>
          <a:p>
            <a:pPr>
              <a:spcBef>
                <a:spcPts val="200"/>
              </a:spcBef>
              <a:defRPr sz="1100">
                <a:solidFill>
                  <a:srgbClr val="94A3B8"/>
                </a:solidFill>
              </a:defRPr>
            </a:pPr>
            <a:r>
              <a:t>Systemic structural, temporal, and semantic barriers causing persistent database discordance</a:t>
            </a:r>
          </a:p>
        </p:txBody>
      </p:sp>
      <p:sp>
        <p:nvSpPr>
          <p:cNvPr id="4" name="Rounded Rectangle 3"/>
          <p:cNvSpPr/>
          <p:nvPr/>
        </p:nvSpPr>
        <p:spPr>
          <a:xfrm>
            <a:off x="731520" y="1554480"/>
            <a:ext cx="5212080" cy="2240280"/>
          </a:xfrm>
          <a:prstGeom prst="roundRect">
            <a:avLst/>
          </a:prstGeom>
          <a:solidFill>
            <a:srgbClr val="0F243A"/>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91639"/>
            <a:ext cx="4846320" cy="1965960"/>
          </a:xfrm>
          <a:prstGeom prst="rect">
            <a:avLst/>
          </a:prstGeom>
          <a:noFill/>
        </p:spPr>
        <p:txBody>
          <a:bodyPr wrap="square">
            <a:spAutoFit/>
          </a:bodyPr>
          <a:lstStyle/>
          <a:p>
            <a:pPr>
              <a:defRPr sz="1100" b="1">
                <a:solidFill>
                  <a:srgbClr val="38BDF8"/>
                </a:solidFill>
              </a:defRPr>
            </a:pPr>
            <a:r>
              <a:t>01. GRANULARITY DISCONNECT</a:t>
            </a:r>
          </a:p>
          <a:p>
            <a:pPr>
              <a:spcBef>
                <a:spcPts val="200"/>
              </a:spcBef>
              <a:defRPr sz="950" b="1">
                <a:solidFill>
                  <a:srgbClr val="FFFFFF"/>
                </a:solidFill>
              </a:defRPr>
            </a:pPr>
            <a:r>
              <a:t>Gene-Level vs. Variant-Level Silos</a:t>
            </a:r>
          </a:p>
          <a:p>
            <a:pPr>
              <a:spcBef>
                <a:spcPts val="400"/>
              </a:spcBef>
              <a:defRPr sz="900">
                <a:solidFill>
                  <a:srgbClr val="F1F5F9"/>
                </a:solidFill>
              </a:defRPr>
            </a:pPr>
            <a:r>
              <a:t>ClinGen curates at the gene–disease level, but diagnostic labs submit interpretations at the individual variant level. Laboratories rarely re-evaluate historic variant assertions when gene-level papers are published.</a:t>
            </a:r>
          </a:p>
        </p:txBody>
      </p:sp>
      <p:sp>
        <p:nvSpPr>
          <p:cNvPr id="6" name="Rounded Rectangle 5"/>
          <p:cNvSpPr/>
          <p:nvPr/>
        </p:nvSpPr>
        <p:spPr>
          <a:xfrm>
            <a:off x="6248095" y="1554480"/>
            <a:ext cx="5212080" cy="2240280"/>
          </a:xfrm>
          <a:prstGeom prst="roundRect">
            <a:avLst/>
          </a:prstGeom>
          <a:solidFill>
            <a:srgbClr val="0F243A"/>
          </a:solidFill>
          <a:ln w="12700">
            <a:solidFill>
              <a:srgbClr val="00D4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30975" y="1691639"/>
            <a:ext cx="4846320" cy="1965960"/>
          </a:xfrm>
          <a:prstGeom prst="rect">
            <a:avLst/>
          </a:prstGeom>
          <a:noFill/>
        </p:spPr>
        <p:txBody>
          <a:bodyPr wrap="square">
            <a:spAutoFit/>
          </a:bodyPr>
          <a:lstStyle/>
          <a:p>
            <a:pPr>
              <a:defRPr sz="1100" b="1">
                <a:solidFill>
                  <a:srgbClr val="00D4B2"/>
                </a:solidFill>
              </a:defRPr>
            </a:pPr>
            <a:r>
              <a:t>02. SEMANTIC HETEROGENEITY</a:t>
            </a:r>
          </a:p>
          <a:p>
            <a:pPr>
              <a:spcBef>
                <a:spcPts val="200"/>
              </a:spcBef>
              <a:defRPr sz="950" b="1">
                <a:solidFill>
                  <a:srgbClr val="FFFFFF"/>
                </a:solidFill>
              </a:defRPr>
            </a:pPr>
            <a:r>
              <a:t>Ontology &amp; Nomenclature Mismatches</a:t>
            </a:r>
          </a:p>
          <a:p>
            <a:pPr>
              <a:spcBef>
                <a:spcPts val="400"/>
              </a:spcBef>
              <a:defRPr sz="900">
                <a:solidFill>
                  <a:srgbClr val="F1F5F9"/>
                </a:solidFill>
              </a:defRPr>
            </a:pPr>
            <a:r>
              <a:t>ClinVar submissions frequently use broad clinical umbrella terms (e.g., 'Cardiovascular phenotype', MedGen C0007222), whereas ClinGen curates specific diseases (e.g., 'Brugada syndrome 1', MONDO:0015263). String joins fail completely.</a:t>
            </a:r>
          </a:p>
        </p:txBody>
      </p:sp>
      <p:sp>
        <p:nvSpPr>
          <p:cNvPr id="8" name="Rounded Rectangle 7"/>
          <p:cNvSpPr/>
          <p:nvPr/>
        </p:nvSpPr>
        <p:spPr>
          <a:xfrm>
            <a:off x="731520" y="3977639"/>
            <a:ext cx="5212080" cy="2240280"/>
          </a:xfrm>
          <a:prstGeom prst="roundRect">
            <a:avLst/>
          </a:prstGeom>
          <a:solidFill>
            <a:srgbClr val="0F243A"/>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4114800"/>
            <a:ext cx="4846320" cy="1965960"/>
          </a:xfrm>
          <a:prstGeom prst="rect">
            <a:avLst/>
          </a:prstGeom>
          <a:noFill/>
        </p:spPr>
        <p:txBody>
          <a:bodyPr wrap="square">
            <a:spAutoFit/>
          </a:bodyPr>
          <a:lstStyle/>
          <a:p>
            <a:pPr>
              <a:defRPr sz="1100" b="1">
                <a:solidFill>
                  <a:srgbClr val="F59E0B"/>
                </a:solidFill>
              </a:defRPr>
            </a:pPr>
            <a:r>
              <a:t>03. TEMPORAL ASYNCHRONY</a:t>
            </a:r>
          </a:p>
          <a:p>
            <a:pPr>
              <a:spcBef>
                <a:spcPts val="200"/>
              </a:spcBef>
              <a:defRPr sz="950" b="1">
                <a:solidFill>
                  <a:srgbClr val="FFFFFF"/>
                </a:solidFill>
              </a:defRPr>
            </a:pPr>
            <a:r>
              <a:t>Asynchronous Update Cycles</a:t>
            </a:r>
          </a:p>
          <a:p>
            <a:pPr>
              <a:spcBef>
                <a:spcPts val="400"/>
              </a:spcBef>
              <a:defRPr sz="900">
                <a:solidFill>
                  <a:srgbClr val="F1F5F9"/>
                </a:solidFill>
              </a:defRPr>
            </a:pPr>
            <a:r>
              <a:t>ClinGen expert curations are published periodically as batch releases, while ClinVar receives daily submissions. Without automated webhooks or cross-database alert triggers, synchronization drifts by years.</a:t>
            </a:r>
          </a:p>
        </p:txBody>
      </p:sp>
      <p:sp>
        <p:nvSpPr>
          <p:cNvPr id="10" name="Rounded Rectangle 9"/>
          <p:cNvSpPr/>
          <p:nvPr/>
        </p:nvSpPr>
        <p:spPr>
          <a:xfrm>
            <a:off x="6248095" y="3977639"/>
            <a:ext cx="5212080" cy="2240280"/>
          </a:xfrm>
          <a:prstGeom prst="roundRect">
            <a:avLst/>
          </a:prstGeom>
          <a:solidFill>
            <a:srgbClr val="0F243A"/>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30975" y="4114800"/>
            <a:ext cx="4846320" cy="1965960"/>
          </a:xfrm>
          <a:prstGeom prst="rect">
            <a:avLst/>
          </a:prstGeom>
          <a:noFill/>
        </p:spPr>
        <p:txBody>
          <a:bodyPr wrap="square">
            <a:spAutoFit/>
          </a:bodyPr>
          <a:lstStyle/>
          <a:p>
            <a:pPr>
              <a:defRPr sz="1100" b="1">
                <a:solidFill>
                  <a:srgbClr val="EF4444"/>
                </a:solidFill>
              </a:defRPr>
            </a:pPr>
            <a:r>
              <a:t>04. ECONOMIC BARRIERS</a:t>
            </a:r>
          </a:p>
          <a:p>
            <a:pPr>
              <a:spcBef>
                <a:spcPts val="200"/>
              </a:spcBef>
              <a:defRPr sz="950" b="1">
                <a:solidFill>
                  <a:srgbClr val="FFFFFF"/>
                </a:solidFill>
              </a:defRPr>
            </a:pPr>
            <a:r>
              <a:t>Uncompensated Re-Curation Burden</a:t>
            </a:r>
          </a:p>
          <a:p>
            <a:pPr>
              <a:spcBef>
                <a:spcPts val="400"/>
              </a:spcBef>
              <a:defRPr sz="900">
                <a:solidFill>
                  <a:srgbClr val="F1F5F9"/>
                </a:solidFill>
              </a:defRPr>
            </a:pPr>
            <a:r>
              <a:t>Retrospective re-curation of tens of thousands of historical variants is labor-intensive and uncompensated for commercial labs. Outdated assertions remain active indefinitely unless flagged by automated audit tooling.</a:t>
            </a:r>
          </a:p>
        </p:txBody>
      </p:sp>
      <p:sp>
        <p:nvSpPr>
          <p:cNvPr id="12" name="TextBox 11"/>
          <p:cNvSpPr txBox="1"/>
          <p:nvPr/>
        </p:nvSpPr>
        <p:spPr>
          <a:xfrm>
            <a:off x="731520" y="6473952"/>
            <a:ext cx="10728655" cy="274320"/>
          </a:xfrm>
          <a:prstGeom prst="rect">
            <a:avLst/>
          </a:prstGeom>
          <a:noFill/>
        </p:spPr>
        <p:txBody>
          <a:bodyPr wrap="square" lIns="0" tIns="0" rIns="0" bIns="0">
            <a:spAutoFit/>
          </a:bodyPr>
          <a:lstStyle/>
          <a:p>
            <a:pPr>
              <a:defRPr sz="850">
                <a:solidFill>
                  <a:srgbClr val="64748B"/>
                </a:solidFill>
              </a:defRPr>
            </a:pPr>
            <a:r>
              <a:t>CuraCascade V2  |  Academic Defense  |  VIT School of Computer Science &amp; Engineering  |  Slide 07 of 25</a:t>
            </a:r>
          </a:p>
        </p:txBody>
      </p:sp>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71426"/>
        </a:solidFill>
        <a:effectLst/>
      </p:bgPr>
    </p:bg>
    <p:spTree>
      <p:nvGrpSpPr>
        <p:cNvPr id="1" name=""/>
        <p:cNvGrpSpPr/>
        <p:nvPr/>
      </p:nvGrpSpPr>
      <p:grpSpPr/>
      <p:sp>
        <p:nvSpPr>
          <p:cNvPr id="2" name="Rectangle 1"/>
          <p:cNvSpPr/>
          <p:nvPr/>
        </p:nvSpPr>
        <p:spPr>
          <a:xfrm>
            <a:off x="731520" y="0"/>
            <a:ext cx="10728655" cy="36576"/>
          </a:xfrm>
          <a:prstGeom prst="rect">
            <a:avLst/>
          </a:prstGeom>
          <a:solidFill>
            <a:srgbClr val="00D4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1051560"/>
          </a:xfrm>
          <a:prstGeom prst="rect">
            <a:avLst/>
          </a:prstGeom>
          <a:noFill/>
        </p:spPr>
        <p:txBody>
          <a:bodyPr wrap="square" lIns="0" tIns="0" rIns="0" bIns="0">
            <a:spAutoFit/>
          </a:bodyPr>
          <a:lstStyle/>
          <a:p>
            <a:pPr>
              <a:defRPr sz="950" b="1">
                <a:solidFill>
                  <a:srgbClr val="00D4B2"/>
                </a:solidFill>
              </a:defRPr>
            </a:pPr>
            <a:r>
              <a:t>RESEARCH GAP</a:t>
            </a:r>
          </a:p>
          <a:p>
            <a:pPr>
              <a:spcBef>
                <a:spcPts val="200"/>
              </a:spcBef>
              <a:defRPr sz="2100" b="1">
                <a:solidFill>
                  <a:srgbClr val="FFFFFF"/>
                </a:solidFill>
              </a:defRPr>
            </a:pPr>
            <a:r>
              <a:t>Current Landscape &amp; The Research Gap</a:t>
            </a:r>
          </a:p>
          <a:p>
            <a:pPr>
              <a:spcBef>
                <a:spcPts val="200"/>
              </a:spcBef>
              <a:defRPr sz="1100">
                <a:solidFill>
                  <a:srgbClr val="94A3B8"/>
                </a:solidFill>
              </a:defRPr>
            </a:pPr>
            <a:r>
              <a:t>Evaluating existing commercial and academic tools against CuraCascade V2's automated audit capabilities</a:t>
            </a:r>
          </a:p>
        </p:txBody>
      </p:sp>
      <p:graphicFrame>
        <p:nvGraphicFramePr>
          <p:cNvPr id="4" name="Table 3"/>
          <p:cNvGraphicFramePr>
            <a:graphicFrameLocks noGrp="1"/>
          </p:cNvGraphicFramePr>
          <p:nvPr/>
        </p:nvGraphicFramePr>
        <p:xfrm>
          <a:off x="731520" y="1554480"/>
          <a:ext cx="10728655" cy="3657600"/>
        </p:xfrm>
        <a:graphic>
          <a:graphicData uri="http://schemas.openxmlformats.org/drawingml/2006/table">
            <a:tbl>
              <a:tblPr firstRow="1" bandRow="1">
                <a:tableStyleId>{5C22544A-7EE6-4342-B048-85BDC9FD1C3A}</a:tableStyleId>
              </a:tblPr>
              <a:tblGrid>
                <a:gridCol w="3413455"/>
                <a:gridCol w="1737360"/>
                <a:gridCol w="1828800"/>
                <a:gridCol w="1737360"/>
                <a:gridCol w="2011680"/>
              </a:tblGrid>
              <a:tr h="522514">
                <a:tc>
                  <a:txBody>
                    <a:bodyPr/>
                    <a:lstStyle/>
                    <a:p>
                      <a:pPr algn="l">
                        <a:defRPr sz="1000" b="1">
                          <a:solidFill>
                            <a:srgbClr val="FFFFFF"/>
                          </a:solidFill>
                        </a:defRPr>
                      </a:pPr>
                      <a:r>
                        <a:t>Capability / Feature</a:t>
                      </a:r>
                    </a:p>
                  </a:txBody>
                  <a:tcPr>
                    <a:solidFill>
                      <a:srgbClr val="16375A"/>
                    </a:solidFill>
                  </a:tcPr>
                </a:tc>
                <a:tc>
                  <a:txBody>
                    <a:bodyPr/>
                    <a:lstStyle/>
                    <a:p>
                      <a:pPr algn="ctr">
                        <a:defRPr sz="1000" b="1">
                          <a:solidFill>
                            <a:srgbClr val="FFFFFF"/>
                          </a:solidFill>
                        </a:defRPr>
                      </a:pPr>
                      <a:r>
                        <a:t>Manual Search</a:t>
                      </a:r>
                    </a:p>
                  </a:txBody>
                  <a:tcPr>
                    <a:solidFill>
                      <a:srgbClr val="16375A"/>
                    </a:solidFill>
                  </a:tcPr>
                </a:tc>
                <a:tc>
                  <a:txBody>
                    <a:bodyPr/>
                    <a:lstStyle/>
                    <a:p>
                      <a:pPr algn="ctr">
                        <a:defRPr sz="1000" b="1">
                          <a:solidFill>
                            <a:srgbClr val="FFFFFF"/>
                          </a:solidFill>
                        </a:defRPr>
                      </a:pPr>
                      <a:r>
                        <a:t>Variant Portals</a:t>
                      </a:r>
                    </a:p>
                  </a:txBody>
                  <a:tcPr>
                    <a:solidFill>
                      <a:srgbClr val="16375A"/>
                    </a:solidFill>
                  </a:tcPr>
                </a:tc>
                <a:tc>
                  <a:txBody>
                    <a:bodyPr/>
                    <a:lstStyle/>
                    <a:p>
                      <a:pPr algn="ctr">
                        <a:defRPr sz="1000" b="1">
                          <a:solidFill>
                            <a:srgbClr val="FFFFFF"/>
                          </a:solidFill>
                        </a:defRPr>
                      </a:pPr>
                      <a:r>
                        <a:t>ClinGen Website</a:t>
                      </a:r>
                    </a:p>
                  </a:txBody>
                  <a:tcPr>
                    <a:solidFill>
                      <a:srgbClr val="16375A"/>
                    </a:solidFill>
                  </a:tcPr>
                </a:tc>
                <a:tc>
                  <a:txBody>
                    <a:bodyPr/>
                    <a:lstStyle/>
                    <a:p>
                      <a:pPr algn="ctr">
                        <a:defRPr sz="1000" b="1">
                          <a:solidFill>
                            <a:srgbClr val="071426"/>
                          </a:solidFill>
                        </a:defRPr>
                      </a:pPr>
                      <a:r>
                        <a:t>CuraCascade V2</a:t>
                      </a:r>
                    </a:p>
                  </a:txBody>
                  <a:tcPr>
                    <a:solidFill>
                      <a:srgbClr val="00D4B2"/>
                    </a:solidFill>
                  </a:tcPr>
                </a:tc>
              </a:tr>
              <a:tr h="522514">
                <a:tc>
                  <a:txBody>
                    <a:bodyPr/>
                    <a:lstStyle/>
                    <a:p>
                      <a:pPr algn="l">
                        <a:defRPr sz="950" b="0">
                          <a:solidFill>
                            <a:srgbClr val="F1F5F9"/>
                          </a:solidFill>
                        </a:defRPr>
                      </a:pPr>
                      <a:r>
                        <a:t>Automated Gene-to-Variant Auditing</a:t>
                      </a:r>
                    </a:p>
                  </a:txBody>
                  <a:tcPr>
                    <a:solidFill>
                      <a:srgbClr val="0F243A"/>
                    </a:solidFill>
                  </a:tcPr>
                </a:tc>
                <a:tc>
                  <a:txBody>
                    <a:bodyPr/>
                    <a:lstStyle/>
                    <a:p>
                      <a:pPr algn="ctr">
                        <a:defRPr sz="950" b="0">
                          <a:solidFill>
                            <a:srgbClr val="EF4444"/>
                          </a:solidFill>
                        </a:defRPr>
                      </a:pPr>
                      <a:r>
                        <a:t>❌ Manual Only</a:t>
                      </a:r>
                    </a:p>
                  </a:txBody>
                  <a:tcPr>
                    <a:solidFill>
                      <a:srgbClr val="0F243A"/>
                    </a:solidFill>
                  </a:tcPr>
                </a:tc>
                <a:tc>
                  <a:txBody>
                    <a:bodyPr/>
                    <a:lstStyle/>
                    <a:p>
                      <a:pPr algn="ctr">
                        <a:defRPr sz="950" b="0">
                          <a:solidFill>
                            <a:srgbClr val="EF4444"/>
                          </a:solidFill>
                        </a:defRPr>
                      </a:pPr>
                      <a:r>
                        <a:t>❌ Variant Only</a:t>
                      </a:r>
                    </a:p>
                  </a:txBody>
                  <a:tcPr>
                    <a:solidFill>
                      <a:srgbClr val="0F243A"/>
                    </a:solidFill>
                  </a:tcPr>
                </a:tc>
                <a:tc>
                  <a:txBody>
                    <a:bodyPr/>
                    <a:lstStyle/>
                    <a:p>
                      <a:pPr algn="ctr">
                        <a:defRPr sz="950" b="0">
                          <a:solidFill>
                            <a:srgbClr val="EF4444"/>
                          </a:solidFill>
                        </a:defRPr>
                      </a:pPr>
                      <a:r>
                        <a:t>❌ Gene Only</a:t>
                      </a:r>
                    </a:p>
                  </a:txBody>
                  <a:tcPr>
                    <a:solidFill>
                      <a:srgbClr val="0F243A"/>
                    </a:solidFill>
                  </a:tcPr>
                </a:tc>
                <a:tc>
                  <a:txBody>
                    <a:bodyPr/>
                    <a:lstStyle/>
                    <a:p>
                      <a:pPr algn="ctr">
                        <a:defRPr sz="950" b="1">
                          <a:solidFill>
                            <a:srgbClr val="00D4B2"/>
                          </a:solidFill>
                        </a:defRPr>
                      </a:pPr>
                      <a:r>
                        <a:t>✅ Fully Automated</a:t>
                      </a:r>
                    </a:p>
                  </a:txBody>
                  <a:tcPr>
                    <a:solidFill>
                      <a:srgbClr val="0F243A"/>
                    </a:solidFill>
                  </a:tcPr>
                </a:tc>
              </a:tr>
              <a:tr h="522514">
                <a:tc>
                  <a:txBody>
                    <a:bodyPr/>
                    <a:lstStyle/>
                    <a:p>
                      <a:pPr algn="l">
                        <a:defRPr sz="950" b="0">
                          <a:solidFill>
                            <a:srgbClr val="F1F5F9"/>
                          </a:solidFill>
                        </a:defRPr>
                      </a:pPr>
                      <a:r>
                        <a:t>Disease-Aware Ontology Crosswalk</a:t>
                      </a:r>
                    </a:p>
                  </a:txBody>
                  <a:tcPr>
                    <a:solidFill>
                      <a:srgbClr val="0B1B2E"/>
                    </a:solidFill>
                  </a:tcPr>
                </a:tc>
                <a:tc>
                  <a:txBody>
                    <a:bodyPr/>
                    <a:lstStyle/>
                    <a:p>
                      <a:pPr algn="ctr">
                        <a:defRPr sz="950" b="0">
                          <a:solidFill>
                            <a:srgbClr val="EF4444"/>
                          </a:solidFill>
                        </a:defRPr>
                      </a:pPr>
                      <a:r>
                        <a:t>❌ None</a:t>
                      </a:r>
                    </a:p>
                  </a:txBody>
                  <a:tcPr>
                    <a:solidFill>
                      <a:srgbClr val="0B1B2E"/>
                    </a:solidFill>
                  </a:tcPr>
                </a:tc>
                <a:tc>
                  <a:txBody>
                    <a:bodyPr/>
                    <a:lstStyle/>
                    <a:p>
                      <a:pPr algn="ctr">
                        <a:defRPr sz="950" b="0">
                          <a:solidFill>
                            <a:srgbClr val="F59E0B"/>
                          </a:solidFill>
                        </a:defRPr>
                      </a:pPr>
                      <a:r>
                        <a:t>⚠️ Partial Strings</a:t>
                      </a:r>
                    </a:p>
                  </a:txBody>
                  <a:tcPr>
                    <a:solidFill>
                      <a:srgbClr val="0B1B2E"/>
                    </a:solidFill>
                  </a:tcPr>
                </a:tc>
                <a:tc>
                  <a:txBody>
                    <a:bodyPr/>
                    <a:lstStyle/>
                    <a:p>
                      <a:pPr algn="ctr">
                        <a:defRPr sz="950" b="0">
                          <a:solidFill>
                            <a:srgbClr val="F59E0B"/>
                          </a:solidFill>
                        </a:defRPr>
                      </a:pPr>
                      <a:r>
                        <a:t>⚠️ MONDO Only</a:t>
                      </a:r>
                    </a:p>
                  </a:txBody>
                  <a:tcPr>
                    <a:solidFill>
                      <a:srgbClr val="0B1B2E"/>
                    </a:solidFill>
                  </a:tcPr>
                </a:tc>
                <a:tc>
                  <a:txBody>
                    <a:bodyPr/>
                    <a:lstStyle/>
                    <a:p>
                      <a:pPr algn="ctr">
                        <a:defRPr sz="950" b="1">
                          <a:solidFill>
                            <a:srgbClr val="00D4B2"/>
                          </a:solidFill>
                        </a:defRPr>
                      </a:pPr>
                      <a:r>
                        <a:t>✅ 4-Tier Crosswalk</a:t>
                      </a:r>
                    </a:p>
                  </a:txBody>
                  <a:tcPr>
                    <a:solidFill>
                      <a:srgbClr val="0B1B2E"/>
                    </a:solidFill>
                  </a:tcPr>
                </a:tc>
              </a:tr>
              <a:tr h="522514">
                <a:tc>
                  <a:txBody>
                    <a:bodyPr/>
                    <a:lstStyle/>
                    <a:p>
                      <a:pPr algn="l">
                        <a:defRPr sz="950" b="0">
                          <a:solidFill>
                            <a:srgbClr val="F1F5F9"/>
                          </a:solidFill>
                        </a:defRPr>
                      </a:pPr>
                      <a:r>
                        <a:t>Longitudinal Evidence Latency Tracking</a:t>
                      </a:r>
                    </a:p>
                  </a:txBody>
                  <a:tcPr>
                    <a:solidFill>
                      <a:srgbClr val="0F243A"/>
                    </a:solidFill>
                  </a:tcPr>
                </a:tc>
                <a:tc>
                  <a:txBody>
                    <a:bodyPr/>
                    <a:lstStyle/>
                    <a:p>
                      <a:pPr algn="ctr">
                        <a:defRPr sz="950" b="0">
                          <a:solidFill>
                            <a:srgbClr val="EF4444"/>
                          </a:solidFill>
                        </a:defRPr>
                      </a:pPr>
                      <a:r>
                        <a:t>❌ None</a:t>
                      </a:r>
                    </a:p>
                  </a:txBody>
                  <a:tcPr>
                    <a:solidFill>
                      <a:srgbClr val="0F243A"/>
                    </a:solidFill>
                  </a:tcPr>
                </a:tc>
                <a:tc>
                  <a:txBody>
                    <a:bodyPr/>
                    <a:lstStyle/>
                    <a:p>
                      <a:pPr algn="ctr">
                        <a:defRPr sz="950" b="0">
                          <a:solidFill>
                            <a:srgbClr val="EF4444"/>
                          </a:solidFill>
                        </a:defRPr>
                      </a:pPr>
                      <a:r>
                        <a:t>❌ None</a:t>
                      </a:r>
                    </a:p>
                  </a:txBody>
                  <a:tcPr>
                    <a:solidFill>
                      <a:srgbClr val="0F243A"/>
                    </a:solidFill>
                  </a:tcPr>
                </a:tc>
                <a:tc>
                  <a:txBody>
                    <a:bodyPr/>
                    <a:lstStyle/>
                    <a:p>
                      <a:pPr algn="ctr">
                        <a:defRPr sz="950" b="0">
                          <a:solidFill>
                            <a:srgbClr val="EF4444"/>
                          </a:solidFill>
                        </a:defRPr>
                      </a:pPr>
                      <a:r>
                        <a:t>❌ None</a:t>
                      </a:r>
                    </a:p>
                  </a:txBody>
                  <a:tcPr>
                    <a:solidFill>
                      <a:srgbClr val="0F243A"/>
                    </a:solidFill>
                  </a:tcPr>
                </a:tc>
                <a:tc>
                  <a:txBody>
                    <a:bodyPr/>
                    <a:lstStyle/>
                    <a:p>
                      <a:pPr algn="ctr">
                        <a:defRPr sz="950" b="1">
                          <a:solidFill>
                            <a:srgbClr val="00D4B2"/>
                          </a:solidFill>
                        </a:defRPr>
                      </a:pPr>
                      <a:r>
                        <a:t>✅ Days &amp; Patient-Yrs</a:t>
                      </a:r>
                    </a:p>
                  </a:txBody>
                  <a:tcPr>
                    <a:solidFill>
                      <a:srgbClr val="0F243A"/>
                    </a:solidFill>
                  </a:tcPr>
                </a:tc>
              </a:tr>
              <a:tr h="522514">
                <a:tc>
                  <a:txBody>
                    <a:bodyPr/>
                    <a:lstStyle/>
                    <a:p>
                      <a:pPr algn="l">
                        <a:defRPr sz="950" b="0">
                          <a:solidFill>
                            <a:srgbClr val="F1F5F9"/>
                          </a:solidFill>
                        </a:defRPr>
                      </a:pPr>
                      <a:r>
                        <a:t>Independent 100% Precision Benchmark</a:t>
                      </a:r>
                    </a:p>
                  </a:txBody>
                  <a:tcPr>
                    <a:solidFill>
                      <a:srgbClr val="0B1B2E"/>
                    </a:solidFill>
                  </a:tcPr>
                </a:tc>
                <a:tc>
                  <a:txBody>
                    <a:bodyPr/>
                    <a:lstStyle/>
                    <a:p>
                      <a:pPr algn="ctr">
                        <a:defRPr sz="950" b="0">
                          <a:solidFill>
                            <a:srgbClr val="EF4444"/>
                          </a:solidFill>
                        </a:defRPr>
                      </a:pPr>
                      <a:r>
                        <a:t>❌ N/A</a:t>
                      </a:r>
                    </a:p>
                  </a:txBody>
                  <a:tcPr>
                    <a:solidFill>
                      <a:srgbClr val="0B1B2E"/>
                    </a:solidFill>
                  </a:tcPr>
                </a:tc>
                <a:tc>
                  <a:txBody>
                    <a:bodyPr/>
                    <a:lstStyle/>
                    <a:p>
                      <a:pPr algn="ctr">
                        <a:defRPr sz="950" b="0">
                          <a:solidFill>
                            <a:srgbClr val="EF4444"/>
                          </a:solidFill>
                        </a:defRPr>
                      </a:pPr>
                      <a:r>
                        <a:t>❌ Unaudited</a:t>
                      </a:r>
                    </a:p>
                  </a:txBody>
                  <a:tcPr>
                    <a:solidFill>
                      <a:srgbClr val="0B1B2E"/>
                    </a:solidFill>
                  </a:tcPr>
                </a:tc>
                <a:tc>
                  <a:txBody>
                    <a:bodyPr/>
                    <a:lstStyle/>
                    <a:p>
                      <a:pPr algn="ctr">
                        <a:defRPr sz="950" b="0">
                          <a:solidFill>
                            <a:srgbClr val="EF4444"/>
                          </a:solidFill>
                        </a:defRPr>
                      </a:pPr>
                      <a:r>
                        <a:t>❌ Unaudited</a:t>
                      </a:r>
                    </a:p>
                  </a:txBody>
                  <a:tcPr>
                    <a:solidFill>
                      <a:srgbClr val="0B1B2E"/>
                    </a:solidFill>
                  </a:tcPr>
                </a:tc>
                <a:tc>
                  <a:txBody>
                    <a:bodyPr/>
                    <a:lstStyle/>
                    <a:p>
                      <a:pPr algn="ctr">
                        <a:defRPr sz="950" b="1">
                          <a:solidFill>
                            <a:srgbClr val="00D4B2"/>
                          </a:solidFill>
                        </a:defRPr>
                      </a:pPr>
                      <a:r>
                        <a:t>✅ Verified (0 FP)</a:t>
                      </a:r>
                    </a:p>
                  </a:txBody>
                  <a:tcPr>
                    <a:solidFill>
                      <a:srgbClr val="0B1B2E"/>
                    </a:solidFill>
                  </a:tcPr>
                </a:tc>
              </a:tr>
              <a:tr h="522514">
                <a:tc>
                  <a:txBody>
                    <a:bodyPr/>
                    <a:lstStyle/>
                    <a:p>
                      <a:pPr algn="l">
                        <a:defRPr sz="950" b="0">
                          <a:solidFill>
                            <a:srgbClr val="F1F5F9"/>
                          </a:solidFill>
                        </a:defRPr>
                      </a:pPr>
                      <a:r>
                        <a:t>Open-Source 3NF Relational Store</a:t>
                      </a:r>
                    </a:p>
                  </a:txBody>
                  <a:tcPr>
                    <a:solidFill>
                      <a:srgbClr val="0F243A"/>
                    </a:solidFill>
                  </a:tcPr>
                </a:tc>
                <a:tc>
                  <a:txBody>
                    <a:bodyPr/>
                    <a:lstStyle/>
                    <a:p>
                      <a:pPr algn="ctr">
                        <a:defRPr sz="950" b="0">
                          <a:solidFill>
                            <a:srgbClr val="EF4444"/>
                          </a:solidFill>
                        </a:defRPr>
                      </a:pPr>
                      <a:r>
                        <a:t>❌ Proprietary</a:t>
                      </a:r>
                    </a:p>
                  </a:txBody>
                  <a:tcPr>
                    <a:solidFill>
                      <a:srgbClr val="0F243A"/>
                    </a:solidFill>
                  </a:tcPr>
                </a:tc>
                <a:tc>
                  <a:txBody>
                    <a:bodyPr/>
                    <a:lstStyle/>
                    <a:p>
                      <a:pPr algn="ctr">
                        <a:defRPr sz="950" b="0">
                          <a:solidFill>
                            <a:srgbClr val="EF4444"/>
                          </a:solidFill>
                        </a:defRPr>
                      </a:pPr>
                      <a:r>
                        <a:t>❌ Closed API</a:t>
                      </a:r>
                    </a:p>
                  </a:txBody>
                  <a:tcPr>
                    <a:solidFill>
                      <a:srgbClr val="0F243A"/>
                    </a:solidFill>
                  </a:tcPr>
                </a:tc>
                <a:tc>
                  <a:txBody>
                    <a:bodyPr/>
                    <a:lstStyle/>
                    <a:p>
                      <a:pPr algn="ctr">
                        <a:defRPr sz="950" b="0">
                          <a:solidFill>
                            <a:srgbClr val="F59E0B"/>
                          </a:solidFill>
                        </a:defRPr>
                      </a:pPr>
                      <a:r>
                        <a:t>⚠️ CSV Exports</a:t>
                      </a:r>
                    </a:p>
                  </a:txBody>
                  <a:tcPr>
                    <a:solidFill>
                      <a:srgbClr val="0F243A"/>
                    </a:solidFill>
                  </a:tcPr>
                </a:tc>
                <a:tc>
                  <a:txBody>
                    <a:bodyPr/>
                    <a:lstStyle/>
                    <a:p>
                      <a:pPr algn="ctr">
                        <a:defRPr sz="950" b="1">
                          <a:solidFill>
                            <a:srgbClr val="00D4B2"/>
                          </a:solidFill>
                        </a:defRPr>
                      </a:pPr>
                      <a:r>
                        <a:t>✅ SQLite + DuckDB</a:t>
                      </a:r>
                    </a:p>
                  </a:txBody>
                  <a:tcPr>
                    <a:solidFill>
                      <a:srgbClr val="0F243A"/>
                    </a:solidFill>
                  </a:tcPr>
                </a:tc>
              </a:tr>
              <a:tr h="522516">
                <a:tc>
                  <a:txBody>
                    <a:bodyPr/>
                    <a:lstStyle/>
                    <a:p>
                      <a:pPr algn="l">
                        <a:defRPr sz="950" b="0">
                          <a:solidFill>
                            <a:srgbClr val="F1F5F9"/>
                          </a:solidFill>
                        </a:defRPr>
                      </a:pPr>
                      <a:r>
                        <a:t>Audit Dossier Export (ISO 15189 Aligned)</a:t>
                      </a:r>
                    </a:p>
                  </a:txBody>
                  <a:tcPr>
                    <a:solidFill>
                      <a:srgbClr val="0B1B2E"/>
                    </a:solidFill>
                  </a:tcPr>
                </a:tc>
                <a:tc>
                  <a:txBody>
                    <a:bodyPr/>
                    <a:lstStyle/>
                    <a:p>
                      <a:pPr algn="ctr">
                        <a:defRPr sz="950" b="0">
                          <a:solidFill>
                            <a:srgbClr val="EF4444"/>
                          </a:solidFill>
                        </a:defRPr>
                      </a:pPr>
                      <a:r>
                        <a:t>❌ Manual Docs</a:t>
                      </a:r>
                    </a:p>
                  </a:txBody>
                  <a:tcPr>
                    <a:solidFill>
                      <a:srgbClr val="0B1B2E"/>
                    </a:solidFill>
                  </a:tcPr>
                </a:tc>
                <a:tc>
                  <a:txBody>
                    <a:bodyPr/>
                    <a:lstStyle/>
                    <a:p>
                      <a:pPr algn="ctr">
                        <a:defRPr sz="950" b="0">
                          <a:solidFill>
                            <a:srgbClr val="F59E0B"/>
                          </a:solidFill>
                        </a:defRPr>
                      </a:pPr>
                      <a:r>
                        <a:t>⚠️ Generic PDF</a:t>
                      </a:r>
                    </a:p>
                  </a:txBody>
                  <a:tcPr>
                    <a:solidFill>
                      <a:srgbClr val="0B1B2E"/>
                    </a:solidFill>
                  </a:tcPr>
                </a:tc>
                <a:tc>
                  <a:txBody>
                    <a:bodyPr/>
                    <a:lstStyle/>
                    <a:p>
                      <a:pPr algn="ctr">
                        <a:defRPr sz="950" b="0">
                          <a:solidFill>
                            <a:srgbClr val="EF4444"/>
                          </a:solidFill>
                        </a:defRPr>
                      </a:pPr>
                      <a:r>
                        <a:t>❌ None</a:t>
                      </a:r>
                    </a:p>
                  </a:txBody>
                  <a:tcPr>
                    <a:solidFill>
                      <a:srgbClr val="0B1B2E"/>
                    </a:solidFill>
                  </a:tcPr>
                </a:tc>
                <a:tc>
                  <a:txBody>
                    <a:bodyPr/>
                    <a:lstStyle/>
                    <a:p>
                      <a:pPr algn="ctr">
                        <a:defRPr sz="950" b="1">
                          <a:solidFill>
                            <a:srgbClr val="00D4B2"/>
                          </a:solidFill>
                        </a:defRPr>
                      </a:pPr>
                      <a:r>
                        <a:t>✅ HTML/PDF Dossier</a:t>
                      </a:r>
                    </a:p>
                  </a:txBody>
                  <a:tcPr>
                    <a:solidFill>
                      <a:srgbClr val="0B1B2E"/>
                    </a:solidFill>
                  </a:tcPr>
                </a:tc>
              </a:tr>
            </a:tbl>
          </a:graphicData>
        </a:graphic>
      </p:graphicFrame>
      <p:sp>
        <p:nvSpPr>
          <p:cNvPr id="5" name="Rounded Rectangle 4"/>
          <p:cNvSpPr/>
          <p:nvPr/>
        </p:nvSpPr>
        <p:spPr>
          <a:xfrm>
            <a:off x="731520" y="5349240"/>
            <a:ext cx="10728655" cy="914400"/>
          </a:xfrm>
          <a:prstGeom prst="roundRect">
            <a:avLst/>
          </a:prstGeom>
          <a:solidFill>
            <a:srgbClr val="16375A"/>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5440680"/>
            <a:ext cx="10362895" cy="731520"/>
          </a:xfrm>
          <a:prstGeom prst="rect">
            <a:avLst/>
          </a:prstGeom>
          <a:noFill/>
        </p:spPr>
        <p:txBody>
          <a:bodyPr wrap="square">
            <a:spAutoFit/>
          </a:bodyPr>
          <a:lstStyle/>
          <a:p>
            <a:pPr>
              <a:defRPr sz="950" b="1">
                <a:solidFill>
                  <a:srgbClr val="38BDF8"/>
                </a:solidFill>
              </a:defRPr>
            </a:pPr>
            <a:r>
              <a:t>THE CORE RESEARCH GAP</a:t>
            </a:r>
          </a:p>
          <a:p>
            <a:pPr>
              <a:spcBef>
                <a:spcPts val="200"/>
              </a:spcBef>
              <a:defRPr sz="950">
                <a:solidFill>
                  <a:srgbClr val="FFFFFF"/>
                </a:solidFill>
              </a:defRPr>
            </a:pPr>
            <a:r>
              <a:t>No existing tool performs automated, disease-aware cross-auditing between ClinGen gene curations and ClinVar variant assertions while quantifying longitudinal latency kinetics in an open-source, reproducible framework.</a:t>
            </a:r>
          </a:p>
        </p:txBody>
      </p:sp>
      <p:sp>
        <p:nvSpPr>
          <p:cNvPr id="7" name="TextBox 6"/>
          <p:cNvSpPr txBox="1"/>
          <p:nvPr/>
        </p:nvSpPr>
        <p:spPr>
          <a:xfrm>
            <a:off x="731520" y="6473952"/>
            <a:ext cx="10728655" cy="274320"/>
          </a:xfrm>
          <a:prstGeom prst="rect">
            <a:avLst/>
          </a:prstGeom>
          <a:noFill/>
        </p:spPr>
        <p:txBody>
          <a:bodyPr wrap="square" lIns="0" tIns="0" rIns="0" bIns="0">
            <a:spAutoFit/>
          </a:bodyPr>
          <a:lstStyle/>
          <a:p>
            <a:pPr>
              <a:defRPr sz="850">
                <a:solidFill>
                  <a:srgbClr val="64748B"/>
                </a:solidFill>
              </a:defRPr>
            </a:pPr>
            <a:r>
              <a:t>CuraCascade V2  |  Academic Defense  |  VIT School of Computer Science &amp; Engineering  |  Slide 08 of 25</a:t>
            </a:r>
          </a:p>
        </p:txBody>
      </p:sp>
    </p:spTree>
  </p:cSld>
  <p:clrMapOvr>
    <a:masterClrMapping/>
  </p:clrMapOvr>
  <p:transition spd="med">
    <p:fade/>
  </p:transition>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71426"/>
        </a:solidFill>
        <a:effectLst/>
      </p:bgPr>
    </p:bg>
    <p:spTree>
      <p:nvGrpSpPr>
        <p:cNvPr id="1" name=""/>
        <p:cNvGrpSpPr/>
        <p:nvPr/>
      </p:nvGrpSpPr>
      <p:grpSpPr/>
      <p:sp>
        <p:nvSpPr>
          <p:cNvPr id="2" name="Rectangle 1"/>
          <p:cNvSpPr/>
          <p:nvPr/>
        </p:nvSpPr>
        <p:spPr>
          <a:xfrm>
            <a:off x="731520" y="0"/>
            <a:ext cx="10728655" cy="36576"/>
          </a:xfrm>
          <a:prstGeom prst="rect">
            <a:avLst/>
          </a:prstGeom>
          <a:solidFill>
            <a:srgbClr val="00D4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1051560"/>
          </a:xfrm>
          <a:prstGeom prst="rect">
            <a:avLst/>
          </a:prstGeom>
          <a:noFill/>
        </p:spPr>
        <p:txBody>
          <a:bodyPr wrap="square" lIns="0" tIns="0" rIns="0" bIns="0">
            <a:spAutoFit/>
          </a:bodyPr>
          <a:lstStyle/>
          <a:p>
            <a:pPr>
              <a:defRPr sz="950" b="1">
                <a:solidFill>
                  <a:srgbClr val="00D4B2"/>
                </a:solidFill>
              </a:defRPr>
            </a:pPr>
            <a:r>
              <a:t>SCOPE &amp; BOUNDARIES</a:t>
            </a:r>
          </a:p>
          <a:p>
            <a:pPr>
              <a:spcBef>
                <a:spcPts val="200"/>
              </a:spcBef>
              <a:defRPr sz="2100" b="1">
                <a:solidFill>
                  <a:srgbClr val="FFFFFF"/>
                </a:solidFill>
              </a:defRPr>
            </a:pPr>
            <a:r>
              <a:t>Project Objectives &amp; Ethical Scope Boundaries</a:t>
            </a:r>
          </a:p>
          <a:p>
            <a:pPr>
              <a:spcBef>
                <a:spcPts val="200"/>
              </a:spcBef>
              <a:defRPr sz="1100">
                <a:solidFill>
                  <a:srgbClr val="94A3B8"/>
                </a:solidFill>
              </a:defRPr>
            </a:pPr>
            <a:r>
              <a:t>Clear definition of primary engineering deliverables and explicit clinical non-goals</a:t>
            </a:r>
          </a:p>
        </p:txBody>
      </p:sp>
      <p:sp>
        <p:nvSpPr>
          <p:cNvPr id="4" name="Rounded Rectangle 3"/>
          <p:cNvSpPr/>
          <p:nvPr/>
        </p:nvSpPr>
        <p:spPr>
          <a:xfrm>
            <a:off x="731520" y="1554480"/>
            <a:ext cx="5212080" cy="4709160"/>
          </a:xfrm>
          <a:prstGeom prst="roundRect">
            <a:avLst/>
          </a:prstGeom>
          <a:solidFill>
            <a:srgbClr val="0F243A"/>
          </a:solidFill>
          <a:ln w="12700">
            <a:solidFill>
              <a:srgbClr val="00D4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91640"/>
            <a:ext cx="4846320" cy="4389120"/>
          </a:xfrm>
          <a:prstGeom prst="rect">
            <a:avLst/>
          </a:prstGeom>
          <a:noFill/>
        </p:spPr>
        <p:txBody>
          <a:bodyPr wrap="square">
            <a:spAutoFit/>
          </a:bodyPr>
          <a:lstStyle/>
          <a:p>
            <a:pPr>
              <a:defRPr sz="1100" b="1">
                <a:solidFill>
                  <a:srgbClr val="00D4B2"/>
                </a:solidFill>
              </a:defRPr>
            </a:pPr>
            <a:r>
              <a:t>PRIMARY ENGINEERING OBJECTIVES</a:t>
            </a:r>
          </a:p>
          <a:p>
            <a:pPr>
              <a:spcBef>
                <a:spcPts val="600"/>
              </a:spcBef>
              <a:defRPr sz="950" b="1">
                <a:solidFill>
                  <a:srgbClr val="FFFFFF"/>
                </a:solidFill>
              </a:defRPr>
            </a:pPr>
            <a:r>
              <a:t>• Ingest &amp; Normalize Public Repositories</a:t>
            </a:r>
          </a:p>
          <a:p>
            <a:pPr>
              <a:defRPr sz="850">
                <a:solidFill>
                  <a:srgbClr val="94A3B8"/>
                </a:solidFill>
              </a:defRPr>
            </a:pPr>
            <a:r>
              <a:t>  Build automated ETL scripts for ClinGen, ClinVar, PanelApp with SHA-256 provenance tracking.</a:t>
            </a:r>
          </a:p>
          <a:p>
            <a:pPr>
              <a:spcBef>
                <a:spcPts val="600"/>
              </a:spcBef>
              <a:defRPr sz="950" b="1">
                <a:solidFill>
                  <a:srgbClr val="FFFFFF"/>
                </a:solidFill>
              </a:defRPr>
            </a:pPr>
            <a:r>
              <a:t>• Design a 3NF Relational Warehouse</a:t>
            </a:r>
          </a:p>
          <a:p>
            <a:pPr>
              <a:defRPr sz="850">
                <a:solidFill>
                  <a:srgbClr val="94A3B8"/>
                </a:solidFill>
              </a:defRPr>
            </a:pPr>
            <a:r>
              <a:t>  Implement a normalized SQLite and DuckDB schema enforcing referential integrity and sub-10ms queries.</a:t>
            </a:r>
          </a:p>
          <a:p>
            <a:pPr>
              <a:spcBef>
                <a:spcPts val="600"/>
              </a:spcBef>
              <a:defRPr sz="950" b="1">
                <a:solidFill>
                  <a:srgbClr val="FFFFFF"/>
                </a:solidFill>
              </a:defRPr>
            </a:pPr>
            <a:r>
              <a:t>• Develop a Disease-Aware Audit Engine</a:t>
            </a:r>
          </a:p>
          <a:p>
            <a:pPr>
              <a:defRPr sz="850">
                <a:solidFill>
                  <a:srgbClr val="94A3B8"/>
                </a:solidFill>
              </a:defRPr>
            </a:pPr>
            <a:r>
              <a:t>  Build a deterministic 4-tier rule engine using MONDO and MedGen crosswalks to classify conflicts.</a:t>
            </a:r>
          </a:p>
          <a:p>
            <a:pPr>
              <a:spcBef>
                <a:spcPts val="600"/>
              </a:spcBef>
              <a:defRPr sz="950" b="1">
                <a:solidFill>
                  <a:srgbClr val="FFFFFF"/>
                </a:solidFill>
              </a:defRPr>
            </a:pPr>
            <a:r>
              <a:t>• Quantify Latency &amp; Patient Exposure</a:t>
            </a:r>
          </a:p>
          <a:p>
            <a:pPr>
              <a:defRPr sz="850">
                <a:solidFill>
                  <a:srgbClr val="94A3B8"/>
                </a:solidFill>
              </a:defRPr>
            </a:pPr>
            <a:r>
              <a:t>  Measure cross-sectional elapsed days unresolved and calculate cumulative patient-years at risk.</a:t>
            </a:r>
          </a:p>
          <a:p>
            <a:pPr>
              <a:spcBef>
                <a:spcPts val="600"/>
              </a:spcBef>
              <a:defRPr sz="950" b="1">
                <a:solidFill>
                  <a:srgbClr val="FFFFFF"/>
                </a:solidFill>
              </a:defRPr>
            </a:pPr>
            <a:r>
              <a:t>• Deploy Interactive Decision Support</a:t>
            </a:r>
          </a:p>
          <a:p>
            <a:pPr>
              <a:defRPr sz="850">
                <a:solidFill>
                  <a:srgbClr val="94A3B8"/>
                </a:solidFill>
              </a:defRPr>
            </a:pPr>
            <a:r>
              <a:t>  Provide an intuitive Streamlit interface with multi-parameter filtering and audit dossier generation.</a:t>
            </a:r>
          </a:p>
        </p:txBody>
      </p:sp>
      <p:sp>
        <p:nvSpPr>
          <p:cNvPr id="6" name="Rounded Rectangle 5"/>
          <p:cNvSpPr/>
          <p:nvPr/>
        </p:nvSpPr>
        <p:spPr>
          <a:xfrm>
            <a:off x="6248095" y="1554480"/>
            <a:ext cx="5212080" cy="4709160"/>
          </a:xfrm>
          <a:prstGeom prst="roundRect">
            <a:avLst/>
          </a:prstGeom>
          <a:solidFill>
            <a:srgbClr val="0F243A"/>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46520" y="1691640"/>
            <a:ext cx="4846320" cy="4389120"/>
          </a:xfrm>
          <a:prstGeom prst="rect">
            <a:avLst/>
          </a:prstGeom>
          <a:noFill/>
        </p:spPr>
        <p:txBody>
          <a:bodyPr wrap="square">
            <a:spAutoFit/>
          </a:bodyPr>
          <a:lstStyle/>
          <a:p>
            <a:pPr>
              <a:defRPr sz="1100" b="1">
                <a:solidFill>
                  <a:srgbClr val="EF4444"/>
                </a:solidFill>
              </a:defRPr>
            </a:pPr>
            <a:r>
              <a:t>STRICT NON-GOALS &amp; BOUNDARIES</a:t>
            </a:r>
          </a:p>
          <a:p>
            <a:pPr>
              <a:spcBef>
                <a:spcPts val="600"/>
              </a:spcBef>
              <a:defRPr sz="950" b="1">
                <a:solidFill>
                  <a:srgbClr val="FFFFFF"/>
                </a:solidFill>
              </a:defRPr>
            </a:pPr>
            <a:r>
              <a:t>❌ NO Autonomous Diagnostic Sign-Off</a:t>
            </a:r>
          </a:p>
          <a:p>
            <a:pPr>
              <a:defRPr sz="850">
                <a:solidFill>
                  <a:srgbClr val="94A3B8"/>
                </a:solidFill>
              </a:defRPr>
            </a:pPr>
            <a:r>
              <a:t>  CuraCascade does not issue clinical diagnoses or alter medical charts without accredited human review.</a:t>
            </a:r>
          </a:p>
          <a:p>
            <a:pPr>
              <a:spcBef>
                <a:spcPts val="600"/>
              </a:spcBef>
              <a:defRPr sz="950" b="1">
                <a:solidFill>
                  <a:srgbClr val="FFFFFF"/>
                </a:solidFill>
              </a:defRPr>
            </a:pPr>
            <a:r>
              <a:t>❌ NO Live EHR Mutation</a:t>
            </a:r>
          </a:p>
          <a:p>
            <a:pPr>
              <a:defRPr sz="850">
                <a:solidFill>
                  <a:srgbClr val="94A3B8"/>
                </a:solidFill>
              </a:defRPr>
            </a:pPr>
            <a:r>
              <a:t>  The software operates in read-only analytical mode and does not write directly to hospital electronic health records.</a:t>
            </a:r>
          </a:p>
          <a:p>
            <a:pPr>
              <a:spcBef>
                <a:spcPts val="600"/>
              </a:spcBef>
              <a:defRPr sz="950" b="1">
                <a:solidFill>
                  <a:srgbClr val="FFFFFF"/>
                </a:solidFill>
              </a:defRPr>
            </a:pPr>
            <a:r>
              <a:t>❌ NO In Silico Variant Pathogenicity Scoring</a:t>
            </a:r>
          </a:p>
          <a:p>
            <a:pPr>
              <a:defRPr sz="850">
                <a:solidFill>
                  <a:srgbClr val="94A3B8"/>
                </a:solidFill>
              </a:defRPr>
            </a:pPr>
            <a:r>
              <a:t>  The engine audits published consensus assertions; it does not predict molecular folding or replace AlphaFold.</a:t>
            </a:r>
          </a:p>
          <a:p>
            <a:pPr>
              <a:spcBef>
                <a:spcPts val="600"/>
              </a:spcBef>
              <a:defRPr sz="950" b="1">
                <a:solidFill>
                  <a:srgbClr val="FFFFFF"/>
                </a:solidFill>
              </a:defRPr>
            </a:pPr>
            <a:r>
              <a:t>❌ NO ISO 15189 Accreditation Claims</a:t>
            </a:r>
          </a:p>
          <a:p>
            <a:pPr>
              <a:defRPr sz="850">
                <a:solidFill>
                  <a:srgbClr val="94A3B8"/>
                </a:solidFill>
              </a:defRPr>
            </a:pPr>
            <a:r>
              <a:t>  Software alone cannot be ISO accredited; it provides compliance-enabling audit infrastructure for accredited labs.</a:t>
            </a:r>
          </a:p>
          <a:p>
            <a:pPr>
              <a:spcBef>
                <a:spcPts val="600"/>
              </a:spcBef>
              <a:defRPr sz="950" b="1">
                <a:solidFill>
                  <a:srgbClr val="FFFFFF"/>
                </a:solidFill>
              </a:defRPr>
            </a:pPr>
            <a:r>
              <a:t>❌ NO Prospective Clinical Prediction Claims</a:t>
            </a:r>
          </a:p>
          <a:p>
            <a:pPr>
              <a:defRPr sz="850">
                <a:solidFill>
                  <a:srgbClr val="94A3B8"/>
                </a:solidFill>
              </a:defRPr>
            </a:pPr>
            <a:r>
              <a:t>  Exploratory ML is retrospective triage; it does not prospectively forecast real-world hospital outcomes.</a:t>
            </a:r>
          </a:p>
        </p:txBody>
      </p:sp>
      <p:sp>
        <p:nvSpPr>
          <p:cNvPr id="8" name="TextBox 7"/>
          <p:cNvSpPr txBox="1"/>
          <p:nvPr/>
        </p:nvSpPr>
        <p:spPr>
          <a:xfrm>
            <a:off x="731520" y="6473952"/>
            <a:ext cx="10728655" cy="274320"/>
          </a:xfrm>
          <a:prstGeom prst="rect">
            <a:avLst/>
          </a:prstGeom>
          <a:noFill/>
        </p:spPr>
        <p:txBody>
          <a:bodyPr wrap="square" lIns="0" tIns="0" rIns="0" bIns="0">
            <a:spAutoFit/>
          </a:bodyPr>
          <a:lstStyle/>
          <a:p>
            <a:pPr>
              <a:defRPr sz="850">
                <a:solidFill>
                  <a:srgbClr val="64748B"/>
                </a:solidFill>
              </a:defRPr>
            </a:pPr>
            <a:r>
              <a:t>CuraCascade V2  |  Academic Defense  |  VIT School of Computer Science &amp; Engineering  |  Slide 09 of 25</a:t>
            </a:r>
          </a:p>
        </p:txBody>
      </p:sp>
    </p:spTree>
  </p:cSld>
  <p:clrMapOvr>
    <a:masterClrMapping/>
  </p:clrMapOvr>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71426"/>
        </a:solidFill>
        <a:effectLst/>
      </p:bgPr>
    </p:bg>
    <p:spTree>
      <p:nvGrpSpPr>
        <p:cNvPr id="1" name=""/>
        <p:cNvGrpSpPr/>
        <p:nvPr/>
      </p:nvGrpSpPr>
      <p:grpSpPr/>
      <p:sp>
        <p:nvSpPr>
          <p:cNvPr id="2" name="Rectangle 1"/>
          <p:cNvSpPr/>
          <p:nvPr/>
        </p:nvSpPr>
        <p:spPr>
          <a:xfrm>
            <a:off x="731520" y="0"/>
            <a:ext cx="10728655" cy="36576"/>
          </a:xfrm>
          <a:prstGeom prst="rect">
            <a:avLst/>
          </a:prstGeom>
          <a:solidFill>
            <a:srgbClr val="00D4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1051560"/>
          </a:xfrm>
          <a:prstGeom prst="rect">
            <a:avLst/>
          </a:prstGeom>
          <a:noFill/>
        </p:spPr>
        <p:txBody>
          <a:bodyPr wrap="square" lIns="0" tIns="0" rIns="0" bIns="0">
            <a:spAutoFit/>
          </a:bodyPr>
          <a:lstStyle/>
          <a:p>
            <a:pPr>
              <a:defRPr sz="950" b="1">
                <a:solidFill>
                  <a:srgbClr val="00D4B2"/>
                </a:solidFill>
              </a:defRPr>
            </a:pPr>
            <a:r>
              <a:t>RESEARCH QUESTIONS</a:t>
            </a:r>
          </a:p>
          <a:p>
            <a:pPr>
              <a:spcBef>
                <a:spcPts val="200"/>
              </a:spcBef>
              <a:defRPr sz="2100" b="1">
                <a:solidFill>
                  <a:srgbClr val="FFFFFF"/>
                </a:solidFill>
              </a:defRPr>
            </a:pPr>
            <a:r>
              <a:t>Contributions &amp; Core Research Questions</a:t>
            </a:r>
          </a:p>
          <a:p>
            <a:pPr>
              <a:spcBef>
                <a:spcPts val="200"/>
              </a:spcBef>
              <a:defRPr sz="1100">
                <a:solidFill>
                  <a:srgbClr val="94A3B8"/>
                </a:solidFill>
              </a:defRPr>
            </a:pPr>
            <a:r>
              <a:t>Three central research questions addressed by empirical implementation and benchmark verification</a:t>
            </a:r>
          </a:p>
        </p:txBody>
      </p:sp>
      <p:sp>
        <p:nvSpPr>
          <p:cNvPr id="4" name="Rounded Rectangle 3"/>
          <p:cNvSpPr/>
          <p:nvPr/>
        </p:nvSpPr>
        <p:spPr>
          <a:xfrm>
            <a:off x="731520" y="1554480"/>
            <a:ext cx="3429000" cy="4709160"/>
          </a:xfrm>
          <a:prstGeom prst="roundRect">
            <a:avLst/>
          </a:prstGeom>
          <a:solidFill>
            <a:srgbClr val="0F243A"/>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691640"/>
            <a:ext cx="3154680" cy="4389120"/>
          </a:xfrm>
          <a:prstGeom prst="rect">
            <a:avLst/>
          </a:prstGeom>
          <a:noFill/>
        </p:spPr>
        <p:txBody>
          <a:bodyPr wrap="square">
            <a:spAutoFit/>
          </a:bodyPr>
          <a:lstStyle/>
          <a:p>
            <a:pPr>
              <a:defRPr sz="1100" b="1">
                <a:solidFill>
                  <a:srgbClr val="38BDF8"/>
                </a:solidFill>
              </a:defRPr>
            </a:pPr>
            <a:r>
              <a:t>RQ1: AUTOMATED AUDIT FEASIBILITY</a:t>
            </a:r>
          </a:p>
          <a:p>
            <a:pPr>
              <a:spcBef>
                <a:spcPts val="400"/>
              </a:spcBef>
              <a:defRPr sz="1000">
                <a:solidFill>
                  <a:srgbClr val="F1F5F9"/>
                </a:solidFill>
              </a:defRPr>
            </a:pPr>
            <a:r>
              <a:t>Can an automated, disease-aware relational engine detect gene–disease discrepancies with zero false positives?</a:t>
            </a:r>
          </a:p>
          <a:p>
            <a:pPr>
              <a:spcBef>
                <a:spcPts val="1200"/>
              </a:spcBef>
              <a:defRPr sz="950" b="1">
                <a:solidFill>
                  <a:srgbClr val="38BDF8"/>
                </a:solidFill>
              </a:defRPr>
            </a:pPr>
            <a:r>
              <a:t>VERIFIED CONTRIBUTION:</a:t>
            </a:r>
          </a:p>
          <a:p>
            <a:pPr>
              <a:spcBef>
                <a:spcPts val="400"/>
              </a:spcBef>
              <a:defRPr sz="900">
                <a:solidFill>
                  <a:srgbClr val="94A3B8"/>
                </a:solidFill>
              </a:defRPr>
            </a:pPr>
            <a:r>
              <a:t>Engineered a 3NF relational schema and ontology crosswalk in pipeline/audit_engine.py. On our independent 94-case evaluable benchmark, the system achieved 100.0% precision (0 false positives), proving deterministic auditing is feasible.</a:t>
            </a:r>
          </a:p>
        </p:txBody>
      </p:sp>
      <p:sp>
        <p:nvSpPr>
          <p:cNvPr id="6" name="Rounded Rectangle 5"/>
          <p:cNvSpPr/>
          <p:nvPr/>
        </p:nvSpPr>
        <p:spPr>
          <a:xfrm>
            <a:off x="4379976" y="1554480"/>
            <a:ext cx="3429000" cy="4709160"/>
          </a:xfrm>
          <a:prstGeom prst="roundRect">
            <a:avLst/>
          </a:prstGeom>
          <a:solidFill>
            <a:srgbClr val="0F243A"/>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17136" y="1691640"/>
            <a:ext cx="3154680" cy="4389120"/>
          </a:xfrm>
          <a:prstGeom prst="rect">
            <a:avLst/>
          </a:prstGeom>
          <a:noFill/>
        </p:spPr>
        <p:txBody>
          <a:bodyPr wrap="square">
            <a:spAutoFit/>
          </a:bodyPr>
          <a:lstStyle/>
          <a:p>
            <a:pPr>
              <a:defRPr sz="1100" b="1">
                <a:solidFill>
                  <a:srgbClr val="F59E0B"/>
                </a:solidFill>
              </a:defRPr>
            </a:pPr>
            <a:r>
              <a:t>RQ2: LATENCY &amp; EXPOSURE KINETICS</a:t>
            </a:r>
          </a:p>
          <a:p>
            <a:pPr>
              <a:spcBef>
                <a:spcPts val="400"/>
              </a:spcBef>
              <a:defRPr sz="1000">
                <a:solidFill>
                  <a:srgbClr val="F1F5F9"/>
                </a:solidFill>
              </a:defRPr>
            </a:pPr>
            <a:r>
              <a:t>What is the empirical propagation latency between ClinGen gene refutations and downstream ClinVar updates?</a:t>
            </a:r>
          </a:p>
          <a:p>
            <a:pPr>
              <a:spcBef>
                <a:spcPts val="1200"/>
              </a:spcBef>
              <a:defRPr sz="950" b="1">
                <a:solidFill>
                  <a:srgbClr val="F59E0B"/>
                </a:solidFill>
              </a:defRPr>
            </a:pPr>
            <a:r>
              <a:t>VERIFIED CONTRIBUTION:</a:t>
            </a:r>
          </a:p>
          <a:p>
            <a:pPr>
              <a:spcBef>
                <a:spcPts val="400"/>
              </a:spcBef>
              <a:defRPr sz="900">
                <a:solidFill>
                  <a:srgbClr val="94A3B8"/>
                </a:solidFill>
              </a:defRPr>
            </a:pPr>
            <a:r>
              <a:t>Across 51,251 findings, we quantified a median propagation latency of 2.82 years (1,030 days) and 182,760 cumulative patient-years at risk, demonstrating that evidence drift is persistent and multi-year.</a:t>
            </a:r>
          </a:p>
        </p:txBody>
      </p:sp>
      <p:sp>
        <p:nvSpPr>
          <p:cNvPr id="8" name="Rounded Rectangle 7"/>
          <p:cNvSpPr/>
          <p:nvPr/>
        </p:nvSpPr>
        <p:spPr>
          <a:xfrm>
            <a:off x="8028432" y="1554480"/>
            <a:ext cx="3429000" cy="4709160"/>
          </a:xfrm>
          <a:prstGeom prst="roundRect">
            <a:avLst/>
          </a:prstGeom>
          <a:solidFill>
            <a:srgbClr val="0F243A"/>
          </a:solidFill>
          <a:ln w="1270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165592" y="1691640"/>
            <a:ext cx="3154680" cy="4389120"/>
          </a:xfrm>
          <a:prstGeom prst="rect">
            <a:avLst/>
          </a:prstGeom>
          <a:noFill/>
        </p:spPr>
        <p:txBody>
          <a:bodyPr wrap="square">
            <a:spAutoFit/>
          </a:bodyPr>
          <a:lstStyle/>
          <a:p>
            <a:pPr>
              <a:defRPr sz="1100" b="1">
                <a:solidFill>
                  <a:srgbClr val="A855F7"/>
                </a:solidFill>
              </a:defRPr>
            </a:pPr>
            <a:r>
              <a:t>RQ3: MACHINE LEARNING RISK TRIAGE</a:t>
            </a:r>
          </a:p>
          <a:p>
            <a:pPr>
              <a:spcBef>
                <a:spcPts val="400"/>
              </a:spcBef>
              <a:defRPr sz="1000">
                <a:solidFill>
                  <a:srgbClr val="F1F5F9"/>
                </a:solidFill>
              </a:defRPr>
            </a:pPr>
            <a:r>
              <a:t>Can machine learning models prioritize high-risk discrepancies based on public metadata features?</a:t>
            </a:r>
          </a:p>
          <a:p>
            <a:pPr>
              <a:spcBef>
                <a:spcPts val="1200"/>
              </a:spcBef>
              <a:defRPr sz="950" b="1">
                <a:solidFill>
                  <a:srgbClr val="A855F7"/>
                </a:solidFill>
              </a:defRPr>
            </a:pPr>
            <a:r>
              <a:t>VERIFIED CONTRIBUTION:</a:t>
            </a:r>
          </a:p>
          <a:p>
            <a:pPr>
              <a:spcBef>
                <a:spcPts val="400"/>
              </a:spcBef>
              <a:defRPr sz="900">
                <a:solidFill>
                  <a:srgbClr val="94A3B8"/>
                </a:solidFill>
              </a:defRPr>
            </a:pPr>
            <a:r>
              <a:t>Trained a Balanced Random Forest achieving an AUROC of 0.857 and Brier score of 0.1508 on 7 features, providing an exploratory risk-triage framework while disclosing retrospective snapshot temporal leakage.</a:t>
            </a:r>
          </a:p>
        </p:txBody>
      </p:sp>
      <p:sp>
        <p:nvSpPr>
          <p:cNvPr id="10" name="TextBox 9"/>
          <p:cNvSpPr txBox="1"/>
          <p:nvPr/>
        </p:nvSpPr>
        <p:spPr>
          <a:xfrm>
            <a:off x="731520" y="6473952"/>
            <a:ext cx="10728655" cy="274320"/>
          </a:xfrm>
          <a:prstGeom prst="rect">
            <a:avLst/>
          </a:prstGeom>
          <a:noFill/>
        </p:spPr>
        <p:txBody>
          <a:bodyPr wrap="square" lIns="0" tIns="0" rIns="0" bIns="0">
            <a:spAutoFit/>
          </a:bodyPr>
          <a:lstStyle/>
          <a:p>
            <a:pPr>
              <a:defRPr sz="850">
                <a:solidFill>
                  <a:srgbClr val="64748B"/>
                </a:solidFill>
              </a:defRPr>
            </a:pPr>
            <a:r>
              <a:t>CuraCascade V2  |  Academic Defense  |  VIT School of Computer Science &amp; Engineering  |  Slide 10 of 25</a:t>
            </a:r>
          </a:p>
        </p:txBody>
      </p:sp>
    </p:spTree>
  </p:cSld>
  <p:clrMapOvr>
    <a:masterClrMapping/>
  </p:clrMapOvr>
  <p:transition spd="med">
    <p:fade/>
  </p:transition>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71426"/>
        </a:solidFill>
        <a:effectLst/>
      </p:bgPr>
    </p:bg>
    <p:spTree>
      <p:nvGrpSpPr>
        <p:cNvPr id="1" name=""/>
        <p:cNvGrpSpPr/>
        <p:nvPr/>
      </p:nvGrpSpPr>
      <p:grpSpPr/>
      <p:sp>
        <p:nvSpPr>
          <p:cNvPr id="2" name="Rectangle 1"/>
          <p:cNvSpPr/>
          <p:nvPr/>
        </p:nvSpPr>
        <p:spPr>
          <a:xfrm>
            <a:off x="731520" y="0"/>
            <a:ext cx="10728655" cy="36576"/>
          </a:xfrm>
          <a:prstGeom prst="rect">
            <a:avLst/>
          </a:prstGeom>
          <a:solidFill>
            <a:srgbClr val="00D4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1051560"/>
          </a:xfrm>
          <a:prstGeom prst="rect">
            <a:avLst/>
          </a:prstGeom>
          <a:noFill/>
        </p:spPr>
        <p:txBody>
          <a:bodyPr wrap="square" lIns="0" tIns="0" rIns="0" bIns="0">
            <a:spAutoFit/>
          </a:bodyPr>
          <a:lstStyle/>
          <a:p>
            <a:pPr>
              <a:defRPr sz="950" b="1">
                <a:solidFill>
                  <a:srgbClr val="00D4B2"/>
                </a:solidFill>
              </a:defRPr>
            </a:pPr>
            <a:r>
              <a:t>WORKFLOW ARCHITECTURE</a:t>
            </a:r>
          </a:p>
          <a:p>
            <a:pPr>
              <a:spcBef>
                <a:spcPts val="200"/>
              </a:spcBef>
              <a:defRPr sz="2100" b="1">
                <a:solidFill>
                  <a:srgbClr val="FFFFFF"/>
                </a:solidFill>
              </a:defRPr>
            </a:pPr>
            <a:r>
              <a:t>End-to-End Processing Workflow</a:t>
            </a:r>
          </a:p>
          <a:p>
            <a:pPr>
              <a:spcBef>
                <a:spcPts val="200"/>
              </a:spcBef>
              <a:defRPr sz="1100">
                <a:solidFill>
                  <a:srgbClr val="94A3B8"/>
                </a:solidFill>
              </a:defRPr>
            </a:pPr>
            <a:r>
              <a:t>The complete data lifecycle from raw public data streams to regulatory clinical audit dossiers</a:t>
            </a:r>
          </a:p>
        </p:txBody>
      </p:sp>
      <p:sp>
        <p:nvSpPr>
          <p:cNvPr id="4" name="Rounded Rectangle 3"/>
          <p:cNvSpPr/>
          <p:nvPr/>
        </p:nvSpPr>
        <p:spPr>
          <a:xfrm>
            <a:off x="731520" y="1554480"/>
            <a:ext cx="1965960" cy="3108960"/>
          </a:xfrm>
          <a:prstGeom prst="roundRect">
            <a:avLst/>
          </a:prstGeom>
          <a:solidFill>
            <a:srgbClr val="0F243A"/>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691640"/>
            <a:ext cx="1746504" cy="2834640"/>
          </a:xfrm>
          <a:prstGeom prst="rect">
            <a:avLst/>
          </a:prstGeom>
          <a:noFill/>
        </p:spPr>
        <p:txBody>
          <a:bodyPr wrap="square">
            <a:spAutoFit/>
          </a:bodyPr>
          <a:lstStyle/>
          <a:p>
            <a:pPr>
              <a:defRPr sz="1100" b="1">
                <a:solidFill>
                  <a:srgbClr val="38BDF8"/>
                </a:solidFill>
              </a:defRPr>
            </a:pPr>
            <a:r>
              <a:t>1. INGESTION</a:t>
            </a:r>
          </a:p>
          <a:p>
            <a:pPr>
              <a:spcBef>
                <a:spcPts val="200"/>
              </a:spcBef>
              <a:defRPr sz="900" b="1">
                <a:solidFill>
                  <a:srgbClr val="FFFFFF"/>
                </a:solidFill>
              </a:defRPr>
            </a:pPr>
            <a:r>
              <a:t>Public Streams</a:t>
            </a:r>
          </a:p>
          <a:p>
            <a:pPr>
              <a:spcBef>
                <a:spcPts val="600"/>
              </a:spcBef>
              <a:defRPr sz="850">
                <a:solidFill>
                  <a:srgbClr val="F1F5F9"/>
                </a:solidFill>
              </a:defRPr>
            </a:pPr>
            <a:r>
              <a:t>Pull raw dumps from ClinGen (JSON/TSV), ClinVar (GZ TSV 4.5GB), and PanelApp (REST API).</a:t>
            </a:r>
          </a:p>
        </p:txBody>
      </p:sp>
      <p:sp>
        <p:nvSpPr>
          <p:cNvPr id="6" name="Rounded Rectangle 5"/>
          <p:cNvSpPr/>
          <p:nvPr/>
        </p:nvSpPr>
        <p:spPr>
          <a:xfrm>
            <a:off x="2916935" y="1554480"/>
            <a:ext cx="1965960" cy="3108960"/>
          </a:xfrm>
          <a:prstGeom prst="roundRect">
            <a:avLst/>
          </a:prstGeom>
          <a:solidFill>
            <a:srgbClr val="0F243A"/>
          </a:solidFill>
          <a:ln w="12700">
            <a:solidFill>
              <a:srgbClr val="00D4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026663" y="1691640"/>
            <a:ext cx="1746504" cy="2834640"/>
          </a:xfrm>
          <a:prstGeom prst="rect">
            <a:avLst/>
          </a:prstGeom>
          <a:noFill/>
        </p:spPr>
        <p:txBody>
          <a:bodyPr wrap="square">
            <a:spAutoFit/>
          </a:bodyPr>
          <a:lstStyle/>
          <a:p>
            <a:pPr>
              <a:defRPr sz="1100" b="1">
                <a:solidFill>
                  <a:srgbClr val="00D4B2"/>
                </a:solidFill>
              </a:defRPr>
            </a:pPr>
            <a:r>
              <a:t>2. VALIDATION</a:t>
            </a:r>
          </a:p>
          <a:p>
            <a:pPr>
              <a:spcBef>
                <a:spcPts val="200"/>
              </a:spcBef>
              <a:defRPr sz="900" b="1">
                <a:solidFill>
                  <a:srgbClr val="FFFFFF"/>
                </a:solidFill>
              </a:defRPr>
            </a:pPr>
            <a:r>
              <a:t>Integrity &amp; Schema</a:t>
            </a:r>
          </a:p>
          <a:p>
            <a:pPr>
              <a:spcBef>
                <a:spcPts val="600"/>
              </a:spcBef>
              <a:defRPr sz="850">
                <a:solidFill>
                  <a:srgbClr val="F1F5F9"/>
                </a:solidFill>
              </a:defRPr>
            </a:pPr>
            <a:r>
              <a:t>Verify SHA-256 checksums, resolve HGNC gene aliases, normalize MedGen/MONDO disease terms.</a:t>
            </a:r>
          </a:p>
        </p:txBody>
      </p:sp>
      <p:sp>
        <p:nvSpPr>
          <p:cNvPr id="8" name="Rounded Rectangle 7"/>
          <p:cNvSpPr/>
          <p:nvPr/>
        </p:nvSpPr>
        <p:spPr>
          <a:xfrm>
            <a:off x="5102351" y="1554480"/>
            <a:ext cx="1965960" cy="3108960"/>
          </a:xfrm>
          <a:prstGeom prst="roundRect">
            <a:avLst/>
          </a:prstGeom>
          <a:solidFill>
            <a:srgbClr val="0F243A"/>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212079" y="1691640"/>
            <a:ext cx="1746504" cy="2834640"/>
          </a:xfrm>
          <a:prstGeom prst="rect">
            <a:avLst/>
          </a:prstGeom>
          <a:noFill/>
        </p:spPr>
        <p:txBody>
          <a:bodyPr wrap="square">
            <a:spAutoFit/>
          </a:bodyPr>
          <a:lstStyle/>
          <a:p>
            <a:pPr>
              <a:defRPr sz="1100" b="1">
                <a:solidFill>
                  <a:srgbClr val="10B981"/>
                </a:solidFill>
              </a:defRPr>
            </a:pPr>
            <a:r>
              <a:t>3. STORAGE</a:t>
            </a:r>
          </a:p>
          <a:p>
            <a:pPr>
              <a:spcBef>
                <a:spcPts val="200"/>
              </a:spcBef>
              <a:defRPr sz="900" b="1">
                <a:solidFill>
                  <a:srgbClr val="FFFFFF"/>
                </a:solidFill>
              </a:defRPr>
            </a:pPr>
            <a:r>
              <a:t>Normalized Warehouses</a:t>
            </a:r>
          </a:p>
          <a:p>
            <a:pPr>
              <a:spcBef>
                <a:spcPts val="600"/>
              </a:spcBef>
              <a:defRPr sz="850">
                <a:solidFill>
                  <a:srgbClr val="F1F5F9"/>
                </a:solidFill>
              </a:defRPr>
            </a:pPr>
            <a:r>
              <a:t>Load into 3NF SQLite database (transactional lookups) and DuckDB (vectorized analytics).</a:t>
            </a:r>
          </a:p>
        </p:txBody>
      </p:sp>
      <p:sp>
        <p:nvSpPr>
          <p:cNvPr id="10" name="Rounded Rectangle 9"/>
          <p:cNvSpPr/>
          <p:nvPr/>
        </p:nvSpPr>
        <p:spPr>
          <a:xfrm>
            <a:off x="7287767" y="1554480"/>
            <a:ext cx="1965960" cy="3108960"/>
          </a:xfrm>
          <a:prstGeom prst="roundRect">
            <a:avLst/>
          </a:prstGeom>
          <a:solidFill>
            <a:srgbClr val="0F243A"/>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97495" y="1691640"/>
            <a:ext cx="1746504" cy="2834640"/>
          </a:xfrm>
          <a:prstGeom prst="rect">
            <a:avLst/>
          </a:prstGeom>
          <a:noFill/>
        </p:spPr>
        <p:txBody>
          <a:bodyPr wrap="square">
            <a:spAutoFit/>
          </a:bodyPr>
          <a:lstStyle/>
          <a:p>
            <a:pPr>
              <a:defRPr sz="1100" b="1">
                <a:solidFill>
                  <a:srgbClr val="F59E0B"/>
                </a:solidFill>
              </a:defRPr>
            </a:pPr>
            <a:r>
              <a:t>4. AUDIT ENGINE</a:t>
            </a:r>
          </a:p>
          <a:p>
            <a:pPr>
              <a:spcBef>
                <a:spcPts val="200"/>
              </a:spcBef>
              <a:defRPr sz="900" b="1">
                <a:solidFill>
                  <a:srgbClr val="FFFFFF"/>
                </a:solidFill>
              </a:defRPr>
            </a:pPr>
            <a:r>
              <a:t>Discrepancy Matching</a:t>
            </a:r>
          </a:p>
          <a:p>
            <a:pPr>
              <a:spcBef>
                <a:spcPts val="600"/>
              </a:spcBef>
              <a:defRPr sz="850">
                <a:solidFill>
                  <a:srgbClr val="F1F5F9"/>
                </a:solidFill>
              </a:defRPr>
            </a:pPr>
            <a:r>
              <a:t>Execute 4-tier disease-aware matching, classify Class A/B/C findings, compute latency days.</a:t>
            </a:r>
          </a:p>
        </p:txBody>
      </p:sp>
      <p:sp>
        <p:nvSpPr>
          <p:cNvPr id="12" name="Rounded Rectangle 11"/>
          <p:cNvSpPr/>
          <p:nvPr/>
        </p:nvSpPr>
        <p:spPr>
          <a:xfrm>
            <a:off x="9473184" y="1554480"/>
            <a:ext cx="1965960" cy="3108960"/>
          </a:xfrm>
          <a:prstGeom prst="roundRect">
            <a:avLst/>
          </a:prstGeom>
          <a:solidFill>
            <a:srgbClr val="0F243A"/>
          </a:solidFill>
          <a:ln w="1270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582911" y="1691640"/>
            <a:ext cx="1746504" cy="2834640"/>
          </a:xfrm>
          <a:prstGeom prst="rect">
            <a:avLst/>
          </a:prstGeom>
          <a:noFill/>
        </p:spPr>
        <p:txBody>
          <a:bodyPr wrap="square">
            <a:spAutoFit/>
          </a:bodyPr>
          <a:lstStyle/>
          <a:p>
            <a:pPr>
              <a:defRPr sz="1100" b="1">
                <a:solidFill>
                  <a:srgbClr val="A855F7"/>
                </a:solidFill>
              </a:defRPr>
            </a:pPr>
            <a:r>
              <a:t>5. DELIVERY</a:t>
            </a:r>
          </a:p>
          <a:p>
            <a:pPr>
              <a:spcBef>
                <a:spcPts val="200"/>
              </a:spcBef>
              <a:defRPr sz="900" b="1">
                <a:solidFill>
                  <a:srgbClr val="FFFFFF"/>
                </a:solidFill>
              </a:defRPr>
            </a:pPr>
            <a:r>
              <a:t>UI &amp; Report Export</a:t>
            </a:r>
          </a:p>
          <a:p>
            <a:pPr>
              <a:spcBef>
                <a:spcPts val="600"/>
              </a:spcBef>
              <a:defRPr sz="850">
                <a:solidFill>
                  <a:srgbClr val="F1F5F9"/>
                </a:solidFill>
              </a:defRPr>
            </a:pPr>
            <a:r>
              <a:t>Streamlit interactive dashboard, multi-parameter filtering, ISO 15189 HTML audit dossiers.</a:t>
            </a:r>
          </a:p>
        </p:txBody>
      </p:sp>
      <p:sp>
        <p:nvSpPr>
          <p:cNvPr id="14" name="Rounded Rectangle 13"/>
          <p:cNvSpPr/>
          <p:nvPr/>
        </p:nvSpPr>
        <p:spPr>
          <a:xfrm>
            <a:off x="731520" y="4846320"/>
            <a:ext cx="10728655" cy="1417320"/>
          </a:xfrm>
          <a:prstGeom prst="roundRect">
            <a:avLst/>
          </a:prstGeom>
          <a:solidFill>
            <a:srgbClr val="16375A"/>
          </a:solidFill>
          <a:ln w="12700">
            <a:solidFill>
              <a:srgbClr val="1E40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4937760"/>
            <a:ext cx="10362895" cy="1234440"/>
          </a:xfrm>
          <a:prstGeom prst="rect">
            <a:avLst/>
          </a:prstGeom>
          <a:noFill/>
        </p:spPr>
        <p:txBody>
          <a:bodyPr wrap="square">
            <a:spAutoFit/>
          </a:bodyPr>
          <a:lstStyle/>
          <a:p>
            <a:pPr>
              <a:defRPr sz="1000" b="1">
                <a:solidFill>
                  <a:srgbClr val="00D4B2"/>
                </a:solidFill>
              </a:defRPr>
            </a:pPr>
            <a:r>
              <a:t>PIPELINE REPRODUCIBILITY &amp; OPERATIONAL GUARANTEES</a:t>
            </a:r>
          </a:p>
          <a:p>
            <a:pPr>
              <a:spcBef>
                <a:spcPts val="200"/>
              </a:spcBef>
              <a:defRPr sz="900">
                <a:solidFill>
                  <a:srgbClr val="F1F5F9"/>
                </a:solidFill>
              </a:defRPr>
            </a:pPr>
            <a:r>
              <a:t>• Cryptographic Provenance: Every downloaded snapshot is logged with SHA-256 hash, URL, and timestamp in data_provenance table.</a:t>
            </a:r>
          </a:p>
          <a:p>
            <a:pPr>
              <a:spcBef>
                <a:spcPts val="200"/>
              </a:spcBef>
              <a:defRPr sz="900">
                <a:solidFill>
                  <a:srgbClr val="F1F5F9"/>
                </a:solidFill>
              </a:defRPr>
            </a:pPr>
            <a:r>
              <a:t>• Streaming Parsing: ClinVar ingestion uses Python line generators to stream 4.5 GB files in under 100 MB RAM.</a:t>
            </a:r>
          </a:p>
          <a:p>
            <a:pPr>
              <a:spcBef>
                <a:spcPts val="200"/>
              </a:spcBef>
              <a:defRPr sz="900">
                <a:solidFill>
                  <a:srgbClr val="F1F5F9"/>
                </a:solidFill>
              </a:defRPr>
            </a:pPr>
            <a:r>
              <a:t>• Transactional Rollbacks: Database inserts occur in 5,000-row chunks; unrecoverable parser errors trigger rollback to prevent partial corruption.</a:t>
            </a:r>
          </a:p>
        </p:txBody>
      </p:sp>
      <p:sp>
        <p:nvSpPr>
          <p:cNvPr id="16" name="TextBox 15"/>
          <p:cNvSpPr txBox="1"/>
          <p:nvPr/>
        </p:nvSpPr>
        <p:spPr>
          <a:xfrm>
            <a:off x="731520" y="6473952"/>
            <a:ext cx="10728655" cy="274320"/>
          </a:xfrm>
          <a:prstGeom prst="rect">
            <a:avLst/>
          </a:prstGeom>
          <a:noFill/>
        </p:spPr>
        <p:txBody>
          <a:bodyPr wrap="square" lIns="0" tIns="0" rIns="0" bIns="0">
            <a:spAutoFit/>
          </a:bodyPr>
          <a:lstStyle/>
          <a:p>
            <a:pPr>
              <a:defRPr sz="850">
                <a:solidFill>
                  <a:srgbClr val="64748B"/>
                </a:solidFill>
              </a:defRPr>
            </a:pPr>
            <a:r>
              <a:t>CuraCascade V2  |  Academic Defense  |  VIT School of Computer Science &amp; Engineering  |  Slide 11 of 25</a:t>
            </a:r>
          </a:p>
        </p:txBody>
      </p:sp>
    </p:spTree>
  </p:cSld>
  <p:clrMapOvr>
    <a:masterClrMapping/>
  </p:clrMapOvr>
  <p:transition spd="med">
    <p:fade/>
  </p:transition>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71426"/>
        </a:solidFill>
        <a:effectLst/>
      </p:bgPr>
    </p:bg>
    <p:spTree>
      <p:nvGrpSpPr>
        <p:cNvPr id="1" name=""/>
        <p:cNvGrpSpPr/>
        <p:nvPr/>
      </p:nvGrpSpPr>
      <p:grpSpPr/>
      <p:sp>
        <p:nvSpPr>
          <p:cNvPr id="2" name="Rectangle 1"/>
          <p:cNvSpPr/>
          <p:nvPr/>
        </p:nvSpPr>
        <p:spPr>
          <a:xfrm>
            <a:off x="731520" y="0"/>
            <a:ext cx="10728655" cy="36576"/>
          </a:xfrm>
          <a:prstGeom prst="rect">
            <a:avLst/>
          </a:prstGeom>
          <a:solidFill>
            <a:srgbClr val="00D4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1051560"/>
          </a:xfrm>
          <a:prstGeom prst="rect">
            <a:avLst/>
          </a:prstGeom>
          <a:noFill/>
        </p:spPr>
        <p:txBody>
          <a:bodyPr wrap="square" lIns="0" tIns="0" rIns="0" bIns="0">
            <a:spAutoFit/>
          </a:bodyPr>
          <a:lstStyle/>
          <a:p>
            <a:pPr>
              <a:defRPr sz="950" b="1">
                <a:solidFill>
                  <a:srgbClr val="00D4B2"/>
                </a:solidFill>
              </a:defRPr>
            </a:pPr>
            <a:r>
              <a:t>SYSTEM ARCHITECTURE</a:t>
            </a:r>
          </a:p>
          <a:p>
            <a:pPr>
              <a:spcBef>
                <a:spcPts val="200"/>
              </a:spcBef>
              <a:defRPr sz="2100" b="1">
                <a:solidFill>
                  <a:srgbClr val="FFFFFF"/>
                </a:solidFill>
              </a:defRPr>
            </a:pPr>
            <a:r>
              <a:t>Decoupled Multi-Tier System Architecture</a:t>
            </a:r>
          </a:p>
          <a:p>
            <a:pPr>
              <a:spcBef>
                <a:spcPts val="200"/>
              </a:spcBef>
              <a:defRPr sz="1100">
                <a:solidFill>
                  <a:srgbClr val="94A3B8"/>
                </a:solidFill>
              </a:defRPr>
            </a:pPr>
            <a:r>
              <a:t>Clean separation of ingestion pipelines, dual analytical warehouses, and presentation interfaces</a:t>
            </a:r>
          </a:p>
        </p:txBody>
      </p:sp>
      <p:sp>
        <p:nvSpPr>
          <p:cNvPr id="4" name="Rounded Rectangle 3"/>
          <p:cNvSpPr/>
          <p:nvPr/>
        </p:nvSpPr>
        <p:spPr>
          <a:xfrm>
            <a:off x="731520" y="1554480"/>
            <a:ext cx="5120640" cy="4709160"/>
          </a:xfrm>
          <a:prstGeom prst="roundRect">
            <a:avLst/>
          </a:prstGeom>
          <a:solidFill>
            <a:srgbClr val="0F243A"/>
          </a:solidFill>
          <a:ln w="12700">
            <a:solidFill>
              <a:srgbClr val="1E40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91640"/>
            <a:ext cx="4754880" cy="4389120"/>
          </a:xfrm>
          <a:prstGeom prst="rect">
            <a:avLst/>
          </a:prstGeom>
          <a:noFill/>
        </p:spPr>
        <p:txBody>
          <a:bodyPr wrap="square">
            <a:spAutoFit/>
          </a:bodyPr>
          <a:lstStyle/>
          <a:p>
            <a:pPr>
              <a:defRPr sz="1100" b="1">
                <a:solidFill>
                  <a:srgbClr val="00D4B2"/>
                </a:solidFill>
              </a:defRPr>
            </a:pPr>
            <a:r>
              <a:t>ARCHITECTURAL TIERS &amp; SEPARATION OF CONCERNS</a:t>
            </a:r>
          </a:p>
          <a:p>
            <a:pPr>
              <a:spcBef>
                <a:spcPts val="800"/>
              </a:spcBef>
              <a:defRPr sz="1000" b="1">
                <a:solidFill>
                  <a:srgbClr val="38BDF8"/>
                </a:solidFill>
              </a:defRPr>
            </a:pPr>
            <a:r>
              <a:t>• Pipeline Tier (Headless ETL)</a:t>
            </a:r>
          </a:p>
          <a:p>
            <a:pPr>
              <a:defRPr sz="900">
                <a:solidFill>
                  <a:srgbClr val="F1F5F9"/>
                </a:solidFill>
              </a:defRPr>
            </a:pPr>
            <a:r>
              <a:t>  Dedicated scripts in pipeline/ (ingest_clingen.py, ingest_clinvar.py, build_db.py). Operates headlessly via CLI.</a:t>
            </a:r>
          </a:p>
          <a:p>
            <a:pPr>
              <a:spcBef>
                <a:spcPts val="800"/>
              </a:spcBef>
              <a:defRPr sz="1000" b="1">
                <a:solidFill>
                  <a:srgbClr val="38BDF8"/>
                </a:solidFill>
              </a:defRPr>
            </a:pPr>
            <a:r>
              <a:t>• Storage Tier (Dual Engines)</a:t>
            </a:r>
          </a:p>
          <a:p>
            <a:pPr>
              <a:defRPr sz="900">
                <a:solidFill>
                  <a:srgbClr val="F1F5F9"/>
                </a:solidFill>
              </a:defRPr>
            </a:pPr>
            <a:r>
              <a:t>  SQLite for relational constraints, foreign keys, and UI point-lookups. DuckDB for vectorized columnar analytics.</a:t>
            </a:r>
          </a:p>
          <a:p>
            <a:pPr>
              <a:spcBef>
                <a:spcPts val="800"/>
              </a:spcBef>
              <a:defRPr sz="1000" b="1">
                <a:solidFill>
                  <a:srgbClr val="38BDF8"/>
                </a:solidFill>
              </a:defRPr>
            </a:pPr>
            <a:r>
              <a:t>• Audit &amp; Benchmark Tier</a:t>
            </a:r>
          </a:p>
          <a:p>
            <a:pPr>
              <a:defRPr sz="900">
                <a:solidFill>
                  <a:srgbClr val="F1F5F9"/>
                </a:solidFill>
              </a:defRPr>
            </a:pPr>
            <a:r>
              <a:t>  audit_engine.py evaluates ontology crosswalks. validation_benchmark.py runs firewalled evaluation.</a:t>
            </a:r>
          </a:p>
          <a:p>
            <a:pPr>
              <a:spcBef>
                <a:spcPts val="800"/>
              </a:spcBef>
              <a:defRPr sz="1000" b="1">
                <a:solidFill>
                  <a:srgbClr val="38BDF8"/>
                </a:solidFill>
              </a:defRPr>
            </a:pPr>
            <a:r>
              <a:t>• Presentation Tier (Streamlit UI)</a:t>
            </a:r>
          </a:p>
          <a:p>
            <a:pPr>
              <a:defRPr sz="900">
                <a:solidFill>
                  <a:srgbClr val="F1F5F9"/>
                </a:solidFill>
              </a:defRPr>
            </a:pPr>
            <a:r>
              <a:t>  app.py provides responsive UI with custom CSS design tokens, cached DB connections, and zero ETL logic.</a:t>
            </a:r>
          </a:p>
        </p:txBody>
      </p:sp>
      <p:sp>
        <p:nvSpPr>
          <p:cNvPr id="6" name="Rounded Rectangle 5"/>
          <p:cNvSpPr/>
          <p:nvPr/>
        </p:nvSpPr>
        <p:spPr>
          <a:xfrm>
            <a:off x="6181344" y="1517904"/>
            <a:ext cx="5315407" cy="4782312"/>
          </a:xfrm>
          <a:prstGeom prst="roundRect">
            <a:avLst/>
          </a:prstGeom>
          <a:solidFill>
            <a:srgbClr val="0B1B2E"/>
          </a:solidFill>
          <a:ln w="12700">
            <a:solidFill>
              <a:srgbClr val="1E40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igure_schema_architecture.png"/>
          <p:cNvPicPr>
            <a:picLocks noChangeAspect="1"/>
          </p:cNvPicPr>
          <p:nvPr/>
        </p:nvPicPr>
        <p:blipFill>
          <a:blip r:embed="rId2"/>
          <a:stretch>
            <a:fillRect/>
          </a:stretch>
        </p:blipFill>
        <p:spPr>
          <a:xfrm>
            <a:off x="6217920" y="1554480"/>
            <a:ext cx="5242255" cy="4709160"/>
          </a:xfrm>
          <a:prstGeom prst="rect">
            <a:avLst/>
          </a:prstGeom>
        </p:spPr>
      </p:pic>
      <p:sp>
        <p:nvSpPr>
          <p:cNvPr id="8" name="TextBox 7"/>
          <p:cNvSpPr txBox="1"/>
          <p:nvPr/>
        </p:nvSpPr>
        <p:spPr>
          <a:xfrm>
            <a:off x="731520" y="6473952"/>
            <a:ext cx="10728655" cy="274320"/>
          </a:xfrm>
          <a:prstGeom prst="rect">
            <a:avLst/>
          </a:prstGeom>
          <a:noFill/>
        </p:spPr>
        <p:txBody>
          <a:bodyPr wrap="square" lIns="0" tIns="0" rIns="0" bIns="0">
            <a:spAutoFit/>
          </a:bodyPr>
          <a:lstStyle/>
          <a:p>
            <a:pPr>
              <a:defRPr sz="850">
                <a:solidFill>
                  <a:srgbClr val="64748B"/>
                </a:solidFill>
              </a:defRPr>
            </a:pPr>
            <a:r>
              <a:t>CuraCascade V2  |  Academic Defense  |  VIT School of Computer Science &amp; Engineering  |  Slide 12 of 25</a:t>
            </a:r>
          </a:p>
        </p:txBody>
      </p:sp>
    </p:spTree>
  </p:cSld>
  <p:clrMapOvr>
    <a:masterClrMapping/>
  </p:clrMapOvr>
  <p:transition spd="med">
    <p:fade/>
  </p:transition>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71426"/>
        </a:solidFill>
        <a:effectLst/>
      </p:bgPr>
    </p:bg>
    <p:spTree>
      <p:nvGrpSpPr>
        <p:cNvPr id="1" name=""/>
        <p:cNvGrpSpPr/>
        <p:nvPr/>
      </p:nvGrpSpPr>
      <p:grpSpPr/>
      <p:sp>
        <p:nvSpPr>
          <p:cNvPr id="2" name="Rectangle 1"/>
          <p:cNvSpPr/>
          <p:nvPr/>
        </p:nvSpPr>
        <p:spPr>
          <a:xfrm>
            <a:off x="731520" y="0"/>
            <a:ext cx="10728655" cy="36576"/>
          </a:xfrm>
          <a:prstGeom prst="rect">
            <a:avLst/>
          </a:prstGeom>
          <a:solidFill>
            <a:srgbClr val="00D4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1051560"/>
          </a:xfrm>
          <a:prstGeom prst="rect">
            <a:avLst/>
          </a:prstGeom>
          <a:noFill/>
        </p:spPr>
        <p:txBody>
          <a:bodyPr wrap="square" lIns="0" tIns="0" rIns="0" bIns="0">
            <a:spAutoFit/>
          </a:bodyPr>
          <a:lstStyle/>
          <a:p>
            <a:pPr>
              <a:defRPr sz="950" b="1">
                <a:solidFill>
                  <a:srgbClr val="00D4B2"/>
                </a:solidFill>
              </a:defRPr>
            </a:pPr>
            <a:r>
              <a:t>DATABASE DESIGN</a:t>
            </a:r>
          </a:p>
          <a:p>
            <a:pPr>
              <a:spcBef>
                <a:spcPts val="200"/>
              </a:spcBef>
              <a:defRPr sz="2100" b="1">
                <a:solidFill>
                  <a:srgbClr val="FFFFFF"/>
                </a:solidFill>
              </a:defRPr>
            </a:pPr>
            <a:r>
              <a:t>Normalized 3NF Relational Schema &amp; Indexing</a:t>
            </a:r>
          </a:p>
          <a:p>
            <a:pPr>
              <a:spcBef>
                <a:spcPts val="200"/>
              </a:spcBef>
              <a:defRPr sz="1100">
                <a:solidFill>
                  <a:srgbClr val="94A3B8"/>
                </a:solidFill>
              </a:defRPr>
            </a:pPr>
            <a:r>
              <a:t>Relational decomposition, foreign-key cascades, and compound B-tree index optimization</a:t>
            </a:r>
          </a:p>
        </p:txBody>
      </p:sp>
      <p:sp>
        <p:nvSpPr>
          <p:cNvPr id="4" name="Rounded Rectangle 3"/>
          <p:cNvSpPr/>
          <p:nvPr/>
        </p:nvSpPr>
        <p:spPr>
          <a:xfrm>
            <a:off x="731520" y="1554480"/>
            <a:ext cx="5120640" cy="4709160"/>
          </a:xfrm>
          <a:prstGeom prst="roundRect">
            <a:avLst/>
          </a:prstGeom>
          <a:solidFill>
            <a:srgbClr val="0F243A"/>
          </a:solidFill>
          <a:ln w="12700">
            <a:solidFill>
              <a:srgbClr val="1E40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91640"/>
            <a:ext cx="4754880" cy="4389120"/>
          </a:xfrm>
          <a:prstGeom prst="rect">
            <a:avLst/>
          </a:prstGeom>
          <a:noFill/>
        </p:spPr>
        <p:txBody>
          <a:bodyPr wrap="square">
            <a:spAutoFit/>
          </a:bodyPr>
          <a:lstStyle/>
          <a:p>
            <a:pPr>
              <a:defRPr sz="1100" b="1">
                <a:solidFill>
                  <a:srgbClr val="00D4B2"/>
                </a:solidFill>
              </a:defRPr>
            </a:pPr>
            <a:r>
              <a:t>THIRD NORMAL FORM (3NF) DECOMPOSITION</a:t>
            </a:r>
          </a:p>
          <a:p>
            <a:pPr>
              <a:spcBef>
                <a:spcPts val="600"/>
              </a:spcBef>
              <a:defRPr sz="950" b="1">
                <a:solidFill>
                  <a:srgbClr val="38BDF8"/>
                </a:solidFill>
              </a:defRPr>
            </a:pPr>
            <a:r>
              <a:t>• Parent Table: genes</a:t>
            </a:r>
          </a:p>
          <a:p>
            <a:pPr>
              <a:defRPr sz="850">
                <a:solidFill>
                  <a:srgbClr val="F1F5F9"/>
                </a:solidFill>
              </a:defRPr>
            </a:pPr>
            <a:r>
              <a:t>  Keyed by immutable hgnc_id (PK) with UNIQUE constraint on symbol. Stores locus, chromosome.</a:t>
            </a:r>
          </a:p>
          <a:p>
            <a:pPr>
              <a:spcBef>
                <a:spcPts val="600"/>
              </a:spcBef>
              <a:defRPr sz="950" b="1">
                <a:solidFill>
                  <a:srgbClr val="38BDF8"/>
                </a:solidFill>
              </a:defRPr>
            </a:pPr>
            <a:r>
              <a:t>• Child: gene_validity</a:t>
            </a:r>
          </a:p>
          <a:p>
            <a:pPr>
              <a:defRPr sz="850">
                <a:solidFill>
                  <a:srgbClr val="F1F5F9"/>
                </a:solidFill>
              </a:defRPr>
            </a:pPr>
            <a:r>
              <a:t>  Stores ClinGen curations. FK (gene_symbol) REFERENCES genes(symbol) ON DELETE CASCADE.</a:t>
            </a:r>
          </a:p>
          <a:p>
            <a:pPr>
              <a:spcBef>
                <a:spcPts val="600"/>
              </a:spcBef>
              <a:defRPr sz="950" b="1">
                <a:solidFill>
                  <a:srgbClr val="38BDF8"/>
                </a:solidFill>
              </a:defRPr>
            </a:pPr>
            <a:r>
              <a:t>• Child: clinvar_variants</a:t>
            </a:r>
          </a:p>
          <a:p>
            <a:pPr>
              <a:defRPr sz="850">
                <a:solidFill>
                  <a:srgbClr val="F1F5F9"/>
                </a:solidFill>
              </a:defRPr>
            </a:pPr>
            <a:r>
              <a:t>  Stores variant assertions (PK variation_id). FK (gene_symbol) REFERENCES genes(symbol).</a:t>
            </a:r>
          </a:p>
          <a:p>
            <a:pPr>
              <a:spcBef>
                <a:spcPts val="600"/>
              </a:spcBef>
              <a:defRPr sz="950" b="1">
                <a:solidFill>
                  <a:srgbClr val="38BDF8"/>
                </a:solidFill>
              </a:defRPr>
            </a:pPr>
            <a:r>
              <a:t>• Child: audit_findings</a:t>
            </a:r>
          </a:p>
          <a:p>
            <a:pPr>
              <a:defRPr sz="850">
                <a:solidFill>
                  <a:srgbClr val="F1F5F9"/>
                </a:solidFill>
              </a:defRPr>
            </a:pPr>
            <a:r>
              <a:t>  Stores computed discrepancies. Captures finding_hash, risk_severity, days_unresolved.</a:t>
            </a:r>
          </a:p>
          <a:p>
            <a:pPr>
              <a:spcBef>
                <a:spcPts val="600"/>
              </a:spcBef>
              <a:defRPr sz="950" b="1">
                <a:solidFill>
                  <a:srgbClr val="38BDF8"/>
                </a:solidFill>
              </a:defRPr>
            </a:pPr>
            <a:r>
              <a:t>• Compound B-Tree Indexes</a:t>
            </a:r>
          </a:p>
          <a:p>
            <a:pPr>
              <a:defRPr sz="850">
                <a:solidFill>
                  <a:srgbClr val="F1F5F9"/>
                </a:solidFill>
              </a:defRPr>
            </a:pPr>
            <a:r>
              <a:t>  idx_cv_gene_sig on (gene_symbol, clinical_significance) accelerates joins from 280ms to 8.4ms.</a:t>
            </a:r>
          </a:p>
        </p:txBody>
      </p:sp>
      <p:sp>
        <p:nvSpPr>
          <p:cNvPr id="6" name="Rounded Rectangle 5"/>
          <p:cNvSpPr/>
          <p:nvPr/>
        </p:nvSpPr>
        <p:spPr>
          <a:xfrm>
            <a:off x="6181344" y="1517904"/>
            <a:ext cx="5315407" cy="4782312"/>
          </a:xfrm>
          <a:prstGeom prst="roundRect">
            <a:avLst/>
          </a:prstGeom>
          <a:solidFill>
            <a:srgbClr val="0B1B2E"/>
          </a:solidFill>
          <a:ln w="12700">
            <a:solidFill>
              <a:srgbClr val="1E40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ropped_s15_schema_relational_3nf.png"/>
          <p:cNvPicPr>
            <a:picLocks noChangeAspect="1"/>
          </p:cNvPicPr>
          <p:nvPr/>
        </p:nvPicPr>
        <p:blipFill>
          <a:blip r:embed="rId2"/>
          <a:stretch>
            <a:fillRect/>
          </a:stretch>
        </p:blipFill>
        <p:spPr>
          <a:xfrm>
            <a:off x="6217920" y="1554480"/>
            <a:ext cx="5242255" cy="4709160"/>
          </a:xfrm>
          <a:prstGeom prst="rect">
            <a:avLst/>
          </a:prstGeom>
        </p:spPr>
      </p:pic>
      <p:sp>
        <p:nvSpPr>
          <p:cNvPr id="8" name="TextBox 7"/>
          <p:cNvSpPr txBox="1"/>
          <p:nvPr/>
        </p:nvSpPr>
        <p:spPr>
          <a:xfrm>
            <a:off x="731520" y="6473952"/>
            <a:ext cx="10728655" cy="274320"/>
          </a:xfrm>
          <a:prstGeom prst="rect">
            <a:avLst/>
          </a:prstGeom>
          <a:noFill/>
        </p:spPr>
        <p:txBody>
          <a:bodyPr wrap="square" lIns="0" tIns="0" rIns="0" bIns="0">
            <a:spAutoFit/>
          </a:bodyPr>
          <a:lstStyle/>
          <a:p>
            <a:pPr>
              <a:defRPr sz="850">
                <a:solidFill>
                  <a:srgbClr val="64748B"/>
                </a:solidFill>
              </a:defRPr>
            </a:pPr>
            <a:r>
              <a:t>CuraCascade V2  |  Academic Defense  |  VIT School of Computer Science &amp; Engineering  |  Slide 13 of 25</a:t>
            </a:r>
          </a:p>
        </p:txBody>
      </p:sp>
    </p:spTree>
  </p:cSld>
  <p:clrMapOvr>
    <a:masterClrMapping/>
  </p:clrMapOvr>
  <p:transition spd="med">
    <p:fade/>
  </p:transition>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71426"/>
        </a:solidFill>
        <a:effectLst/>
      </p:bgPr>
    </p:bg>
    <p:spTree>
      <p:nvGrpSpPr>
        <p:cNvPr id="1" name=""/>
        <p:cNvGrpSpPr/>
        <p:nvPr/>
      </p:nvGrpSpPr>
      <p:grpSpPr/>
      <p:sp>
        <p:nvSpPr>
          <p:cNvPr id="2" name="Rectangle 1"/>
          <p:cNvSpPr/>
          <p:nvPr/>
        </p:nvSpPr>
        <p:spPr>
          <a:xfrm>
            <a:off x="731520" y="0"/>
            <a:ext cx="10728655" cy="36576"/>
          </a:xfrm>
          <a:prstGeom prst="rect">
            <a:avLst/>
          </a:prstGeom>
          <a:solidFill>
            <a:srgbClr val="00D4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1051560"/>
          </a:xfrm>
          <a:prstGeom prst="rect">
            <a:avLst/>
          </a:prstGeom>
          <a:noFill/>
        </p:spPr>
        <p:txBody>
          <a:bodyPr wrap="square" lIns="0" tIns="0" rIns="0" bIns="0">
            <a:spAutoFit/>
          </a:bodyPr>
          <a:lstStyle/>
          <a:p>
            <a:pPr>
              <a:defRPr sz="950" b="1">
                <a:solidFill>
                  <a:srgbClr val="00D4B2"/>
                </a:solidFill>
              </a:defRPr>
            </a:pPr>
            <a:r>
              <a:t>INGESTION &amp; PROVENANCE</a:t>
            </a:r>
          </a:p>
          <a:p>
            <a:pPr>
              <a:spcBef>
                <a:spcPts val="200"/>
              </a:spcBef>
              <a:defRPr sz="2100" b="1">
                <a:solidFill>
                  <a:srgbClr val="FFFFFF"/>
                </a:solidFill>
              </a:defRPr>
            </a:pPr>
            <a:r>
              <a:t>Data Ingestion, Cryptographic Provenance &amp; Normalization</a:t>
            </a:r>
          </a:p>
          <a:p>
            <a:pPr>
              <a:spcBef>
                <a:spcPts val="200"/>
              </a:spcBef>
              <a:defRPr sz="1100">
                <a:solidFill>
                  <a:srgbClr val="94A3B8"/>
                </a:solidFill>
              </a:defRPr>
            </a:pPr>
            <a:r>
              <a:t>Defensive parsing, SHA-256 snapshot verification, and HGNC nomenclature reconciliation</a:t>
            </a:r>
          </a:p>
        </p:txBody>
      </p:sp>
      <p:sp>
        <p:nvSpPr>
          <p:cNvPr id="4" name="Rounded Rectangle 3"/>
          <p:cNvSpPr/>
          <p:nvPr/>
        </p:nvSpPr>
        <p:spPr>
          <a:xfrm>
            <a:off x="731520" y="1554480"/>
            <a:ext cx="5303520" cy="4709160"/>
          </a:xfrm>
          <a:prstGeom prst="roundRect">
            <a:avLst/>
          </a:prstGeom>
          <a:solidFill>
            <a:srgbClr val="0F243A"/>
          </a:solidFill>
          <a:ln w="12700">
            <a:solidFill>
              <a:srgbClr val="1E40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91640"/>
            <a:ext cx="4937760" cy="4389120"/>
          </a:xfrm>
          <a:prstGeom prst="rect">
            <a:avLst/>
          </a:prstGeom>
          <a:noFill/>
        </p:spPr>
        <p:txBody>
          <a:bodyPr wrap="square">
            <a:spAutoFit/>
          </a:bodyPr>
          <a:lstStyle/>
          <a:p>
            <a:pPr>
              <a:defRPr sz="1100" b="1">
                <a:solidFill>
                  <a:srgbClr val="00D4B2"/>
                </a:solidFill>
              </a:defRPr>
            </a:pPr>
            <a:r>
              <a:t>DATA INGESTION SPECIFICATIONS</a:t>
            </a:r>
          </a:p>
          <a:p>
            <a:pPr>
              <a:spcBef>
                <a:spcPts val="600"/>
              </a:spcBef>
              <a:defRPr sz="950" b="1">
                <a:solidFill>
                  <a:srgbClr val="38BDF8"/>
                </a:solidFill>
              </a:defRPr>
            </a:pPr>
            <a:r>
              <a:t>• ClinGen Gene Validity (Nested JSON &amp; TSV)</a:t>
            </a:r>
          </a:p>
          <a:p>
            <a:pPr>
              <a:defRPr sz="850">
                <a:solidFill>
                  <a:srgbClr val="F1F5F9"/>
                </a:solidFill>
              </a:defRPr>
            </a:pPr>
            <a:r>
              <a:t>  Cadence: Weekly  |  Processing: Mapped to MONDO IDs, validity score extracted</a:t>
            </a:r>
          </a:p>
          <a:p>
            <a:pPr>
              <a:spcBef>
                <a:spcPts val="600"/>
              </a:spcBef>
              <a:defRPr sz="950" b="1">
                <a:solidFill>
                  <a:srgbClr val="38BDF8"/>
                </a:solidFill>
              </a:defRPr>
            </a:pPr>
            <a:r>
              <a:t>• NCBI ClinVar (4.5 GB Gzip TSV)</a:t>
            </a:r>
          </a:p>
          <a:p>
            <a:pPr>
              <a:defRPr sz="850">
                <a:solidFill>
                  <a:srgbClr val="F1F5F9"/>
                </a:solidFill>
              </a:defRPr>
            </a:pPr>
            <a:r>
              <a:t>  Cadence: Monthly  |  Processing: Streamed line-by-line, filtered for P/LP &amp; VUS</a:t>
            </a:r>
          </a:p>
          <a:p>
            <a:pPr>
              <a:spcBef>
                <a:spcPts val="600"/>
              </a:spcBef>
              <a:defRPr sz="950" b="1">
                <a:solidFill>
                  <a:srgbClr val="38BDF8"/>
                </a:solidFill>
              </a:defRPr>
            </a:pPr>
            <a:r>
              <a:t>• Genomics England PanelApp (REST API (JSON))</a:t>
            </a:r>
          </a:p>
          <a:p>
            <a:pPr>
              <a:defRPr sz="850">
                <a:solidFill>
                  <a:srgbClr val="F1F5F9"/>
                </a:solidFill>
              </a:defRPr>
            </a:pPr>
            <a:r>
              <a:t>  Cadence: On-demand  |  Processing: Parsed green/amber/red tiers, 500+ panels</a:t>
            </a:r>
          </a:p>
          <a:p>
            <a:pPr>
              <a:spcBef>
                <a:spcPts val="600"/>
              </a:spcBef>
              <a:defRPr sz="950" b="1">
                <a:solidFill>
                  <a:srgbClr val="38BDF8"/>
                </a:solidFill>
              </a:defRPr>
            </a:pPr>
            <a:r>
              <a:t>• HGNC Master Registry (Tab-Delimited)</a:t>
            </a:r>
          </a:p>
          <a:p>
            <a:pPr>
              <a:defRPr sz="850">
                <a:solidFill>
                  <a:srgbClr val="F1F5F9"/>
                </a:solidFill>
              </a:defRPr>
            </a:pPr>
            <a:r>
              <a:t>  Cadence: Quarterly  |  Processing: Resolved 100% of historical gene aliases</a:t>
            </a:r>
          </a:p>
        </p:txBody>
      </p:sp>
      <p:sp>
        <p:nvSpPr>
          <p:cNvPr id="6" name="Rounded Rectangle 5"/>
          <p:cNvSpPr/>
          <p:nvPr/>
        </p:nvSpPr>
        <p:spPr>
          <a:xfrm>
            <a:off x="6309360" y="1554480"/>
            <a:ext cx="5150815" cy="2240280"/>
          </a:xfrm>
          <a:prstGeom prst="roundRect">
            <a:avLst/>
          </a:prstGeom>
          <a:solidFill>
            <a:srgbClr val="0F243A"/>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1691640"/>
            <a:ext cx="4754880" cy="1920240"/>
          </a:xfrm>
          <a:prstGeom prst="rect">
            <a:avLst/>
          </a:prstGeom>
          <a:noFill/>
        </p:spPr>
        <p:txBody>
          <a:bodyPr wrap="square">
            <a:spAutoFit/>
          </a:bodyPr>
          <a:lstStyle/>
          <a:p>
            <a:pPr>
              <a:defRPr sz="1050" b="1">
                <a:solidFill>
                  <a:srgbClr val="38BDF8"/>
                </a:solidFill>
              </a:defRPr>
            </a:pPr>
            <a:r>
              <a:t>CRYPTOGRAPHIC PROVENANCE (SHA-256)</a:t>
            </a:r>
          </a:p>
          <a:p>
            <a:pPr>
              <a:spcBef>
                <a:spcPts val="300"/>
              </a:spcBef>
              <a:defRPr sz="850">
                <a:solidFill>
                  <a:srgbClr val="F1F5F9"/>
                </a:solidFill>
              </a:defRPr>
            </a:pPr>
            <a:r>
              <a:t>• Every downloaded raw file is hashed using SHA-256 before parsing.</a:t>
            </a:r>
          </a:p>
          <a:p>
            <a:pPr>
              <a:spcBef>
                <a:spcPts val="300"/>
              </a:spcBef>
              <a:defRPr sz="850">
                <a:solidFill>
                  <a:srgbClr val="F1F5F9"/>
                </a:solidFill>
              </a:defRPr>
            </a:pPr>
            <a:r>
              <a:t>• Logged in data_provenance table with download URL, file size, and timestamp.</a:t>
            </a:r>
          </a:p>
          <a:p>
            <a:pPr>
              <a:spcBef>
                <a:spcPts val="300"/>
              </a:spcBef>
              <a:defRPr sz="850">
                <a:solidFill>
                  <a:srgbClr val="F1F5F9"/>
                </a:solidFill>
              </a:defRPr>
            </a:pPr>
            <a:r>
              <a:t>• Guarantees scientific reproducibility and detects upstream schema drift.</a:t>
            </a:r>
          </a:p>
        </p:txBody>
      </p:sp>
      <p:sp>
        <p:nvSpPr>
          <p:cNvPr id="8" name="Rounded Rectangle 7"/>
          <p:cNvSpPr/>
          <p:nvPr/>
        </p:nvSpPr>
        <p:spPr>
          <a:xfrm>
            <a:off x="6309360" y="4023360"/>
            <a:ext cx="5150815" cy="2240280"/>
          </a:xfrm>
          <a:prstGeom prst="roundRect">
            <a:avLst/>
          </a:prstGeom>
          <a:solidFill>
            <a:srgbClr val="0F243A"/>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4160520"/>
            <a:ext cx="4754880" cy="1920240"/>
          </a:xfrm>
          <a:prstGeom prst="rect">
            <a:avLst/>
          </a:prstGeom>
          <a:noFill/>
        </p:spPr>
        <p:txBody>
          <a:bodyPr wrap="square">
            <a:spAutoFit/>
          </a:bodyPr>
          <a:lstStyle/>
          <a:p>
            <a:pPr>
              <a:defRPr sz="1050" b="1">
                <a:solidFill>
                  <a:srgbClr val="10B981"/>
                </a:solidFill>
              </a:defRPr>
            </a:pPr>
            <a:r>
              <a:t>DEFENSIVE EXCEPTION HANDLING</a:t>
            </a:r>
          </a:p>
          <a:p>
            <a:pPr>
              <a:spcBef>
                <a:spcPts val="300"/>
              </a:spcBef>
              <a:defRPr sz="850">
                <a:solidFill>
                  <a:srgbClr val="F1F5F9"/>
                </a:solidFill>
              </a:defRPr>
            </a:pPr>
            <a:r>
              <a:t>• Corrupted TSV lines with delimiter errors are trapped into an error log.</a:t>
            </a:r>
          </a:p>
          <a:p>
            <a:pPr>
              <a:spcBef>
                <a:spcPts val="300"/>
              </a:spcBef>
              <a:defRPr sz="850">
                <a:solidFill>
                  <a:srgbClr val="F1F5F9"/>
                </a:solidFill>
              </a:defRPr>
            </a:pPr>
            <a:r>
              <a:t>• Date fields are defensively coerced to ISO 8601; invalid strings set to NULL.</a:t>
            </a:r>
          </a:p>
          <a:p>
            <a:pPr>
              <a:spcBef>
                <a:spcPts val="300"/>
              </a:spcBef>
              <a:defRPr sz="850">
                <a:solidFill>
                  <a:srgbClr val="F1F5F9"/>
                </a:solidFill>
              </a:defRPr>
            </a:pPr>
            <a:r>
              <a:t>• Transactions commit in 5,000-row chunks with automatic rollback on error.</a:t>
            </a:r>
          </a:p>
        </p:txBody>
      </p:sp>
      <p:sp>
        <p:nvSpPr>
          <p:cNvPr id="10" name="TextBox 9"/>
          <p:cNvSpPr txBox="1"/>
          <p:nvPr/>
        </p:nvSpPr>
        <p:spPr>
          <a:xfrm>
            <a:off x="731520" y="6473952"/>
            <a:ext cx="10728655" cy="274320"/>
          </a:xfrm>
          <a:prstGeom prst="rect">
            <a:avLst/>
          </a:prstGeom>
          <a:noFill/>
        </p:spPr>
        <p:txBody>
          <a:bodyPr wrap="square" lIns="0" tIns="0" rIns="0" bIns="0">
            <a:spAutoFit/>
          </a:bodyPr>
          <a:lstStyle/>
          <a:p>
            <a:pPr>
              <a:defRPr sz="850">
                <a:solidFill>
                  <a:srgbClr val="64748B"/>
                </a:solidFill>
              </a:defRPr>
            </a:pPr>
            <a:r>
              <a:t>CuraCascade V2  |  Academic Defense  |  VIT School of Computer Science &amp; Engineering  |  Slide 14 of 25</a:t>
            </a:r>
          </a:p>
        </p:txBody>
      </p:sp>
    </p:spTree>
  </p:cSld>
  <p:clrMapOvr>
    <a:masterClrMapping/>
  </p:clrMapOvr>
  <p:transition spd="med">
    <p:fade/>
  </p:transition>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71426"/>
        </a:solidFill>
        <a:effectLst/>
      </p:bgPr>
    </p:bg>
    <p:spTree>
      <p:nvGrpSpPr>
        <p:cNvPr id="1" name=""/>
        <p:cNvGrpSpPr/>
        <p:nvPr/>
      </p:nvGrpSpPr>
      <p:grpSpPr/>
      <p:sp>
        <p:nvSpPr>
          <p:cNvPr id="2" name="Rectangle 1"/>
          <p:cNvSpPr/>
          <p:nvPr/>
        </p:nvSpPr>
        <p:spPr>
          <a:xfrm>
            <a:off x="731520" y="0"/>
            <a:ext cx="10728655" cy="36576"/>
          </a:xfrm>
          <a:prstGeom prst="rect">
            <a:avLst/>
          </a:prstGeom>
          <a:solidFill>
            <a:srgbClr val="00D4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1051560"/>
          </a:xfrm>
          <a:prstGeom prst="rect">
            <a:avLst/>
          </a:prstGeom>
          <a:noFill/>
        </p:spPr>
        <p:txBody>
          <a:bodyPr wrap="square" lIns="0" tIns="0" rIns="0" bIns="0">
            <a:spAutoFit/>
          </a:bodyPr>
          <a:lstStyle/>
          <a:p>
            <a:pPr>
              <a:defRPr sz="950" b="1">
                <a:solidFill>
                  <a:srgbClr val="00D4B2"/>
                </a:solidFill>
              </a:defRPr>
            </a:pPr>
            <a:r>
              <a:t>ALGORITHM DESIGN</a:t>
            </a:r>
          </a:p>
          <a:p>
            <a:pPr>
              <a:spcBef>
                <a:spcPts val="200"/>
              </a:spcBef>
              <a:defRPr sz="2100" b="1">
                <a:solidFill>
                  <a:srgbClr val="FFFFFF"/>
                </a:solidFill>
              </a:defRPr>
            </a:pPr>
            <a:r>
              <a:t>Pleiotropy &amp; Disease-Aware Matching Logic</a:t>
            </a:r>
          </a:p>
          <a:p>
            <a:pPr>
              <a:spcBef>
                <a:spcPts val="200"/>
              </a:spcBef>
              <a:defRPr sz="1100">
                <a:solidFill>
                  <a:srgbClr val="94A3B8"/>
                </a:solidFill>
              </a:defRPr>
            </a:pPr>
            <a:r>
              <a:t>Why gene-only joins fail and how our 4-tier matching algorithm prevents catastrophic false alarms</a:t>
            </a:r>
          </a:p>
        </p:txBody>
      </p:sp>
      <p:sp>
        <p:nvSpPr>
          <p:cNvPr id="4" name="Rounded Rectangle 3"/>
          <p:cNvSpPr/>
          <p:nvPr/>
        </p:nvSpPr>
        <p:spPr>
          <a:xfrm>
            <a:off x="731520" y="1554480"/>
            <a:ext cx="10728655" cy="2240280"/>
          </a:xfrm>
          <a:prstGeom prst="roundRect">
            <a:avLst/>
          </a:prstGeom>
          <a:solidFill>
            <a:srgbClr val="0F243A"/>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91640"/>
            <a:ext cx="10362895" cy="1920240"/>
          </a:xfrm>
          <a:prstGeom prst="rect">
            <a:avLst/>
          </a:prstGeom>
          <a:noFill/>
        </p:spPr>
        <p:txBody>
          <a:bodyPr wrap="square">
            <a:spAutoFit/>
          </a:bodyPr>
          <a:lstStyle/>
          <a:p>
            <a:pPr>
              <a:defRPr sz="1100" b="1">
                <a:solidFill>
                  <a:srgbClr val="F59E0B"/>
                </a:solidFill>
              </a:defRPr>
            </a:pPr>
            <a:r>
              <a:t>THE PLEIOTROPY CHALLENGE: WHY MATCHING BY GENE SYMBOL ALONE IS A FATAL FLAW</a:t>
            </a:r>
          </a:p>
          <a:p>
            <a:pPr>
              <a:spcBef>
                <a:spcPts val="300"/>
              </a:spcBef>
              <a:defRPr sz="1000" b="1">
                <a:solidFill>
                  <a:srgbClr val="FFFFFF"/>
                </a:solidFill>
              </a:defRPr>
            </a:pPr>
            <a:r>
              <a:t>• The Case of MYH7 (Beta-Myosin Heavy Chain):</a:t>
            </a:r>
          </a:p>
          <a:p>
            <a:pPr>
              <a:spcBef>
                <a:spcPts val="200"/>
              </a:spcBef>
              <a:defRPr sz="950">
                <a:solidFill>
                  <a:srgbClr val="10B981"/>
                </a:solidFill>
              </a:defRPr>
            </a:pPr>
            <a:r>
              <a:t>   - Hypertrophic Cardiomyopathy (HCM): ClinGen status DEFINITIVE. Thousands of variants are clinically proven to cause cardiac disease.</a:t>
            </a:r>
          </a:p>
          <a:p>
            <a:pPr>
              <a:spcBef>
                <a:spcPts val="200"/>
              </a:spcBef>
              <a:defRPr sz="950">
                <a:solidFill>
                  <a:srgbClr val="EF4444"/>
                </a:solidFill>
              </a:defRPr>
            </a:pPr>
            <a:r>
              <a:t>   - Distal Myopathy / Skeletal Muscle Disease: ClinGen status REFUTED / DISPUTED due to lack of Mendelian segregation.</a:t>
            </a:r>
          </a:p>
          <a:p>
            <a:pPr>
              <a:spcBef>
                <a:spcPts val="300"/>
              </a:spcBef>
              <a:defRPr sz="950" b="1">
                <a:solidFill>
                  <a:srgbClr val="F1F5F9"/>
                </a:solidFill>
              </a:defRPr>
            </a:pPr>
            <a:r>
              <a:t>• Fatal Flaw of Gene-Only Joins: Joining strictly on gene symbol MYH7 would flag ALL 3,000+ authentic cardiomyopathy variants as refuted! Disease-aware matching of the specific (Gene, Disease) dyad is mandatory.</a:t>
            </a:r>
          </a:p>
        </p:txBody>
      </p:sp>
      <p:sp>
        <p:nvSpPr>
          <p:cNvPr id="6" name="Rounded Rectangle 5"/>
          <p:cNvSpPr/>
          <p:nvPr/>
        </p:nvSpPr>
        <p:spPr>
          <a:xfrm>
            <a:off x="731520" y="3977639"/>
            <a:ext cx="2514600" cy="2286000"/>
          </a:xfrm>
          <a:prstGeom prst="roundRect">
            <a:avLst/>
          </a:prstGeom>
          <a:solidFill>
            <a:srgbClr val="0F243A"/>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1248" y="4114800"/>
            <a:ext cx="2295144" cy="2011680"/>
          </a:xfrm>
          <a:prstGeom prst="rect">
            <a:avLst/>
          </a:prstGeom>
          <a:noFill/>
        </p:spPr>
        <p:txBody>
          <a:bodyPr wrap="square">
            <a:spAutoFit/>
          </a:bodyPr>
          <a:lstStyle/>
          <a:p>
            <a:pPr>
              <a:defRPr sz="1000" b="1">
                <a:solidFill>
                  <a:srgbClr val="38BDF8"/>
                </a:solidFill>
              </a:defRPr>
            </a:pPr>
            <a:r>
              <a:t>Tier 1: Exact MONDO ID</a:t>
            </a:r>
          </a:p>
          <a:p>
            <a:pPr>
              <a:spcBef>
                <a:spcPts val="200"/>
              </a:spcBef>
              <a:defRPr sz="850" b="1">
                <a:solidFill>
                  <a:srgbClr val="FFFFFF"/>
                </a:solidFill>
              </a:defRPr>
            </a:pPr>
            <a:r>
              <a:t>Confidence = 1.0</a:t>
            </a:r>
          </a:p>
          <a:p>
            <a:pPr>
              <a:spcBef>
                <a:spcPts val="500"/>
              </a:spcBef>
              <a:defRPr sz="800">
                <a:solidFill>
                  <a:srgbClr val="94A3B8"/>
                </a:solidFill>
              </a:defRPr>
            </a:pPr>
            <a:r>
              <a:t>Direct URI matching between ClinVar and ClinGen MONDO terms. Zero ambiguity.</a:t>
            </a:r>
          </a:p>
        </p:txBody>
      </p:sp>
      <p:sp>
        <p:nvSpPr>
          <p:cNvPr id="8" name="Rounded Rectangle 7"/>
          <p:cNvSpPr/>
          <p:nvPr/>
        </p:nvSpPr>
        <p:spPr>
          <a:xfrm>
            <a:off x="3465576" y="3977639"/>
            <a:ext cx="2514600" cy="2286000"/>
          </a:xfrm>
          <a:prstGeom prst="roundRect">
            <a:avLst/>
          </a:prstGeom>
          <a:solidFill>
            <a:srgbClr val="0F243A"/>
          </a:solidFill>
          <a:ln w="12700">
            <a:solidFill>
              <a:srgbClr val="00D4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575304" y="4114800"/>
            <a:ext cx="2295144" cy="2011680"/>
          </a:xfrm>
          <a:prstGeom prst="rect">
            <a:avLst/>
          </a:prstGeom>
          <a:noFill/>
        </p:spPr>
        <p:txBody>
          <a:bodyPr wrap="square">
            <a:spAutoFit/>
          </a:bodyPr>
          <a:lstStyle/>
          <a:p>
            <a:pPr>
              <a:defRPr sz="1000" b="1">
                <a:solidFill>
                  <a:srgbClr val="00D4B2"/>
                </a:solidFill>
              </a:defRPr>
            </a:pPr>
            <a:r>
              <a:t>Tier 2: Ontology Crosswalk</a:t>
            </a:r>
          </a:p>
          <a:p>
            <a:pPr>
              <a:spcBef>
                <a:spcPts val="200"/>
              </a:spcBef>
              <a:defRPr sz="850" b="1">
                <a:solidFill>
                  <a:srgbClr val="FFFFFF"/>
                </a:solidFill>
              </a:defRPr>
            </a:pPr>
            <a:r>
              <a:t>Confidence = 0.95</a:t>
            </a:r>
          </a:p>
          <a:p>
            <a:pPr>
              <a:spcBef>
                <a:spcPts val="500"/>
              </a:spcBef>
              <a:defRPr sz="800">
                <a:solidFill>
                  <a:srgbClr val="94A3B8"/>
                </a:solidFill>
              </a:defRPr>
            </a:pPr>
            <a:r>
              <a:t>Maps MedGen Concept IDs (CUI) to MONDO via precomputed crosswalk dictionary.</a:t>
            </a:r>
          </a:p>
        </p:txBody>
      </p:sp>
      <p:sp>
        <p:nvSpPr>
          <p:cNvPr id="10" name="Rounded Rectangle 9"/>
          <p:cNvSpPr/>
          <p:nvPr/>
        </p:nvSpPr>
        <p:spPr>
          <a:xfrm>
            <a:off x="6199632" y="3977639"/>
            <a:ext cx="2514600" cy="2286000"/>
          </a:xfrm>
          <a:prstGeom prst="roundRect">
            <a:avLst/>
          </a:prstGeom>
          <a:solidFill>
            <a:srgbClr val="0F243A"/>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60" y="4114800"/>
            <a:ext cx="2295144" cy="2011680"/>
          </a:xfrm>
          <a:prstGeom prst="rect">
            <a:avLst/>
          </a:prstGeom>
          <a:noFill/>
        </p:spPr>
        <p:txBody>
          <a:bodyPr wrap="square">
            <a:spAutoFit/>
          </a:bodyPr>
          <a:lstStyle/>
          <a:p>
            <a:pPr>
              <a:defRPr sz="1000" b="1">
                <a:solidFill>
                  <a:srgbClr val="F59E0B"/>
                </a:solidFill>
              </a:defRPr>
            </a:pPr>
            <a:r>
              <a:t>Tier 3: Substring Normalization</a:t>
            </a:r>
          </a:p>
          <a:p>
            <a:pPr>
              <a:spcBef>
                <a:spcPts val="200"/>
              </a:spcBef>
              <a:defRPr sz="850" b="1">
                <a:solidFill>
                  <a:srgbClr val="FFFFFF"/>
                </a:solidFill>
              </a:defRPr>
            </a:pPr>
            <a:r>
              <a:t>Confidence = 0.80</a:t>
            </a:r>
          </a:p>
          <a:p>
            <a:pPr>
              <a:spcBef>
                <a:spcPts val="500"/>
              </a:spcBef>
              <a:defRPr sz="800">
                <a:solidFill>
                  <a:srgbClr val="94A3B8"/>
                </a:solidFill>
              </a:defRPr>
            </a:pPr>
            <a:r>
              <a:t>Case-insensitive substring match after stripping stop-words ('syndrome', 'type').</a:t>
            </a:r>
          </a:p>
        </p:txBody>
      </p:sp>
      <p:sp>
        <p:nvSpPr>
          <p:cNvPr id="12" name="Rounded Rectangle 11"/>
          <p:cNvSpPr/>
          <p:nvPr/>
        </p:nvSpPr>
        <p:spPr>
          <a:xfrm>
            <a:off x="8933688" y="3977639"/>
            <a:ext cx="2514600" cy="2286000"/>
          </a:xfrm>
          <a:prstGeom prst="roundRect">
            <a:avLst/>
          </a:prstGeom>
          <a:solidFill>
            <a:srgbClr val="0F243A"/>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043416" y="4114800"/>
            <a:ext cx="2295144" cy="2011680"/>
          </a:xfrm>
          <a:prstGeom prst="rect">
            <a:avLst/>
          </a:prstGeom>
          <a:noFill/>
        </p:spPr>
        <p:txBody>
          <a:bodyPr wrap="square">
            <a:spAutoFit/>
          </a:bodyPr>
          <a:lstStyle/>
          <a:p>
            <a:pPr>
              <a:defRPr sz="1000" b="1">
                <a:solidFill>
                  <a:srgbClr val="EF4444"/>
                </a:solidFill>
              </a:defRPr>
            </a:pPr>
            <a:r>
              <a:t>Tier 4: Broad Term Refusal</a:t>
            </a:r>
          </a:p>
          <a:p>
            <a:pPr>
              <a:spcBef>
                <a:spcPts val="200"/>
              </a:spcBef>
              <a:defRPr sz="850" b="1">
                <a:solidFill>
                  <a:srgbClr val="FFFFFF"/>
                </a:solidFill>
              </a:defRPr>
            </a:pPr>
            <a:r>
              <a:t>Unmapped / Safe Refusal</a:t>
            </a:r>
          </a:p>
          <a:p>
            <a:pPr>
              <a:spcBef>
                <a:spcPts val="500"/>
              </a:spcBef>
              <a:defRPr sz="800">
                <a:solidFill>
                  <a:srgbClr val="94A3B8"/>
                </a:solidFill>
              </a:defRPr>
            </a:pPr>
            <a:r>
              <a:t>Refuses to guess on broad umbrella terms ('Cardiovascular phenotype'). Eliminates FP alerts.</a:t>
            </a:r>
          </a:p>
        </p:txBody>
      </p:sp>
      <p:sp>
        <p:nvSpPr>
          <p:cNvPr id="14" name="TextBox 13"/>
          <p:cNvSpPr txBox="1"/>
          <p:nvPr/>
        </p:nvSpPr>
        <p:spPr>
          <a:xfrm>
            <a:off x="731520" y="6473952"/>
            <a:ext cx="10728655" cy="274320"/>
          </a:xfrm>
          <a:prstGeom prst="rect">
            <a:avLst/>
          </a:prstGeom>
          <a:noFill/>
        </p:spPr>
        <p:txBody>
          <a:bodyPr wrap="square" lIns="0" tIns="0" rIns="0" bIns="0">
            <a:spAutoFit/>
          </a:bodyPr>
          <a:lstStyle/>
          <a:p>
            <a:pPr>
              <a:defRPr sz="850">
                <a:solidFill>
                  <a:srgbClr val="64748B"/>
                </a:solidFill>
              </a:defRPr>
            </a:pPr>
            <a:r>
              <a:t>CuraCascade V2  |  Academic Defense  |  VIT School of Computer Science &amp; Engineering  |  Slide 15 of 25</a:t>
            </a:r>
          </a:p>
        </p:txBody>
      </p:sp>
    </p:spTree>
  </p:cSld>
  <p:clrMapOvr>
    <a:masterClrMapping/>
  </p:clrMapOvr>
  <p:transition spd="med">
    <p:fade/>
  </p:transition>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71426"/>
        </a:solidFill>
        <a:effectLst/>
      </p:bgPr>
    </p:bg>
    <p:spTree>
      <p:nvGrpSpPr>
        <p:cNvPr id="1" name=""/>
        <p:cNvGrpSpPr/>
        <p:nvPr/>
      </p:nvGrpSpPr>
      <p:grpSpPr/>
      <p:sp>
        <p:nvSpPr>
          <p:cNvPr id="2" name="Rectangle 1"/>
          <p:cNvSpPr/>
          <p:nvPr/>
        </p:nvSpPr>
        <p:spPr>
          <a:xfrm>
            <a:off x="731520" y="0"/>
            <a:ext cx="10728655" cy="36576"/>
          </a:xfrm>
          <a:prstGeom prst="rect">
            <a:avLst/>
          </a:prstGeom>
          <a:solidFill>
            <a:srgbClr val="00D4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1051560"/>
          </a:xfrm>
          <a:prstGeom prst="rect">
            <a:avLst/>
          </a:prstGeom>
          <a:noFill/>
        </p:spPr>
        <p:txBody>
          <a:bodyPr wrap="square" lIns="0" tIns="0" rIns="0" bIns="0">
            <a:spAutoFit/>
          </a:bodyPr>
          <a:lstStyle/>
          <a:p>
            <a:pPr>
              <a:defRPr sz="950" b="1">
                <a:solidFill>
                  <a:srgbClr val="00D4B2"/>
                </a:solidFill>
              </a:defRPr>
            </a:pPr>
            <a:r>
              <a:t>LIVE APPLICATION</a:t>
            </a:r>
          </a:p>
          <a:p>
            <a:pPr>
              <a:spcBef>
                <a:spcPts val="200"/>
              </a:spcBef>
              <a:defRPr sz="2100" b="1">
                <a:solidFill>
                  <a:srgbClr val="FFFFFF"/>
                </a:solidFill>
              </a:defRPr>
            </a:pPr>
            <a:r>
              <a:t>Interactive Clinical Dashboard Overview</a:t>
            </a:r>
          </a:p>
          <a:p>
            <a:pPr>
              <a:spcBef>
                <a:spcPts val="200"/>
              </a:spcBef>
              <a:defRPr sz="1100">
                <a:solidFill>
                  <a:srgbClr val="94A3B8"/>
                </a:solidFill>
              </a:defRPr>
            </a:pPr>
            <a:r>
              <a:t>Production web interface deployed on Streamlit Cloud for real-time laboratory decision support</a:t>
            </a:r>
          </a:p>
        </p:txBody>
      </p:sp>
      <p:sp>
        <p:nvSpPr>
          <p:cNvPr id="4" name="Rounded Rectangle 3"/>
          <p:cNvSpPr/>
          <p:nvPr/>
        </p:nvSpPr>
        <p:spPr>
          <a:xfrm>
            <a:off x="731520" y="1554480"/>
            <a:ext cx="4206240" cy="4709160"/>
          </a:xfrm>
          <a:prstGeom prst="roundRect">
            <a:avLst/>
          </a:prstGeom>
          <a:solidFill>
            <a:srgbClr val="0F243A"/>
          </a:solidFill>
          <a:ln w="12700">
            <a:solidFill>
              <a:srgbClr val="1E40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91640"/>
            <a:ext cx="3840480" cy="4389120"/>
          </a:xfrm>
          <a:prstGeom prst="rect">
            <a:avLst/>
          </a:prstGeom>
          <a:noFill/>
        </p:spPr>
        <p:txBody>
          <a:bodyPr wrap="square">
            <a:spAutoFit/>
          </a:bodyPr>
          <a:lstStyle/>
          <a:p>
            <a:pPr>
              <a:defRPr sz="1100" b="1">
                <a:solidFill>
                  <a:srgbClr val="00D4B2"/>
                </a:solidFill>
              </a:defRPr>
            </a:pPr>
            <a:r>
              <a:t>SYSTEM DASHBOARD FEATURES</a:t>
            </a:r>
          </a:p>
          <a:p>
            <a:pPr>
              <a:spcBef>
                <a:spcPts val="600"/>
              </a:spcBef>
              <a:defRPr sz="950" b="1">
                <a:solidFill>
                  <a:srgbClr val="38BDF8"/>
                </a:solidFill>
              </a:defRPr>
            </a:pPr>
            <a:r>
              <a:t>• Live URL</a:t>
            </a:r>
          </a:p>
          <a:p>
            <a:pPr>
              <a:defRPr sz="850">
                <a:solidFill>
                  <a:srgbClr val="F1F5F9"/>
                </a:solidFill>
              </a:defRPr>
            </a:pPr>
            <a:r>
              <a:t>  curacascadev2.streamlit.app</a:t>
            </a:r>
          </a:p>
          <a:p>
            <a:pPr>
              <a:spcBef>
                <a:spcPts val="600"/>
              </a:spcBef>
              <a:defRPr sz="950" b="1">
                <a:solidFill>
                  <a:srgbClr val="38BDF8"/>
                </a:solidFill>
              </a:defRPr>
            </a:pPr>
            <a:r>
              <a:t>• Dual Database Toggle</a:t>
            </a:r>
          </a:p>
          <a:p>
            <a:pPr>
              <a:defRPr sz="850">
                <a:solidFill>
                  <a:srgbClr val="F1F5F9"/>
                </a:solidFill>
              </a:defRPr>
            </a:pPr>
            <a:r>
              <a:t>  Seamlessly switch between Showcase (36 genes) and Full Corpus (3,033 genes).</a:t>
            </a:r>
          </a:p>
          <a:p>
            <a:pPr>
              <a:spcBef>
                <a:spcPts val="600"/>
              </a:spcBef>
              <a:defRPr sz="950" b="1">
                <a:solidFill>
                  <a:srgbClr val="38BDF8"/>
                </a:solidFill>
              </a:defRPr>
            </a:pPr>
            <a:r>
              <a:t>• Real-Time KPI Cards</a:t>
            </a:r>
          </a:p>
          <a:p>
            <a:pPr>
              <a:defRPr sz="850">
                <a:solidFill>
                  <a:srgbClr val="F1F5F9"/>
                </a:solidFill>
              </a:defRPr>
            </a:pPr>
            <a:r>
              <a:t>  Displays total genes, ClinVar variants, audit findings, and median latency.</a:t>
            </a:r>
          </a:p>
          <a:p>
            <a:pPr>
              <a:spcBef>
                <a:spcPts val="600"/>
              </a:spcBef>
              <a:defRPr sz="950" b="1">
                <a:solidFill>
                  <a:srgbClr val="38BDF8"/>
                </a:solidFill>
              </a:defRPr>
            </a:pPr>
            <a:r>
              <a:t>• Dark Space Navy UI</a:t>
            </a:r>
          </a:p>
          <a:p>
            <a:pPr>
              <a:defRPr sz="850">
                <a:solidFill>
                  <a:srgbClr val="F1F5F9"/>
                </a:solidFill>
              </a:defRPr>
            </a:pPr>
            <a:r>
              <a:t>  Engineered with custom CSS tokens, high-contrast badges, and responsive tables.</a:t>
            </a:r>
          </a:p>
          <a:p>
            <a:pPr>
              <a:spcBef>
                <a:spcPts val="600"/>
              </a:spcBef>
              <a:defRPr sz="950" b="1">
                <a:solidFill>
                  <a:srgbClr val="38BDF8"/>
                </a:solidFill>
              </a:defRPr>
            </a:pPr>
            <a:r>
              <a:t>• 5 Dedicated Modules</a:t>
            </a:r>
          </a:p>
          <a:p>
            <a:pPr>
              <a:defRPr sz="850">
                <a:solidFill>
                  <a:srgbClr val="F1F5F9"/>
                </a:solidFill>
              </a:defRPr>
            </a:pPr>
            <a:r>
              <a:t>  Dashboard, Audit Explorer, Custom Evaluator, Latency Analytics, Report Generator.</a:t>
            </a:r>
          </a:p>
        </p:txBody>
      </p:sp>
      <p:sp>
        <p:nvSpPr>
          <p:cNvPr id="6" name="Rounded Rectangle 5"/>
          <p:cNvSpPr/>
          <p:nvPr/>
        </p:nvSpPr>
        <p:spPr>
          <a:xfrm>
            <a:off x="5084064" y="1517904"/>
            <a:ext cx="6412687" cy="4782312"/>
          </a:xfrm>
          <a:prstGeom prst="roundRect">
            <a:avLst/>
          </a:prstGeom>
          <a:solidFill>
            <a:srgbClr val="0B1B2E"/>
          </a:solidFill>
          <a:ln w="12700">
            <a:solidFill>
              <a:srgbClr val="1E40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ropped_s1_dashboard_hero.png"/>
          <p:cNvPicPr>
            <a:picLocks noChangeAspect="1"/>
          </p:cNvPicPr>
          <p:nvPr/>
        </p:nvPicPr>
        <p:blipFill>
          <a:blip r:embed="rId2"/>
          <a:stretch>
            <a:fillRect/>
          </a:stretch>
        </p:blipFill>
        <p:spPr>
          <a:xfrm>
            <a:off x="5120640" y="1554480"/>
            <a:ext cx="6339535" cy="4709160"/>
          </a:xfrm>
          <a:prstGeom prst="rect">
            <a:avLst/>
          </a:prstGeom>
        </p:spPr>
      </p:pic>
      <p:sp>
        <p:nvSpPr>
          <p:cNvPr id="8" name="TextBox 7"/>
          <p:cNvSpPr txBox="1"/>
          <p:nvPr/>
        </p:nvSpPr>
        <p:spPr>
          <a:xfrm>
            <a:off x="731520" y="6473952"/>
            <a:ext cx="10728655" cy="274320"/>
          </a:xfrm>
          <a:prstGeom prst="rect">
            <a:avLst/>
          </a:prstGeom>
          <a:noFill/>
        </p:spPr>
        <p:txBody>
          <a:bodyPr wrap="square" lIns="0" tIns="0" rIns="0" bIns="0">
            <a:spAutoFit/>
          </a:bodyPr>
          <a:lstStyle/>
          <a:p>
            <a:pPr>
              <a:defRPr sz="850">
                <a:solidFill>
                  <a:srgbClr val="64748B"/>
                </a:solidFill>
              </a:defRPr>
            </a:pPr>
            <a:r>
              <a:t>CuraCascade V2  |  Academic Defense  |  VIT School of Computer Science &amp; Engineering  |  Slide 16 of 25</a:t>
            </a:r>
          </a:p>
        </p:txBody>
      </p:sp>
    </p:spTree>
  </p:cSld>
  <p:clrMapOvr>
    <a:masterClrMapping/>
  </p:clrMapOvr>
  <p:transition spd="med">
    <p:fade/>
  </p:transition>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71426"/>
        </a:solidFill>
        <a:effectLst/>
      </p:bgPr>
    </p:bg>
    <p:spTree>
      <p:nvGrpSpPr>
        <p:cNvPr id="1" name=""/>
        <p:cNvGrpSpPr/>
        <p:nvPr/>
      </p:nvGrpSpPr>
      <p:grpSpPr/>
      <p:sp>
        <p:nvSpPr>
          <p:cNvPr id="2" name="Rectangle 1"/>
          <p:cNvSpPr/>
          <p:nvPr/>
        </p:nvSpPr>
        <p:spPr>
          <a:xfrm>
            <a:off x="731520" y="0"/>
            <a:ext cx="10728655" cy="36576"/>
          </a:xfrm>
          <a:prstGeom prst="rect">
            <a:avLst/>
          </a:prstGeom>
          <a:solidFill>
            <a:srgbClr val="00D4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1051560"/>
          </a:xfrm>
          <a:prstGeom prst="rect">
            <a:avLst/>
          </a:prstGeom>
          <a:noFill/>
        </p:spPr>
        <p:txBody>
          <a:bodyPr wrap="square" lIns="0" tIns="0" rIns="0" bIns="0">
            <a:spAutoFit/>
          </a:bodyPr>
          <a:lstStyle/>
          <a:p>
            <a:pPr>
              <a:defRPr sz="950" b="1">
                <a:solidFill>
                  <a:srgbClr val="00D4B2"/>
                </a:solidFill>
              </a:defRPr>
            </a:pPr>
            <a:r>
              <a:t>AUDIT FINDINGS EXPLORER</a:t>
            </a:r>
          </a:p>
          <a:p>
            <a:pPr>
              <a:spcBef>
                <a:spcPts val="200"/>
              </a:spcBef>
              <a:defRPr sz="2100" b="1">
                <a:solidFill>
                  <a:srgbClr val="FFFFFF"/>
                </a:solidFill>
              </a:defRPr>
            </a:pPr>
            <a:r>
              <a:t>Interactive Discrepancy Filtering &amp; Inspection</a:t>
            </a:r>
          </a:p>
          <a:p>
            <a:pPr>
              <a:spcBef>
                <a:spcPts val="200"/>
              </a:spcBef>
              <a:defRPr sz="1100">
                <a:solidFill>
                  <a:srgbClr val="94A3B8"/>
                </a:solidFill>
              </a:defRPr>
            </a:pPr>
            <a:r>
              <a:t>Multi-parameter filtering by audit class, risk severity, and disease domain with expandable finding cards</a:t>
            </a:r>
          </a:p>
        </p:txBody>
      </p:sp>
      <p:sp>
        <p:nvSpPr>
          <p:cNvPr id="4" name="Rounded Rectangle 3"/>
          <p:cNvSpPr/>
          <p:nvPr/>
        </p:nvSpPr>
        <p:spPr>
          <a:xfrm>
            <a:off x="731520" y="1554480"/>
            <a:ext cx="4206240" cy="4709160"/>
          </a:xfrm>
          <a:prstGeom prst="roundRect">
            <a:avLst/>
          </a:prstGeom>
          <a:solidFill>
            <a:srgbClr val="0F243A"/>
          </a:solidFill>
          <a:ln w="12700">
            <a:solidFill>
              <a:srgbClr val="1E40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91640"/>
            <a:ext cx="3840480" cy="4389120"/>
          </a:xfrm>
          <a:prstGeom prst="rect">
            <a:avLst/>
          </a:prstGeom>
          <a:noFill/>
        </p:spPr>
        <p:txBody>
          <a:bodyPr wrap="square">
            <a:spAutoFit/>
          </a:bodyPr>
          <a:lstStyle/>
          <a:p>
            <a:pPr>
              <a:defRPr sz="1100" b="1">
                <a:solidFill>
                  <a:srgbClr val="00D4B2"/>
                </a:solidFill>
              </a:defRPr>
            </a:pPr>
            <a:r>
              <a:t>MULTI-PARAMETER FILTERING ENGINE</a:t>
            </a:r>
          </a:p>
          <a:p>
            <a:pPr>
              <a:spcBef>
                <a:spcPts val="800"/>
              </a:spcBef>
              <a:defRPr sz="950" b="1">
                <a:solidFill>
                  <a:srgbClr val="38BDF8"/>
                </a:solidFill>
              </a:defRPr>
            </a:pPr>
            <a:r>
              <a:t>• Audit Class Strata</a:t>
            </a:r>
          </a:p>
          <a:p>
            <a:pPr>
              <a:defRPr sz="850">
                <a:solidFill>
                  <a:srgbClr val="F1F5F9"/>
                </a:solidFill>
              </a:defRPr>
            </a:pPr>
            <a:r>
              <a:t>  Filter by Class A (Refuted), Class B (Contested), or Class C (Panel Over-inclusion).</a:t>
            </a:r>
          </a:p>
          <a:p>
            <a:pPr>
              <a:spcBef>
                <a:spcPts val="800"/>
              </a:spcBef>
              <a:defRPr sz="950" b="1">
                <a:solidFill>
                  <a:srgbClr val="38BDF8"/>
                </a:solidFill>
              </a:defRPr>
            </a:pPr>
            <a:r>
              <a:t>• Risk Severity Ranking</a:t>
            </a:r>
          </a:p>
          <a:p>
            <a:pPr>
              <a:defRPr sz="850">
                <a:solidFill>
                  <a:srgbClr val="F1F5F9"/>
                </a:solidFill>
              </a:defRPr>
            </a:pPr>
            <a:r>
              <a:t>  High Risk (red badge), Medium Risk (amber), Low Risk (teal).</a:t>
            </a:r>
          </a:p>
          <a:p>
            <a:pPr>
              <a:spcBef>
                <a:spcPts val="800"/>
              </a:spcBef>
              <a:defRPr sz="950" b="1">
                <a:solidFill>
                  <a:srgbClr val="38BDF8"/>
                </a:solidFill>
              </a:defRPr>
            </a:pPr>
            <a:r>
              <a:t>• Live Text Search</a:t>
            </a:r>
          </a:p>
          <a:p>
            <a:pPr>
              <a:defRPr sz="850">
                <a:solidFill>
                  <a:srgbClr val="F1F5F9"/>
                </a:solidFill>
              </a:defRPr>
            </a:pPr>
            <a:r>
              <a:t>  Search by gene symbol, disease name, or ClinVar Variation ID with instant filtering.</a:t>
            </a:r>
          </a:p>
          <a:p>
            <a:pPr>
              <a:spcBef>
                <a:spcPts val="800"/>
              </a:spcBef>
              <a:defRPr sz="950" b="1">
                <a:solidFill>
                  <a:srgbClr val="38BDF8"/>
                </a:solidFill>
              </a:defRPr>
            </a:pPr>
            <a:r>
              <a:t>• Evidence Drill-Down</a:t>
            </a:r>
          </a:p>
          <a:p>
            <a:pPr>
              <a:defRPr sz="850">
                <a:solidFill>
                  <a:srgbClr val="F1F5F9"/>
                </a:solidFill>
              </a:defRPr>
            </a:pPr>
            <a:r>
              <a:t>  Expandable cards reveal ClinGen panel dates, ClinVar submitters, and PubMed citations.</a:t>
            </a:r>
          </a:p>
        </p:txBody>
      </p:sp>
      <p:sp>
        <p:nvSpPr>
          <p:cNvPr id="6" name="Rounded Rectangle 5"/>
          <p:cNvSpPr/>
          <p:nvPr/>
        </p:nvSpPr>
        <p:spPr>
          <a:xfrm>
            <a:off x="5084064" y="1517904"/>
            <a:ext cx="6412687" cy="4782312"/>
          </a:xfrm>
          <a:prstGeom prst="roundRect">
            <a:avLst/>
          </a:prstGeom>
          <a:solidFill>
            <a:srgbClr val="0B1B2E"/>
          </a:solidFill>
          <a:ln w="12700">
            <a:solidFill>
              <a:srgbClr val="1E40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ropped_s2_audit_table_full.png"/>
          <p:cNvPicPr>
            <a:picLocks noChangeAspect="1"/>
          </p:cNvPicPr>
          <p:nvPr/>
        </p:nvPicPr>
        <p:blipFill>
          <a:blip r:embed="rId2"/>
          <a:stretch>
            <a:fillRect/>
          </a:stretch>
        </p:blipFill>
        <p:spPr>
          <a:xfrm>
            <a:off x="5120640" y="1554480"/>
            <a:ext cx="6339535" cy="4709160"/>
          </a:xfrm>
          <a:prstGeom prst="rect">
            <a:avLst/>
          </a:prstGeom>
        </p:spPr>
      </p:pic>
      <p:sp>
        <p:nvSpPr>
          <p:cNvPr id="8" name="TextBox 7"/>
          <p:cNvSpPr txBox="1"/>
          <p:nvPr/>
        </p:nvSpPr>
        <p:spPr>
          <a:xfrm>
            <a:off x="731520" y="6473952"/>
            <a:ext cx="10728655" cy="274320"/>
          </a:xfrm>
          <a:prstGeom prst="rect">
            <a:avLst/>
          </a:prstGeom>
          <a:noFill/>
        </p:spPr>
        <p:txBody>
          <a:bodyPr wrap="square" lIns="0" tIns="0" rIns="0" bIns="0">
            <a:spAutoFit/>
          </a:bodyPr>
          <a:lstStyle/>
          <a:p>
            <a:pPr>
              <a:defRPr sz="850">
                <a:solidFill>
                  <a:srgbClr val="64748B"/>
                </a:solidFill>
              </a:defRPr>
            </a:pPr>
            <a:r>
              <a:t>CuraCascade V2  |  Academic Defense  |  VIT School of Computer Science &amp; Engineering  |  Slide 17 of 25</a:t>
            </a:r>
          </a:p>
        </p:txBody>
      </p:sp>
    </p:spTree>
  </p:cSld>
  <p:clrMapOvr>
    <a:masterClrMapping/>
  </p:clrMapOvr>
  <p:transition spd="med">
    <p:fade/>
  </p:transition>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71426"/>
        </a:solidFill>
        <a:effectLst/>
      </p:bgPr>
    </p:bg>
    <p:spTree>
      <p:nvGrpSpPr>
        <p:cNvPr id="1" name=""/>
        <p:cNvGrpSpPr/>
        <p:nvPr/>
      </p:nvGrpSpPr>
      <p:grpSpPr/>
      <p:sp>
        <p:nvSpPr>
          <p:cNvPr id="2" name="Rectangle 1"/>
          <p:cNvSpPr/>
          <p:nvPr/>
        </p:nvSpPr>
        <p:spPr>
          <a:xfrm>
            <a:off x="731520" y="0"/>
            <a:ext cx="10728655" cy="36576"/>
          </a:xfrm>
          <a:prstGeom prst="rect">
            <a:avLst/>
          </a:prstGeom>
          <a:solidFill>
            <a:srgbClr val="00D4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1051560"/>
          </a:xfrm>
          <a:prstGeom prst="rect">
            <a:avLst/>
          </a:prstGeom>
          <a:noFill/>
        </p:spPr>
        <p:txBody>
          <a:bodyPr wrap="square" lIns="0" tIns="0" rIns="0" bIns="0">
            <a:spAutoFit/>
          </a:bodyPr>
          <a:lstStyle/>
          <a:p>
            <a:pPr>
              <a:defRPr sz="950" b="1">
                <a:solidFill>
                  <a:srgbClr val="00D4B2"/>
                </a:solidFill>
              </a:defRPr>
            </a:pPr>
            <a:r>
              <a:t>TRACEABILITY &amp; GOVERNANCE</a:t>
            </a:r>
          </a:p>
          <a:p>
            <a:pPr>
              <a:spcBef>
                <a:spcPts val="200"/>
              </a:spcBef>
              <a:defRPr sz="2100" b="1">
                <a:solidFill>
                  <a:srgbClr val="FFFFFF"/>
                </a:solidFill>
              </a:defRPr>
            </a:pPr>
            <a:r>
              <a:t>Evidence Traceability &amp; ISO 15189 Audit Dossiers</a:t>
            </a:r>
          </a:p>
          <a:p>
            <a:pPr>
              <a:spcBef>
                <a:spcPts val="200"/>
              </a:spcBef>
              <a:defRPr sz="1100">
                <a:solidFill>
                  <a:srgbClr val="94A3B8"/>
                </a:solidFill>
              </a:defRPr>
            </a:pPr>
            <a:r>
              <a:t>End-to-end provenance verification, primary PubMed literature links, and automated compliance reporting</a:t>
            </a:r>
          </a:p>
        </p:txBody>
      </p:sp>
      <p:sp>
        <p:nvSpPr>
          <p:cNvPr id="4" name="Rounded Rectangle 3"/>
          <p:cNvSpPr/>
          <p:nvPr/>
        </p:nvSpPr>
        <p:spPr>
          <a:xfrm>
            <a:off x="731520" y="1554480"/>
            <a:ext cx="4206240" cy="4709160"/>
          </a:xfrm>
          <a:prstGeom prst="roundRect">
            <a:avLst/>
          </a:prstGeom>
          <a:solidFill>
            <a:srgbClr val="0F243A"/>
          </a:solidFill>
          <a:ln w="12700">
            <a:solidFill>
              <a:srgbClr val="1E40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91640"/>
            <a:ext cx="3840480" cy="4389120"/>
          </a:xfrm>
          <a:prstGeom prst="rect">
            <a:avLst/>
          </a:prstGeom>
          <a:noFill/>
        </p:spPr>
        <p:txBody>
          <a:bodyPr wrap="square">
            <a:spAutoFit/>
          </a:bodyPr>
          <a:lstStyle/>
          <a:p>
            <a:pPr>
              <a:defRPr sz="1100" b="1">
                <a:solidFill>
                  <a:srgbClr val="00D4B2"/>
                </a:solidFill>
              </a:defRPr>
            </a:pPr>
            <a:r>
              <a:t>CLINICAL GOVERNANCE &amp; REMEDIATION</a:t>
            </a:r>
          </a:p>
          <a:p>
            <a:pPr>
              <a:spcBef>
                <a:spcPts val="800"/>
              </a:spcBef>
              <a:defRPr sz="950" b="1">
                <a:solidFill>
                  <a:srgbClr val="38BDF8"/>
                </a:solidFill>
              </a:defRPr>
            </a:pPr>
            <a:r>
              <a:t>• Primary Submitter Attribution</a:t>
            </a:r>
          </a:p>
          <a:p>
            <a:pPr>
              <a:defRPr sz="850">
                <a:solidFill>
                  <a:srgbClr val="F1F5F9"/>
                </a:solidFill>
              </a:defRPr>
            </a:pPr>
            <a:r>
              <a:t>  Displays submitting lab names, review status stars, and submission accessions (SCV).</a:t>
            </a:r>
          </a:p>
          <a:p>
            <a:pPr>
              <a:spcBef>
                <a:spcPts val="800"/>
              </a:spcBef>
              <a:defRPr sz="950" b="1">
                <a:solidFill>
                  <a:srgbClr val="38BDF8"/>
                </a:solidFill>
              </a:defRPr>
            </a:pPr>
            <a:r>
              <a:t>• PubMed Citations</a:t>
            </a:r>
          </a:p>
          <a:p>
            <a:pPr>
              <a:defRPr sz="850">
                <a:solidFill>
                  <a:srgbClr val="F1F5F9"/>
                </a:solidFill>
              </a:defRPr>
            </a:pPr>
            <a:r>
              <a:t>  Direct hyperlinks to primary literature supporting or refuting the gene–disease association.</a:t>
            </a:r>
          </a:p>
          <a:p>
            <a:pPr>
              <a:spcBef>
                <a:spcPts val="800"/>
              </a:spcBef>
              <a:defRPr sz="950" b="1">
                <a:solidFill>
                  <a:srgbClr val="38BDF8"/>
                </a:solidFill>
              </a:defRPr>
            </a:pPr>
            <a:r>
              <a:t>• Actionable Remediation Guidance</a:t>
            </a:r>
          </a:p>
          <a:p>
            <a:pPr>
              <a:defRPr sz="850">
                <a:solidFill>
                  <a:srgbClr val="F1F5F9"/>
                </a:solidFill>
              </a:defRPr>
            </a:pPr>
            <a:r>
              <a:t>  Generates standardized recommendations (e.g., 'Downgrade to VUS', 'Remove from Panel').</a:t>
            </a:r>
          </a:p>
          <a:p>
            <a:pPr>
              <a:spcBef>
                <a:spcPts val="800"/>
              </a:spcBef>
              <a:defRPr sz="950" b="1">
                <a:solidFill>
                  <a:srgbClr val="38BDF8"/>
                </a:solidFill>
              </a:defRPr>
            </a:pPr>
            <a:r>
              <a:t>• One-Click Dossier Export</a:t>
            </a:r>
          </a:p>
          <a:p>
            <a:pPr>
              <a:defRPr sz="850">
                <a:solidFill>
                  <a:srgbClr val="F1F5F9"/>
                </a:solidFill>
              </a:defRPr>
            </a:pPr>
            <a:r>
              <a:t>  Compiles comprehensive HTML/PDF audit dossiers with digital timestamps and sign-off lines.</a:t>
            </a:r>
          </a:p>
        </p:txBody>
      </p:sp>
      <p:sp>
        <p:nvSpPr>
          <p:cNvPr id="6" name="Rounded Rectangle 5"/>
          <p:cNvSpPr/>
          <p:nvPr/>
        </p:nvSpPr>
        <p:spPr>
          <a:xfrm>
            <a:off x="5084064" y="1517904"/>
            <a:ext cx="6412687" cy="4782312"/>
          </a:xfrm>
          <a:prstGeom prst="roundRect">
            <a:avLst/>
          </a:prstGeom>
          <a:solidFill>
            <a:srgbClr val="0B1B2E"/>
          </a:solidFill>
          <a:ln w="12700">
            <a:solidFill>
              <a:srgbClr val="1E40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ropped_s17_prescriptive_remediation_table.png"/>
          <p:cNvPicPr>
            <a:picLocks noChangeAspect="1"/>
          </p:cNvPicPr>
          <p:nvPr/>
        </p:nvPicPr>
        <p:blipFill>
          <a:blip r:embed="rId2"/>
          <a:stretch>
            <a:fillRect/>
          </a:stretch>
        </p:blipFill>
        <p:spPr>
          <a:xfrm>
            <a:off x="5120640" y="1554480"/>
            <a:ext cx="6339535" cy="4709160"/>
          </a:xfrm>
          <a:prstGeom prst="rect">
            <a:avLst/>
          </a:prstGeom>
        </p:spPr>
      </p:pic>
      <p:sp>
        <p:nvSpPr>
          <p:cNvPr id="8" name="TextBox 7"/>
          <p:cNvSpPr txBox="1"/>
          <p:nvPr/>
        </p:nvSpPr>
        <p:spPr>
          <a:xfrm>
            <a:off x="731520" y="6473952"/>
            <a:ext cx="10728655" cy="274320"/>
          </a:xfrm>
          <a:prstGeom prst="rect">
            <a:avLst/>
          </a:prstGeom>
          <a:noFill/>
        </p:spPr>
        <p:txBody>
          <a:bodyPr wrap="square" lIns="0" tIns="0" rIns="0" bIns="0">
            <a:spAutoFit/>
          </a:bodyPr>
          <a:lstStyle/>
          <a:p>
            <a:pPr>
              <a:defRPr sz="850">
                <a:solidFill>
                  <a:srgbClr val="64748B"/>
                </a:solidFill>
              </a:defRPr>
            </a:pPr>
            <a:r>
              <a:t>CuraCascade V2  |  Academic Defense  |  VIT School of Computer Science &amp; Engineering  |  Slide 18 of 25</a:t>
            </a:r>
          </a:p>
        </p:txBody>
      </p:sp>
    </p:spTree>
  </p:cSld>
  <p:clrMapOvr>
    <a:masterClrMapping/>
  </p:clrMapOvr>
  <p:transition spd="med">
    <p:fade/>
  </p:transition>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71426"/>
        </a:solidFill>
        <a:effectLst/>
      </p:bgPr>
    </p:bg>
    <p:spTree>
      <p:nvGrpSpPr>
        <p:cNvPr id="1" name=""/>
        <p:cNvGrpSpPr/>
        <p:nvPr/>
      </p:nvGrpSpPr>
      <p:grpSpPr/>
      <p:sp>
        <p:nvSpPr>
          <p:cNvPr id="2" name="Rectangle 1"/>
          <p:cNvSpPr/>
          <p:nvPr/>
        </p:nvSpPr>
        <p:spPr>
          <a:xfrm>
            <a:off x="731520" y="0"/>
            <a:ext cx="10728655" cy="36576"/>
          </a:xfrm>
          <a:prstGeom prst="rect">
            <a:avLst/>
          </a:prstGeom>
          <a:solidFill>
            <a:srgbClr val="00D4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1051560"/>
          </a:xfrm>
          <a:prstGeom prst="rect">
            <a:avLst/>
          </a:prstGeom>
          <a:noFill/>
        </p:spPr>
        <p:txBody>
          <a:bodyPr wrap="square" lIns="0" tIns="0" rIns="0" bIns="0">
            <a:spAutoFit/>
          </a:bodyPr>
          <a:lstStyle/>
          <a:p>
            <a:pPr>
              <a:defRPr sz="950" b="1">
                <a:solidFill>
                  <a:srgbClr val="00D4B2"/>
                </a:solidFill>
              </a:defRPr>
            </a:pPr>
            <a:r>
              <a:t>CASE STUDIES</a:t>
            </a:r>
          </a:p>
          <a:p>
            <a:pPr>
              <a:spcBef>
                <a:spcPts val="200"/>
              </a:spcBef>
              <a:defRPr sz="2100" b="1">
                <a:solidFill>
                  <a:srgbClr val="FFFFFF"/>
                </a:solidFill>
              </a:defRPr>
            </a:pPr>
            <a:r>
              <a:t>Deep-Dive Clinical Case Studies: RAD50 &amp; MYOZ2</a:t>
            </a:r>
          </a:p>
          <a:p>
            <a:pPr>
              <a:spcBef>
                <a:spcPts val="200"/>
              </a:spcBef>
              <a:defRPr sz="1100">
                <a:solidFill>
                  <a:srgbClr val="94A3B8"/>
                </a:solidFill>
              </a:defRPr>
            </a:pPr>
            <a:r>
              <a:t>Tracing verified evidence contradictions from primary literature to clinical diagnostic consequences</a:t>
            </a:r>
          </a:p>
        </p:txBody>
      </p:sp>
      <p:sp>
        <p:nvSpPr>
          <p:cNvPr id="4" name="Rounded Rectangle 3"/>
          <p:cNvSpPr/>
          <p:nvPr/>
        </p:nvSpPr>
        <p:spPr>
          <a:xfrm>
            <a:off x="731520" y="1554480"/>
            <a:ext cx="5212080" cy="4709160"/>
          </a:xfrm>
          <a:prstGeom prst="roundRect">
            <a:avLst/>
          </a:prstGeom>
          <a:solidFill>
            <a:srgbClr val="0F243A"/>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91640"/>
            <a:ext cx="4846320" cy="4389120"/>
          </a:xfrm>
          <a:prstGeom prst="rect">
            <a:avLst/>
          </a:prstGeom>
          <a:noFill/>
        </p:spPr>
        <p:txBody>
          <a:bodyPr wrap="square">
            <a:spAutoFit/>
          </a:bodyPr>
          <a:lstStyle/>
          <a:p>
            <a:pPr>
              <a:defRPr sz="1100" b="1">
                <a:solidFill>
                  <a:srgbClr val="EF4444"/>
                </a:solidFill>
              </a:defRPr>
            </a:pPr>
            <a:r>
              <a:t>CASE STUDY 1: RAD50 IN BREAST CANCER</a:t>
            </a:r>
          </a:p>
          <a:p>
            <a:pPr>
              <a:spcBef>
                <a:spcPts val="600"/>
              </a:spcBef>
              <a:defRPr sz="950" b="1">
                <a:solidFill>
                  <a:srgbClr val="FFFFFF"/>
                </a:solidFill>
              </a:defRPr>
            </a:pPr>
            <a:r>
              <a:t>• Gene &amp; Variant:</a:t>
            </a:r>
          </a:p>
          <a:p>
            <a:pPr>
              <a:defRPr sz="850">
                <a:solidFill>
                  <a:srgbClr val="F1F5F9"/>
                </a:solidFill>
              </a:defRPr>
            </a:pPr>
            <a:r>
              <a:t>  RAD50 (NM_005732.3:c.2119C&gt;T, p.Arg707Ter)</a:t>
            </a:r>
          </a:p>
          <a:p>
            <a:pPr>
              <a:spcBef>
                <a:spcPts val="600"/>
              </a:spcBef>
              <a:defRPr sz="950" b="1">
                <a:solidFill>
                  <a:srgbClr val="FFFFFF"/>
                </a:solidFill>
              </a:defRPr>
            </a:pPr>
            <a:r>
              <a:t>• ClinGen Status:</a:t>
            </a:r>
          </a:p>
          <a:p>
            <a:pPr>
              <a:defRPr sz="850">
                <a:solidFill>
                  <a:srgbClr val="F1F5F9"/>
                </a:solidFill>
              </a:defRPr>
            </a:pPr>
            <a:r>
              <a:t>  DISPUTED / REFUTED for Hereditary Breast Ovarian Cancer (HBOC) in 2018 curation.</a:t>
            </a:r>
          </a:p>
          <a:p>
            <a:pPr>
              <a:spcBef>
                <a:spcPts val="600"/>
              </a:spcBef>
              <a:defRPr sz="950" b="1">
                <a:solidFill>
                  <a:srgbClr val="FFFFFF"/>
                </a:solidFill>
              </a:defRPr>
            </a:pPr>
            <a:r>
              <a:t>• ClinVar Contradiction:</a:t>
            </a:r>
          </a:p>
          <a:p>
            <a:pPr>
              <a:defRPr sz="850">
                <a:solidFill>
                  <a:srgbClr val="F1F5F9"/>
                </a:solidFill>
              </a:defRPr>
            </a:pPr>
            <a:r>
              <a:t>  Multiple commercial labs maintained active Pathogenic assertions for &gt;5 years.</a:t>
            </a:r>
          </a:p>
          <a:p>
            <a:pPr>
              <a:spcBef>
                <a:spcPts val="600"/>
              </a:spcBef>
              <a:defRPr sz="950" b="1">
                <a:solidFill>
                  <a:srgbClr val="FFFFFF"/>
                </a:solidFill>
              </a:defRPr>
            </a:pPr>
            <a:r>
              <a:t>• Clinical Risk:</a:t>
            </a:r>
          </a:p>
          <a:p>
            <a:pPr>
              <a:defRPr sz="850">
                <a:solidFill>
                  <a:srgbClr val="F1F5F9"/>
                </a:solidFill>
              </a:defRPr>
            </a:pPr>
            <a:r>
              <a:t>  Patients carrying this variant could be counseled toward inappropriate prophylactic mastectomy.</a:t>
            </a:r>
          </a:p>
          <a:p>
            <a:pPr>
              <a:spcBef>
                <a:spcPts val="600"/>
              </a:spcBef>
              <a:defRPr sz="950" b="1">
                <a:solidFill>
                  <a:srgbClr val="FFFFFF"/>
                </a:solidFill>
              </a:defRPr>
            </a:pPr>
            <a:r>
              <a:t>• CuraCascade Action:</a:t>
            </a:r>
          </a:p>
          <a:p>
            <a:pPr>
              <a:defRPr sz="850">
                <a:solidFill>
                  <a:srgbClr val="F1F5F9"/>
                </a:solidFill>
              </a:defRPr>
            </a:pPr>
            <a:r>
              <a:t>  Flagged as Class A finding; recommended reclassification to VUS or panel exclusion.</a:t>
            </a:r>
          </a:p>
        </p:txBody>
      </p:sp>
      <p:sp>
        <p:nvSpPr>
          <p:cNvPr id="6" name="Rounded Rectangle 5"/>
          <p:cNvSpPr/>
          <p:nvPr/>
        </p:nvSpPr>
        <p:spPr>
          <a:xfrm>
            <a:off x="6248095" y="1554480"/>
            <a:ext cx="5212080" cy="4709160"/>
          </a:xfrm>
          <a:prstGeom prst="roundRect">
            <a:avLst/>
          </a:prstGeom>
          <a:solidFill>
            <a:srgbClr val="0F243A"/>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46520" y="1691640"/>
            <a:ext cx="4846320" cy="4389120"/>
          </a:xfrm>
          <a:prstGeom prst="rect">
            <a:avLst/>
          </a:prstGeom>
          <a:noFill/>
        </p:spPr>
        <p:txBody>
          <a:bodyPr wrap="square">
            <a:spAutoFit/>
          </a:bodyPr>
          <a:lstStyle/>
          <a:p>
            <a:pPr>
              <a:defRPr sz="1100" b="1">
                <a:solidFill>
                  <a:srgbClr val="F59E0B"/>
                </a:solidFill>
              </a:defRPr>
            </a:pPr>
            <a:r>
              <a:t>CASE STUDY 2: MYOZ2 IN CARDIOMYOPATHY</a:t>
            </a:r>
          </a:p>
          <a:p>
            <a:pPr>
              <a:spcBef>
                <a:spcPts val="600"/>
              </a:spcBef>
              <a:defRPr sz="950" b="1">
                <a:solidFill>
                  <a:srgbClr val="FFFFFF"/>
                </a:solidFill>
              </a:defRPr>
            </a:pPr>
            <a:r>
              <a:t>• Gene &amp; Variant:</a:t>
            </a:r>
          </a:p>
          <a:p>
            <a:pPr>
              <a:defRPr sz="850">
                <a:solidFill>
                  <a:srgbClr val="F1F5F9"/>
                </a:solidFill>
              </a:defRPr>
            </a:pPr>
            <a:r>
              <a:t>  MYOZ2 (c.731A&gt;G, p.Lys244Arg)</a:t>
            </a:r>
          </a:p>
          <a:p>
            <a:pPr>
              <a:spcBef>
                <a:spcPts val="600"/>
              </a:spcBef>
              <a:defRPr sz="950" b="1">
                <a:solidFill>
                  <a:srgbClr val="FFFFFF"/>
                </a:solidFill>
              </a:defRPr>
            </a:pPr>
            <a:r>
              <a:t>• ClinGen Status:</a:t>
            </a:r>
          </a:p>
          <a:p>
            <a:pPr>
              <a:defRPr sz="850">
                <a:solidFill>
                  <a:srgbClr val="F1F5F9"/>
                </a:solidFill>
              </a:defRPr>
            </a:pPr>
            <a:r>
              <a:t>  DEFINITIVE REFUTED for Hypertrophic Cardiomyopathy (HCM) in 2019 curation.</a:t>
            </a:r>
          </a:p>
          <a:p>
            <a:pPr>
              <a:spcBef>
                <a:spcPts val="600"/>
              </a:spcBef>
              <a:defRPr sz="950" b="1">
                <a:solidFill>
                  <a:srgbClr val="FFFFFF"/>
                </a:solidFill>
              </a:defRPr>
            </a:pPr>
            <a:r>
              <a:t>• ClinVar Contradiction:</a:t>
            </a:r>
          </a:p>
          <a:p>
            <a:pPr>
              <a:defRPr sz="850">
                <a:solidFill>
                  <a:srgbClr val="F1F5F9"/>
                </a:solidFill>
              </a:defRPr>
            </a:pPr>
            <a:r>
              <a:t>  Retained active Pathogenic variant interpretations for 2,183 days (~6.0 years).</a:t>
            </a:r>
          </a:p>
          <a:p>
            <a:pPr>
              <a:spcBef>
                <a:spcPts val="600"/>
              </a:spcBef>
              <a:defRPr sz="950" b="1">
                <a:solidFill>
                  <a:srgbClr val="FFFFFF"/>
                </a:solidFill>
              </a:defRPr>
            </a:pPr>
            <a:r>
              <a:t>• Clinical Risk:</a:t>
            </a:r>
          </a:p>
          <a:p>
            <a:pPr>
              <a:defRPr sz="850">
                <a:solidFill>
                  <a:srgbClr val="F1F5F9"/>
                </a:solidFill>
              </a:defRPr>
            </a:pPr>
            <a:r>
              <a:t>  Asymptomatic family members subjected to unnecessary echocardiograms and activity restrictions.</a:t>
            </a:r>
          </a:p>
          <a:p>
            <a:pPr>
              <a:spcBef>
                <a:spcPts val="600"/>
              </a:spcBef>
              <a:defRPr sz="950" b="1">
                <a:solidFill>
                  <a:srgbClr val="FFFFFF"/>
                </a:solidFill>
              </a:defRPr>
            </a:pPr>
            <a:r>
              <a:t>• CuraCascade Action:</a:t>
            </a:r>
          </a:p>
          <a:p>
            <a:pPr>
              <a:defRPr sz="850">
                <a:solidFill>
                  <a:srgbClr val="F1F5F9"/>
                </a:solidFill>
              </a:defRPr>
            </a:pPr>
            <a:r>
              <a:t>  Flagged as Class A discrepancy; generated audit dossier recommending panel removal.</a:t>
            </a:r>
          </a:p>
        </p:txBody>
      </p:sp>
      <p:sp>
        <p:nvSpPr>
          <p:cNvPr id="8" name="TextBox 7"/>
          <p:cNvSpPr txBox="1"/>
          <p:nvPr/>
        </p:nvSpPr>
        <p:spPr>
          <a:xfrm>
            <a:off x="731520" y="6473952"/>
            <a:ext cx="10728655" cy="274320"/>
          </a:xfrm>
          <a:prstGeom prst="rect">
            <a:avLst/>
          </a:prstGeom>
          <a:noFill/>
        </p:spPr>
        <p:txBody>
          <a:bodyPr wrap="square" lIns="0" tIns="0" rIns="0" bIns="0">
            <a:spAutoFit/>
          </a:bodyPr>
          <a:lstStyle/>
          <a:p>
            <a:pPr>
              <a:defRPr sz="850">
                <a:solidFill>
                  <a:srgbClr val="64748B"/>
                </a:solidFill>
              </a:defRPr>
            </a:pPr>
            <a:r>
              <a:t>CuraCascade V2  |  Academic Defense  |  VIT School of Computer Science &amp; Engineering  |  Slide 19 of 25</a:t>
            </a:r>
          </a:p>
        </p:txBody>
      </p:sp>
    </p:spTree>
  </p:cSld>
  <p:clrMapOvr>
    <a:masterClrMapping/>
  </p:clrMapOvr>
  <p:transition spd="med">
    <p:fade/>
  </p:transition>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71426"/>
        </a:solidFill>
        <a:effectLst/>
      </p:bgPr>
    </p:bg>
    <p:spTree>
      <p:nvGrpSpPr>
        <p:cNvPr id="1" name=""/>
        <p:cNvGrpSpPr/>
        <p:nvPr/>
      </p:nvGrpSpPr>
      <p:grpSpPr/>
      <p:sp>
        <p:nvSpPr>
          <p:cNvPr id="2" name="Rectangle 1"/>
          <p:cNvSpPr/>
          <p:nvPr/>
        </p:nvSpPr>
        <p:spPr>
          <a:xfrm>
            <a:off x="731520" y="0"/>
            <a:ext cx="10728655" cy="36576"/>
          </a:xfrm>
          <a:prstGeom prst="rect">
            <a:avLst/>
          </a:prstGeom>
          <a:solidFill>
            <a:srgbClr val="00D4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1051560"/>
          </a:xfrm>
          <a:prstGeom prst="rect">
            <a:avLst/>
          </a:prstGeom>
          <a:noFill/>
        </p:spPr>
        <p:txBody>
          <a:bodyPr wrap="square" lIns="0" tIns="0" rIns="0" bIns="0">
            <a:spAutoFit/>
          </a:bodyPr>
          <a:lstStyle/>
          <a:p>
            <a:pPr>
              <a:defRPr sz="950" b="1">
                <a:solidFill>
                  <a:srgbClr val="00D4B2"/>
                </a:solidFill>
              </a:defRPr>
            </a:pPr>
            <a:r>
              <a:t>BENCHMARK METHODOLOGY</a:t>
            </a:r>
          </a:p>
          <a:p>
            <a:pPr>
              <a:spcBef>
                <a:spcPts val="200"/>
              </a:spcBef>
              <a:defRPr sz="2100" b="1">
                <a:solidFill>
                  <a:srgbClr val="FFFFFF"/>
                </a:solidFill>
              </a:defRPr>
            </a:pPr>
            <a:r>
              <a:t>Benchmark Methodology &amp; Validation Design</a:t>
            </a:r>
          </a:p>
          <a:p>
            <a:pPr>
              <a:spcBef>
                <a:spcPts val="200"/>
              </a:spcBef>
              <a:defRPr sz="1100">
                <a:solidFill>
                  <a:srgbClr val="94A3B8"/>
                </a:solidFill>
              </a:defRPr>
            </a:pPr>
            <a:r>
              <a:t>Reference truth set construction, strict label firewall, and evaluable cohort exclusion criteria</a:t>
            </a:r>
          </a:p>
        </p:txBody>
      </p:sp>
      <p:sp>
        <p:nvSpPr>
          <p:cNvPr id="4" name="Rounded Rectangle 3"/>
          <p:cNvSpPr/>
          <p:nvPr/>
        </p:nvSpPr>
        <p:spPr>
          <a:xfrm>
            <a:off x="731520" y="1554480"/>
            <a:ext cx="3429000" cy="4709160"/>
          </a:xfrm>
          <a:prstGeom prst="roundRect">
            <a:avLst/>
          </a:prstGeom>
          <a:solidFill>
            <a:srgbClr val="0F243A"/>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691640"/>
            <a:ext cx="3154680" cy="4389120"/>
          </a:xfrm>
          <a:prstGeom prst="rect">
            <a:avLst/>
          </a:prstGeom>
          <a:noFill/>
        </p:spPr>
        <p:txBody>
          <a:bodyPr wrap="square">
            <a:spAutoFit/>
          </a:bodyPr>
          <a:lstStyle/>
          <a:p>
            <a:pPr>
              <a:defRPr sz="1100" b="1">
                <a:solidFill>
                  <a:srgbClr val="38BDF8"/>
                </a:solidFill>
              </a:defRPr>
            </a:pPr>
            <a:r>
              <a:t>COHORT COMPOSITION</a:t>
            </a:r>
          </a:p>
          <a:p>
            <a:pPr>
              <a:spcBef>
                <a:spcPts val="300"/>
              </a:spcBef>
              <a:defRPr sz="1000" b="1">
                <a:solidFill>
                  <a:srgbClr val="FFFFFF"/>
                </a:solidFill>
              </a:defRPr>
            </a:pPr>
            <a:r>
              <a:t>100 Gene–Disease Dyads</a:t>
            </a:r>
          </a:p>
          <a:p>
            <a:pPr>
              <a:spcBef>
                <a:spcPts val="800"/>
              </a:spcBef>
              <a:defRPr sz="850">
                <a:solidFill>
                  <a:srgbClr val="F1F5F9"/>
                </a:solidFill>
              </a:defRPr>
            </a:pPr>
            <a:r>
              <a:t>Curated from ClinGen curation releases, peer-reviewed literature, and panel guidelines.</a:t>
            </a:r>
            <a:br/>
            <a:br/>
            <a:r>
              <a:t>• 60 Known Discrepancies: Class A refuted assertions, Class B contested evidence, Class C panel over-inclusions.</a:t>
            </a:r>
            <a:br/>
            <a:br/>
            <a:r>
              <a:t>• 40 Concordant Controls: Verified definitive genes (e.g., BRCA1, LDLR, SCN5A) with zero conflicts.</a:t>
            </a:r>
            <a:br/>
            <a:br/>
            <a:r>
              <a:t>• Diverse Domains: 40 cardiovascular, 30 hereditary cancer, 20 neurodevelopmental, 10 metabolic.</a:t>
            </a:r>
          </a:p>
        </p:txBody>
      </p:sp>
      <p:sp>
        <p:nvSpPr>
          <p:cNvPr id="6" name="Rounded Rectangle 5"/>
          <p:cNvSpPr/>
          <p:nvPr/>
        </p:nvSpPr>
        <p:spPr>
          <a:xfrm>
            <a:off x="4379976" y="1554480"/>
            <a:ext cx="3429000" cy="4709160"/>
          </a:xfrm>
          <a:prstGeom prst="roundRect">
            <a:avLst/>
          </a:prstGeom>
          <a:solidFill>
            <a:srgbClr val="0F243A"/>
          </a:solidFill>
          <a:ln w="12700">
            <a:solidFill>
              <a:srgbClr val="00D4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17136" y="1691640"/>
            <a:ext cx="3154680" cy="4389120"/>
          </a:xfrm>
          <a:prstGeom prst="rect">
            <a:avLst/>
          </a:prstGeom>
          <a:noFill/>
        </p:spPr>
        <p:txBody>
          <a:bodyPr wrap="square">
            <a:spAutoFit/>
          </a:bodyPr>
          <a:lstStyle/>
          <a:p>
            <a:pPr>
              <a:defRPr sz="1100" b="1">
                <a:solidFill>
                  <a:srgbClr val="00D4B2"/>
                </a:solidFill>
              </a:defRPr>
            </a:pPr>
            <a:r>
              <a:t>STRICT LABEL FIREWALL</a:t>
            </a:r>
          </a:p>
          <a:p>
            <a:pPr>
              <a:spcBef>
                <a:spcPts val="300"/>
              </a:spcBef>
              <a:defRPr sz="1000" b="1">
                <a:solidFill>
                  <a:srgbClr val="FFFFFF"/>
                </a:solidFill>
              </a:defRPr>
            </a:pPr>
            <a:r>
              <a:t>Zero Programmatic Leakage</a:t>
            </a:r>
          </a:p>
          <a:p>
            <a:pPr>
              <a:spcBef>
                <a:spcPts val="800"/>
              </a:spcBef>
              <a:defRPr sz="850">
                <a:solidFill>
                  <a:srgbClr val="F1F5F9"/>
                </a:solidFill>
              </a:defRPr>
            </a:pPr>
            <a:r>
              <a:t>Eliminated all hardcoded exception lists (KNOWN_FN, KNOWN_FP) from earlier prototypes.</a:t>
            </a:r>
            <a:br/>
            <a:br/>
            <a:r>
              <a:t>• Dynamic Query Execution: The audit engine queries live database tables taking only gene_symbol and disease_name as inputs.</a:t>
            </a:r>
            <a:br/>
            <a:br/>
            <a:r>
              <a:t>• Independent Prediction: Predictions are generated completely blind to ground-truth labels.</a:t>
            </a:r>
            <a:br/>
            <a:br/>
            <a:r>
              <a:t>• Evaluated at Runtime: Labels are compared only at the final confusion matrix step.</a:t>
            </a:r>
          </a:p>
        </p:txBody>
      </p:sp>
      <p:sp>
        <p:nvSpPr>
          <p:cNvPr id="8" name="Rounded Rectangle 7"/>
          <p:cNvSpPr/>
          <p:nvPr/>
        </p:nvSpPr>
        <p:spPr>
          <a:xfrm>
            <a:off x="8028432" y="1554480"/>
            <a:ext cx="3429000" cy="4709160"/>
          </a:xfrm>
          <a:prstGeom prst="roundRect">
            <a:avLst/>
          </a:prstGeom>
          <a:solidFill>
            <a:srgbClr val="0F243A"/>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165592" y="1691640"/>
            <a:ext cx="3154680" cy="4389120"/>
          </a:xfrm>
          <a:prstGeom prst="rect">
            <a:avLst/>
          </a:prstGeom>
          <a:noFill/>
        </p:spPr>
        <p:txBody>
          <a:bodyPr wrap="square">
            <a:spAutoFit/>
          </a:bodyPr>
          <a:lstStyle/>
          <a:p>
            <a:pPr>
              <a:defRPr sz="1100" b="1">
                <a:solidFill>
                  <a:srgbClr val="F59E0B"/>
                </a:solidFill>
              </a:defRPr>
            </a:pPr>
            <a:r>
              <a:t>EVALUABLE COHORT</a:t>
            </a:r>
          </a:p>
          <a:p>
            <a:pPr>
              <a:spcBef>
                <a:spcPts val="300"/>
              </a:spcBef>
              <a:defRPr sz="1000" b="1">
                <a:solidFill>
                  <a:srgbClr val="FFFFFF"/>
                </a:solidFill>
              </a:defRPr>
            </a:pPr>
            <a:r>
              <a:t>94 / 100 Cases Evaluated</a:t>
            </a:r>
          </a:p>
          <a:p>
            <a:pPr>
              <a:spcBef>
                <a:spcPts val="800"/>
              </a:spcBef>
              <a:defRPr sz="850">
                <a:solidFill>
                  <a:srgbClr val="F1F5F9"/>
                </a:solidFill>
              </a:defRPr>
            </a:pPr>
            <a:r>
              <a:t>Following STARD and TRIPOD reporting guidelines for diagnostic validation studies.</a:t>
            </a:r>
            <a:br/>
            <a:br/>
            <a:r>
              <a:t>• 6 Excluded Cases: Absent from local database snapshot (XRCC3, DFNB59, TSC1, TSC2, SMAD3, SMN1).</a:t>
            </a:r>
            <a:br/>
            <a:br/>
            <a:r>
              <a:t>• Rationale: Testing an engine on data absent from the database tests snapshot coverage, not classification logic.</a:t>
            </a:r>
            <a:br/>
            <a:br/>
            <a:r>
              <a:t>• Full-cohort unadjusted metrics (N=100) are also reported transparently.</a:t>
            </a:r>
          </a:p>
        </p:txBody>
      </p:sp>
      <p:sp>
        <p:nvSpPr>
          <p:cNvPr id="10" name="TextBox 9"/>
          <p:cNvSpPr txBox="1"/>
          <p:nvPr/>
        </p:nvSpPr>
        <p:spPr>
          <a:xfrm>
            <a:off x="731520" y="6473952"/>
            <a:ext cx="10728655" cy="274320"/>
          </a:xfrm>
          <a:prstGeom prst="rect">
            <a:avLst/>
          </a:prstGeom>
          <a:noFill/>
        </p:spPr>
        <p:txBody>
          <a:bodyPr wrap="square" lIns="0" tIns="0" rIns="0" bIns="0">
            <a:spAutoFit/>
          </a:bodyPr>
          <a:lstStyle/>
          <a:p>
            <a:pPr>
              <a:defRPr sz="850">
                <a:solidFill>
                  <a:srgbClr val="64748B"/>
                </a:solidFill>
              </a:defRPr>
            </a:pPr>
            <a:r>
              <a:t>CuraCascade V2  |  Academic Defense  |  VIT School of Computer Science &amp; Engineering  |  Slide 20 of 25</a:t>
            </a:r>
          </a:p>
        </p:txBody>
      </p:sp>
    </p:spTree>
  </p:cSld>
  <p:clrMapOvr>
    <a:masterClrMapping/>
  </p:clrMapOvr>
  <p:transition spd="med">
    <p:fade/>
  </p:transition>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71426"/>
        </a:solidFill>
        <a:effectLst/>
      </p:bgPr>
    </p:bg>
    <p:spTree>
      <p:nvGrpSpPr>
        <p:cNvPr id="1" name=""/>
        <p:cNvGrpSpPr/>
        <p:nvPr/>
      </p:nvGrpSpPr>
      <p:grpSpPr/>
      <p:sp>
        <p:nvSpPr>
          <p:cNvPr id="2" name="Rectangle 1"/>
          <p:cNvSpPr/>
          <p:nvPr/>
        </p:nvSpPr>
        <p:spPr>
          <a:xfrm>
            <a:off x="731520" y="0"/>
            <a:ext cx="10728655" cy="36576"/>
          </a:xfrm>
          <a:prstGeom prst="rect">
            <a:avLst/>
          </a:prstGeom>
          <a:solidFill>
            <a:srgbClr val="00D4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1051560"/>
          </a:xfrm>
          <a:prstGeom prst="rect">
            <a:avLst/>
          </a:prstGeom>
          <a:noFill/>
        </p:spPr>
        <p:txBody>
          <a:bodyPr wrap="square" lIns="0" tIns="0" rIns="0" bIns="0">
            <a:spAutoFit/>
          </a:bodyPr>
          <a:lstStyle/>
          <a:p>
            <a:pPr>
              <a:defRPr sz="950" b="1">
                <a:solidFill>
                  <a:srgbClr val="00D4B2"/>
                </a:solidFill>
              </a:defRPr>
            </a:pPr>
            <a:r>
              <a:t>BENCHMARK RESULTS</a:t>
            </a:r>
          </a:p>
          <a:p>
            <a:pPr>
              <a:spcBef>
                <a:spcPts val="200"/>
              </a:spcBef>
              <a:defRPr sz="2100" b="1">
                <a:solidFill>
                  <a:srgbClr val="FFFFFF"/>
                </a:solidFill>
              </a:defRPr>
            </a:pPr>
            <a:r>
              <a:t>Quantitative Benchmark Results: The Verified Confusion Matrix</a:t>
            </a:r>
          </a:p>
          <a:p>
            <a:pPr>
              <a:spcBef>
                <a:spcPts val="200"/>
              </a:spcBef>
              <a:defRPr sz="1100">
                <a:solidFill>
                  <a:srgbClr val="94A3B8"/>
                </a:solidFill>
              </a:defRPr>
            </a:pPr>
            <a:r>
              <a:t>Independent evaluation across 94 evaluable gene–disease dyads with Wilson score 95% confidence intervals</a:t>
            </a:r>
          </a:p>
        </p:txBody>
      </p:sp>
      <p:sp>
        <p:nvSpPr>
          <p:cNvPr id="4" name="Rounded Rectangle 3"/>
          <p:cNvSpPr/>
          <p:nvPr/>
        </p:nvSpPr>
        <p:spPr>
          <a:xfrm>
            <a:off x="731520" y="1554480"/>
            <a:ext cx="4754880" cy="4709160"/>
          </a:xfrm>
          <a:prstGeom prst="roundRect">
            <a:avLst/>
          </a:prstGeom>
          <a:solidFill>
            <a:srgbClr val="0F243A"/>
          </a:solidFill>
          <a:ln w="12700">
            <a:solidFill>
              <a:srgbClr val="1E40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91640"/>
            <a:ext cx="4389120" cy="4389120"/>
          </a:xfrm>
          <a:prstGeom prst="rect">
            <a:avLst/>
          </a:prstGeom>
          <a:noFill/>
        </p:spPr>
        <p:txBody>
          <a:bodyPr wrap="square">
            <a:spAutoFit/>
          </a:bodyPr>
          <a:lstStyle/>
          <a:p>
            <a:pPr>
              <a:defRPr sz="1100" b="1">
                <a:solidFill>
                  <a:srgbClr val="00D4B2"/>
                </a:solidFill>
              </a:defRPr>
            </a:pPr>
            <a:r>
              <a:t>EVALUABLE COHORT CONFUSION MATRIX (N = 94)</a:t>
            </a:r>
          </a:p>
        </p:txBody>
      </p:sp>
      <p:graphicFrame>
        <p:nvGraphicFramePr>
          <p:cNvPr id="6" name="Table 5"/>
          <p:cNvGraphicFramePr>
            <a:graphicFrameLocks noGrp="1"/>
          </p:cNvGraphicFramePr>
          <p:nvPr/>
        </p:nvGraphicFramePr>
        <p:xfrm>
          <a:off x="914400" y="2103120"/>
          <a:ext cx="4389120" cy="2011680"/>
        </p:xfrm>
        <a:graphic>
          <a:graphicData uri="http://schemas.openxmlformats.org/drawingml/2006/table">
            <a:tbl>
              <a:tblPr firstRow="1" bandRow="1">
                <a:tableStyleId>{5C22544A-7EE6-4342-B048-85BDC9FD1C3A}</a:tableStyleId>
              </a:tblPr>
              <a:tblGrid>
                <a:gridCol w="1463040"/>
                <a:gridCol w="1463040"/>
                <a:gridCol w="1463040"/>
              </a:tblGrid>
              <a:tr h="670560">
                <a:tc>
                  <a:txBody>
                    <a:bodyPr/>
                    <a:lstStyle/>
                    <a:p>
                      <a:pPr algn="ctr">
                        <a:defRPr sz="950" b="1">
                          <a:solidFill>
                            <a:srgbClr val="FFFFFF"/>
                          </a:solidFill>
                        </a:defRPr>
                      </a:pPr>
                    </a:p>
                  </a:txBody>
                  <a:tcPr>
                    <a:solidFill>
                      <a:srgbClr val="0F243A"/>
                    </a:solidFill>
                  </a:tcPr>
                </a:tc>
                <a:tc>
                  <a:txBody>
                    <a:bodyPr/>
                    <a:lstStyle/>
                    <a:p>
                      <a:pPr algn="ctr">
                        <a:defRPr sz="950" b="1">
                          <a:solidFill>
                            <a:srgbClr val="FFFFFF"/>
                          </a:solidFill>
                        </a:defRPr>
                      </a:pPr>
                      <a:r>
                        <a:t>Ref Discrepancy</a:t>
                      </a:r>
                    </a:p>
                  </a:txBody>
                  <a:tcPr>
                    <a:solidFill>
                      <a:srgbClr val="16375A"/>
                    </a:solidFill>
                  </a:tcPr>
                </a:tc>
                <a:tc>
                  <a:txBody>
                    <a:bodyPr/>
                    <a:lstStyle/>
                    <a:p>
                      <a:pPr algn="ctr">
                        <a:defRPr sz="950" b="1">
                          <a:solidFill>
                            <a:srgbClr val="FFFFFF"/>
                          </a:solidFill>
                        </a:defRPr>
                      </a:pPr>
                      <a:r>
                        <a:t>Ref Concordant</a:t>
                      </a:r>
                    </a:p>
                  </a:txBody>
                  <a:tcPr>
                    <a:solidFill>
                      <a:srgbClr val="16375A"/>
                    </a:solidFill>
                  </a:tcPr>
                </a:tc>
              </a:tr>
              <a:tr h="670560">
                <a:tc>
                  <a:txBody>
                    <a:bodyPr/>
                    <a:lstStyle/>
                    <a:p>
                      <a:pPr algn="ctr">
                        <a:defRPr sz="950" b="1">
                          <a:solidFill>
                            <a:srgbClr val="FFFFFF"/>
                          </a:solidFill>
                        </a:defRPr>
                      </a:pPr>
                      <a:r>
                        <a:t>Pred Discrepancy</a:t>
                      </a:r>
                    </a:p>
                  </a:txBody>
                  <a:tcPr>
                    <a:solidFill>
                      <a:srgbClr val="16375A"/>
                    </a:solidFill>
                  </a:tcPr>
                </a:tc>
                <a:tc>
                  <a:txBody>
                    <a:bodyPr/>
                    <a:lstStyle/>
                    <a:p>
                      <a:pPr algn="ctr">
                        <a:defRPr sz="950" b="1">
                          <a:solidFill>
                            <a:srgbClr val="00D4B2"/>
                          </a:solidFill>
                        </a:defRPr>
                      </a:pPr>
                      <a:r>
                        <a:t>TP = 18</a:t>
                      </a:r>
                    </a:p>
                  </a:txBody>
                  <a:tcPr>
                    <a:solidFill>
                      <a:srgbClr val="0B1B2E"/>
                    </a:solidFill>
                  </a:tcPr>
                </a:tc>
                <a:tc>
                  <a:txBody>
                    <a:bodyPr/>
                    <a:lstStyle/>
                    <a:p>
                      <a:pPr algn="ctr">
                        <a:defRPr sz="950" b="1">
                          <a:solidFill>
                            <a:srgbClr val="10B981"/>
                          </a:solidFill>
                        </a:defRPr>
                      </a:pPr>
                      <a:r>
                        <a:t>FP = 0</a:t>
                      </a:r>
                    </a:p>
                  </a:txBody>
                  <a:tcPr>
                    <a:solidFill>
                      <a:srgbClr val="0B1B2E"/>
                    </a:solidFill>
                  </a:tcPr>
                </a:tc>
              </a:tr>
              <a:tr h="670560">
                <a:tc>
                  <a:txBody>
                    <a:bodyPr/>
                    <a:lstStyle/>
                    <a:p>
                      <a:pPr algn="ctr">
                        <a:defRPr sz="950" b="1">
                          <a:solidFill>
                            <a:srgbClr val="FFFFFF"/>
                          </a:solidFill>
                        </a:defRPr>
                      </a:pPr>
                      <a:r>
                        <a:t>Pred Concordant</a:t>
                      </a:r>
                    </a:p>
                  </a:txBody>
                  <a:tcPr>
                    <a:solidFill>
                      <a:srgbClr val="16375A"/>
                    </a:solidFill>
                  </a:tcPr>
                </a:tc>
                <a:tc>
                  <a:txBody>
                    <a:bodyPr/>
                    <a:lstStyle/>
                    <a:p>
                      <a:pPr algn="ctr">
                        <a:defRPr sz="950" b="1">
                          <a:solidFill>
                            <a:srgbClr val="F59E0B"/>
                          </a:solidFill>
                        </a:defRPr>
                      </a:pPr>
                      <a:r>
                        <a:t>FN = 34</a:t>
                      </a:r>
                    </a:p>
                  </a:txBody>
                  <a:tcPr>
                    <a:solidFill>
                      <a:srgbClr val="0B1B2E"/>
                    </a:solidFill>
                  </a:tcPr>
                </a:tc>
                <a:tc>
                  <a:txBody>
                    <a:bodyPr/>
                    <a:lstStyle/>
                    <a:p>
                      <a:pPr algn="ctr">
                        <a:defRPr sz="950" b="1">
                          <a:solidFill>
                            <a:srgbClr val="38BDF8"/>
                          </a:solidFill>
                        </a:defRPr>
                      </a:pPr>
                      <a:r>
                        <a:t>TN = 42</a:t>
                      </a:r>
                    </a:p>
                  </a:txBody>
                  <a:tcPr>
                    <a:solidFill>
                      <a:srgbClr val="0B1B2E"/>
                    </a:solidFill>
                  </a:tcPr>
                </a:tc>
              </a:tr>
            </a:tbl>
          </a:graphicData>
        </a:graphic>
      </p:graphicFrame>
      <p:sp>
        <p:nvSpPr>
          <p:cNvPr id="7" name="TextBox 6"/>
          <p:cNvSpPr txBox="1"/>
          <p:nvPr/>
        </p:nvSpPr>
        <p:spPr>
          <a:xfrm>
            <a:off x="914400" y="4251960"/>
            <a:ext cx="4389120" cy="1828800"/>
          </a:xfrm>
          <a:prstGeom prst="rect">
            <a:avLst/>
          </a:prstGeom>
          <a:noFill/>
        </p:spPr>
        <p:txBody>
          <a:bodyPr wrap="square">
            <a:spAutoFit/>
          </a:bodyPr>
          <a:lstStyle/>
          <a:p>
            <a:pPr>
              <a:defRPr sz="950">
                <a:solidFill>
                  <a:srgbClr val="F1F5F9"/>
                </a:solidFill>
              </a:defRPr>
            </a:pPr>
            <a:r>
              <a:t>• Total Evaluable Cases: 18 + 0 + 34 + 42 = 94</a:t>
            </a:r>
          </a:p>
          <a:p>
            <a:pPr>
              <a:spcBef>
                <a:spcPts val="400"/>
              </a:spcBef>
              <a:defRPr sz="900" b="1">
                <a:solidFill>
                  <a:srgbClr val="10B981"/>
                </a:solidFill>
              </a:defRPr>
            </a:pPr>
            <a:r>
              <a:t>• Zero False Positives (FP = 0): No concordant control was misclassified as a discrepancy.</a:t>
            </a:r>
          </a:p>
          <a:p>
            <a:pPr>
              <a:spcBef>
                <a:spcPts val="300"/>
              </a:spcBef>
              <a:defRPr sz="900">
                <a:solidFill>
                  <a:srgbClr val="94A3B8"/>
                </a:solidFill>
              </a:defRPr>
            </a:pPr>
            <a:r>
              <a:t>• 34 False Negatives: Intentionally conservative crosswalk thresholds and local snapshot absence.</a:t>
            </a:r>
          </a:p>
        </p:txBody>
      </p:sp>
      <p:sp>
        <p:nvSpPr>
          <p:cNvPr id="8" name="Rounded Rectangle 7"/>
          <p:cNvSpPr/>
          <p:nvPr/>
        </p:nvSpPr>
        <p:spPr>
          <a:xfrm>
            <a:off x="5760720" y="1554480"/>
            <a:ext cx="5699455" cy="4709160"/>
          </a:xfrm>
          <a:prstGeom prst="roundRect">
            <a:avLst/>
          </a:prstGeom>
          <a:solidFill>
            <a:srgbClr val="0F243A"/>
          </a:solidFill>
          <a:ln w="12700">
            <a:solidFill>
              <a:srgbClr val="1E40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943600" y="1691640"/>
            <a:ext cx="5333695" cy="1051560"/>
          </a:xfrm>
          <a:prstGeom prst="roundRect">
            <a:avLst/>
          </a:prstGeom>
          <a:solidFill>
            <a:srgbClr val="16375A"/>
          </a:solidFill>
          <a:ln w="12700">
            <a:solidFill>
              <a:srgbClr val="1E40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80760" y="1783080"/>
            <a:ext cx="5029200" cy="868680"/>
          </a:xfrm>
          <a:prstGeom prst="rect">
            <a:avLst/>
          </a:prstGeom>
          <a:noFill/>
        </p:spPr>
        <p:txBody>
          <a:bodyPr wrap="square">
            <a:spAutoFit/>
          </a:bodyPr>
          <a:lstStyle/>
          <a:p>
            <a:pPr>
              <a:defRPr sz="900" b="1">
                <a:solidFill>
                  <a:srgbClr val="94A3B8"/>
                </a:solidFill>
              </a:defRPr>
            </a:pPr>
            <a:r>
              <a:t>PRECISION (PPV): </a:t>
            </a:r>
            <a:r>
              <a:rPr sz="1600" b="1">
                <a:solidFill>
                  <a:srgbClr val="00D4B2"/>
                </a:solidFill>
              </a:rPr>
              <a:t>100.0%</a:t>
            </a:r>
            <a:r>
              <a:rPr sz="850">
                <a:solidFill>
                  <a:srgbClr val="94A3B8"/>
                </a:solidFill>
              </a:rPr>
              <a:t>  (95% CI: [82.4%, 100.0%])</a:t>
            </a:r>
          </a:p>
          <a:p>
            <a:pPr>
              <a:spcBef>
                <a:spcPts val="200"/>
              </a:spcBef>
              <a:defRPr sz="850">
                <a:solidFill>
                  <a:srgbClr val="F1F5F9"/>
                </a:solidFill>
              </a:defRPr>
            </a:pPr>
            <a:r>
              <a:t>TP / (TP + FP) = 18 / 18. Perfect audit reliability.</a:t>
            </a:r>
          </a:p>
        </p:txBody>
      </p:sp>
      <p:sp>
        <p:nvSpPr>
          <p:cNvPr id="11" name="Rounded Rectangle 10"/>
          <p:cNvSpPr/>
          <p:nvPr/>
        </p:nvSpPr>
        <p:spPr>
          <a:xfrm>
            <a:off x="5943600" y="2834640"/>
            <a:ext cx="5333695" cy="1051560"/>
          </a:xfrm>
          <a:prstGeom prst="roundRect">
            <a:avLst/>
          </a:prstGeom>
          <a:solidFill>
            <a:srgbClr val="16375A"/>
          </a:solidFill>
          <a:ln w="12700">
            <a:solidFill>
              <a:srgbClr val="1E40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80760" y="2926080"/>
            <a:ext cx="5029200" cy="868680"/>
          </a:xfrm>
          <a:prstGeom prst="rect">
            <a:avLst/>
          </a:prstGeom>
          <a:noFill/>
        </p:spPr>
        <p:txBody>
          <a:bodyPr wrap="square">
            <a:spAutoFit/>
          </a:bodyPr>
          <a:lstStyle/>
          <a:p>
            <a:pPr>
              <a:defRPr sz="900" b="1">
                <a:solidFill>
                  <a:srgbClr val="94A3B8"/>
                </a:solidFill>
              </a:defRPr>
            </a:pPr>
            <a:r>
              <a:t>SPECIFICITY (TNR): </a:t>
            </a:r>
            <a:r>
              <a:rPr sz="1600" b="1">
                <a:solidFill>
                  <a:srgbClr val="38BDF8"/>
                </a:solidFill>
              </a:rPr>
              <a:t>100.0%</a:t>
            </a:r>
            <a:r>
              <a:rPr sz="850">
                <a:solidFill>
                  <a:srgbClr val="94A3B8"/>
                </a:solidFill>
              </a:rPr>
              <a:t>  (95% CI: [91.6%, 100.0%])</a:t>
            </a:r>
          </a:p>
          <a:p>
            <a:pPr>
              <a:spcBef>
                <a:spcPts val="200"/>
              </a:spcBef>
              <a:defRPr sz="850">
                <a:solidFill>
                  <a:srgbClr val="F1F5F9"/>
                </a:solidFill>
              </a:defRPr>
            </a:pPr>
            <a:r>
              <a:t>TN / (TN + FP) = 42 / 42. Zero false alarms.</a:t>
            </a:r>
          </a:p>
        </p:txBody>
      </p:sp>
      <p:sp>
        <p:nvSpPr>
          <p:cNvPr id="13" name="Rounded Rectangle 12"/>
          <p:cNvSpPr/>
          <p:nvPr/>
        </p:nvSpPr>
        <p:spPr>
          <a:xfrm>
            <a:off x="5943600" y="3977639"/>
            <a:ext cx="5333695" cy="1051560"/>
          </a:xfrm>
          <a:prstGeom prst="roundRect">
            <a:avLst/>
          </a:prstGeom>
          <a:solidFill>
            <a:srgbClr val="16375A"/>
          </a:solidFill>
          <a:ln w="12700">
            <a:solidFill>
              <a:srgbClr val="1E40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080760" y="4069079"/>
            <a:ext cx="5029200" cy="868680"/>
          </a:xfrm>
          <a:prstGeom prst="rect">
            <a:avLst/>
          </a:prstGeom>
          <a:noFill/>
        </p:spPr>
        <p:txBody>
          <a:bodyPr wrap="square">
            <a:spAutoFit/>
          </a:bodyPr>
          <a:lstStyle/>
          <a:p>
            <a:pPr>
              <a:defRPr sz="900" b="1">
                <a:solidFill>
                  <a:srgbClr val="94A3B8"/>
                </a:solidFill>
              </a:defRPr>
            </a:pPr>
            <a:r>
              <a:t>SENSITIVITY (RECALL): </a:t>
            </a:r>
            <a:r>
              <a:rPr sz="1600" b="1">
                <a:solidFill>
                  <a:srgbClr val="F59E0B"/>
                </a:solidFill>
              </a:rPr>
              <a:t>34.6%</a:t>
            </a:r>
            <a:r>
              <a:rPr sz="850">
                <a:solidFill>
                  <a:srgbClr val="94A3B8"/>
                </a:solidFill>
              </a:rPr>
              <a:t>  (95% CI: [23.2%, 48.2%])</a:t>
            </a:r>
          </a:p>
          <a:p>
            <a:pPr>
              <a:spcBef>
                <a:spcPts val="200"/>
              </a:spcBef>
              <a:defRPr sz="850">
                <a:solidFill>
                  <a:srgbClr val="F1F5F9"/>
                </a:solidFill>
              </a:defRPr>
            </a:pPr>
            <a:r>
              <a:t>TP / (TP + FN) = 18 / 52. Deliberately conservative.</a:t>
            </a:r>
          </a:p>
        </p:txBody>
      </p:sp>
      <p:sp>
        <p:nvSpPr>
          <p:cNvPr id="15" name="Rounded Rectangle 14"/>
          <p:cNvSpPr/>
          <p:nvPr/>
        </p:nvSpPr>
        <p:spPr>
          <a:xfrm>
            <a:off x="5943600" y="5120640"/>
            <a:ext cx="5333695" cy="1051560"/>
          </a:xfrm>
          <a:prstGeom prst="roundRect">
            <a:avLst/>
          </a:prstGeom>
          <a:solidFill>
            <a:srgbClr val="16375A"/>
          </a:solidFill>
          <a:ln w="12700">
            <a:solidFill>
              <a:srgbClr val="1E40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080760" y="5212079"/>
            <a:ext cx="5029200" cy="868680"/>
          </a:xfrm>
          <a:prstGeom prst="rect">
            <a:avLst/>
          </a:prstGeom>
          <a:noFill/>
        </p:spPr>
        <p:txBody>
          <a:bodyPr wrap="square">
            <a:spAutoFit/>
          </a:bodyPr>
          <a:lstStyle/>
          <a:p>
            <a:pPr>
              <a:defRPr sz="900" b="1">
                <a:solidFill>
                  <a:srgbClr val="94A3B8"/>
                </a:solidFill>
              </a:defRPr>
            </a:pPr>
            <a:r>
              <a:t>ACCURACY: </a:t>
            </a:r>
            <a:r>
              <a:rPr sz="1600" b="1">
                <a:solidFill>
                  <a:srgbClr val="FFFFFF"/>
                </a:solidFill>
              </a:rPr>
              <a:t>63.8%</a:t>
            </a:r>
            <a:r>
              <a:rPr sz="850">
                <a:solidFill>
                  <a:srgbClr val="94A3B8"/>
                </a:solidFill>
              </a:rPr>
              <a:t>  (95% CI: [53.8%, 72.8%])</a:t>
            </a:r>
          </a:p>
          <a:p>
            <a:pPr>
              <a:spcBef>
                <a:spcPts val="200"/>
              </a:spcBef>
              <a:defRPr sz="850">
                <a:solidFill>
                  <a:srgbClr val="F1F5F9"/>
                </a:solidFill>
              </a:defRPr>
            </a:pPr>
            <a:r>
              <a:t>(TP + TN) / Total = 60 / 94. Cohen's Kappa = 0.3212.</a:t>
            </a:r>
          </a:p>
        </p:txBody>
      </p:sp>
      <p:sp>
        <p:nvSpPr>
          <p:cNvPr id="17" name="TextBox 16"/>
          <p:cNvSpPr txBox="1"/>
          <p:nvPr/>
        </p:nvSpPr>
        <p:spPr>
          <a:xfrm>
            <a:off x="731520" y="6473952"/>
            <a:ext cx="10728655" cy="274320"/>
          </a:xfrm>
          <a:prstGeom prst="rect">
            <a:avLst/>
          </a:prstGeom>
          <a:noFill/>
        </p:spPr>
        <p:txBody>
          <a:bodyPr wrap="square" lIns="0" tIns="0" rIns="0" bIns="0">
            <a:spAutoFit/>
          </a:bodyPr>
          <a:lstStyle/>
          <a:p>
            <a:pPr>
              <a:defRPr sz="850">
                <a:solidFill>
                  <a:srgbClr val="64748B"/>
                </a:solidFill>
              </a:defRPr>
            </a:pPr>
            <a:r>
              <a:t>CuraCascade V2  |  Academic Defense  |  VIT School of Computer Science &amp; Engineering  |  Slide 21 of 25</a:t>
            </a:r>
          </a:p>
        </p:txBody>
      </p:sp>
    </p:spTree>
  </p:cSld>
  <p:clrMapOvr>
    <a:masterClrMapping/>
  </p:clrMapOvr>
  <p:transition spd="med">
    <p:fade/>
  </p:transition>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71426"/>
        </a:solidFill>
        <a:effectLst/>
      </p:bgPr>
    </p:bg>
    <p:spTree>
      <p:nvGrpSpPr>
        <p:cNvPr id="1" name=""/>
        <p:cNvGrpSpPr/>
        <p:nvPr/>
      </p:nvGrpSpPr>
      <p:grpSpPr/>
      <p:sp>
        <p:nvSpPr>
          <p:cNvPr id="2" name="Rectangle 1"/>
          <p:cNvSpPr/>
          <p:nvPr/>
        </p:nvSpPr>
        <p:spPr>
          <a:xfrm>
            <a:off x="731520" y="0"/>
            <a:ext cx="10728655" cy="36576"/>
          </a:xfrm>
          <a:prstGeom prst="rect">
            <a:avLst/>
          </a:prstGeom>
          <a:solidFill>
            <a:srgbClr val="00D4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1051560"/>
          </a:xfrm>
          <a:prstGeom prst="rect">
            <a:avLst/>
          </a:prstGeom>
          <a:noFill/>
        </p:spPr>
        <p:txBody>
          <a:bodyPr wrap="square" lIns="0" tIns="0" rIns="0" bIns="0">
            <a:spAutoFit/>
          </a:bodyPr>
          <a:lstStyle/>
          <a:p>
            <a:pPr>
              <a:defRPr sz="950" b="1">
                <a:solidFill>
                  <a:srgbClr val="00D4B2"/>
                </a:solidFill>
              </a:defRPr>
            </a:pPr>
            <a:r>
              <a:t>ERROR ANALYSIS</a:t>
            </a:r>
          </a:p>
          <a:p>
            <a:pPr>
              <a:spcBef>
                <a:spcPts val="200"/>
              </a:spcBef>
              <a:defRPr sz="2100" b="1">
                <a:solidFill>
                  <a:srgbClr val="FFFFFF"/>
                </a:solidFill>
              </a:defRPr>
            </a:pPr>
            <a:r>
              <a:t>Error Analysis: Dissecting the 34 False Negatives</a:t>
            </a:r>
          </a:p>
          <a:p>
            <a:pPr>
              <a:spcBef>
                <a:spcPts val="200"/>
              </a:spcBef>
              <a:defRPr sz="1100">
                <a:solidFill>
                  <a:srgbClr val="94A3B8"/>
                </a:solidFill>
              </a:defRPr>
            </a:pPr>
            <a:r>
              <a:t>Categorizing missed discrepancies into snapshot boundaries, phenotype granularity disconnects, and uncurated noise</a:t>
            </a:r>
          </a:p>
        </p:txBody>
      </p:sp>
      <p:sp>
        <p:nvSpPr>
          <p:cNvPr id="4" name="Rounded Rectangle 3"/>
          <p:cNvSpPr/>
          <p:nvPr/>
        </p:nvSpPr>
        <p:spPr>
          <a:xfrm>
            <a:off x="731520" y="1554480"/>
            <a:ext cx="3429000" cy="4709160"/>
          </a:xfrm>
          <a:prstGeom prst="roundRect">
            <a:avLst/>
          </a:prstGeom>
          <a:solidFill>
            <a:srgbClr val="0F243A"/>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691640"/>
            <a:ext cx="3154680" cy="4389120"/>
          </a:xfrm>
          <a:prstGeom prst="rect">
            <a:avLst/>
          </a:prstGeom>
          <a:noFill/>
        </p:spPr>
        <p:txBody>
          <a:bodyPr wrap="square">
            <a:spAutoFit/>
          </a:bodyPr>
          <a:lstStyle/>
          <a:p>
            <a:pPr>
              <a:defRPr sz="1100" b="1">
                <a:solidFill>
                  <a:srgbClr val="38BDF8"/>
                </a:solidFill>
              </a:defRPr>
            </a:pPr>
            <a:r>
              <a:t>CATEGORY 1: SNAPSHOT DATA ABSENCE</a:t>
            </a:r>
          </a:p>
          <a:p>
            <a:pPr>
              <a:spcBef>
                <a:spcPts val="300"/>
              </a:spcBef>
              <a:defRPr sz="1000" b="1">
                <a:solidFill>
                  <a:srgbClr val="FFFFFF"/>
                </a:solidFill>
              </a:defRPr>
            </a:pPr>
            <a:r>
              <a:t>16 Cases (47.1% of False Negatives)</a:t>
            </a:r>
          </a:p>
          <a:p>
            <a:pPr>
              <a:spcBef>
                <a:spcPts val="800"/>
              </a:spcBef>
              <a:defRPr sz="850">
                <a:solidFill>
                  <a:srgbClr val="F1F5F9"/>
                </a:solidFill>
              </a:defRPr>
            </a:pPr>
            <a:r>
              <a:t>The local ClinVar database snapshot contained zero active Pathogenic or Likely Pathogenic variants for that specific dyad at download time.</a:t>
            </a:r>
            <a:br/>
            <a:br/>
            <a:r>
              <a:t>• Example Genes: RAD50, XRCC2, CACNA2D1, TRPM4.</a:t>
            </a:r>
            <a:br/>
            <a:br/>
            <a:r>
              <a:t>• Root Cause: Testing laboratories had not submitted assertions for that specific dyad in our download slice.</a:t>
            </a:r>
            <a:br/>
            <a:br/>
            <a:r>
              <a:t>• Scientific Reality: An audit engine cannot flag what is absent from the ingested database.</a:t>
            </a:r>
          </a:p>
        </p:txBody>
      </p:sp>
      <p:sp>
        <p:nvSpPr>
          <p:cNvPr id="6" name="Rounded Rectangle 5"/>
          <p:cNvSpPr/>
          <p:nvPr/>
        </p:nvSpPr>
        <p:spPr>
          <a:xfrm>
            <a:off x="4379976" y="1554480"/>
            <a:ext cx="3429000" cy="4709160"/>
          </a:xfrm>
          <a:prstGeom prst="roundRect">
            <a:avLst/>
          </a:prstGeom>
          <a:solidFill>
            <a:srgbClr val="0F243A"/>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17136" y="1691640"/>
            <a:ext cx="3154680" cy="4389120"/>
          </a:xfrm>
          <a:prstGeom prst="rect">
            <a:avLst/>
          </a:prstGeom>
          <a:noFill/>
        </p:spPr>
        <p:txBody>
          <a:bodyPr wrap="square">
            <a:spAutoFit/>
          </a:bodyPr>
          <a:lstStyle/>
          <a:p>
            <a:pPr>
              <a:defRPr sz="1100" b="1">
                <a:solidFill>
                  <a:srgbClr val="F59E0B"/>
                </a:solidFill>
              </a:defRPr>
            </a:pPr>
            <a:r>
              <a:t>CATEGORY 2: PHENOTYPE DISCONNECT</a:t>
            </a:r>
          </a:p>
          <a:p>
            <a:pPr>
              <a:spcBef>
                <a:spcPts val="300"/>
              </a:spcBef>
              <a:defRPr sz="1000" b="1">
                <a:solidFill>
                  <a:srgbClr val="FFFFFF"/>
                </a:solidFill>
              </a:defRPr>
            </a:pPr>
            <a:r>
              <a:t>14 Cases (41.2% of False Negatives)</a:t>
            </a:r>
          </a:p>
          <a:p>
            <a:pPr>
              <a:spcBef>
                <a:spcPts val="800"/>
              </a:spcBef>
              <a:defRPr sz="850">
                <a:solidFill>
                  <a:srgbClr val="F1F5F9"/>
                </a:solidFill>
              </a:defRPr>
            </a:pPr>
            <a:r>
              <a:t>Submitters labeled variants under generic umbrella terms rather than specific disease entities.</a:t>
            </a:r>
            <a:br/>
            <a:br/>
            <a:r>
              <a:t>• Example Genes: MYOZ2, CAV3, CSRP3.</a:t>
            </a:r>
            <a:br/>
            <a:br/>
            <a:r>
              <a:t>• Root Cause: Variants were submitted as 'Cardiovascular phenotype' (MedGen C0007222) rather than 'Hypertrophic cardiomyopathy'.</a:t>
            </a:r>
            <a:br/>
            <a:br/>
            <a:r>
              <a:t>• Safe Refusal: Crosswalk refused to guess without explicit linkage, preventing false-positive alerts.</a:t>
            </a:r>
          </a:p>
        </p:txBody>
      </p:sp>
      <p:sp>
        <p:nvSpPr>
          <p:cNvPr id="8" name="Rounded Rectangle 7"/>
          <p:cNvSpPr/>
          <p:nvPr/>
        </p:nvSpPr>
        <p:spPr>
          <a:xfrm>
            <a:off x="8028432" y="1554480"/>
            <a:ext cx="3429000" cy="4709160"/>
          </a:xfrm>
          <a:prstGeom prst="roundRect">
            <a:avLst/>
          </a:prstGeom>
          <a:solidFill>
            <a:srgbClr val="0F243A"/>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165592" y="1691640"/>
            <a:ext cx="3154680" cy="4389120"/>
          </a:xfrm>
          <a:prstGeom prst="rect">
            <a:avLst/>
          </a:prstGeom>
          <a:noFill/>
        </p:spPr>
        <p:txBody>
          <a:bodyPr wrap="square">
            <a:spAutoFit/>
          </a:bodyPr>
          <a:lstStyle/>
          <a:p>
            <a:pPr>
              <a:defRPr sz="1100" b="1">
                <a:solidFill>
                  <a:srgbClr val="EF4444"/>
                </a:solidFill>
              </a:defRPr>
            </a:pPr>
            <a:r>
              <a:t>CATEGORY 3: UNCURATED NOISE &amp; FILTERS</a:t>
            </a:r>
          </a:p>
          <a:p>
            <a:pPr>
              <a:spcBef>
                <a:spcPts val="300"/>
              </a:spcBef>
              <a:defRPr sz="1000" b="1">
                <a:solidFill>
                  <a:srgbClr val="FFFFFF"/>
                </a:solidFill>
              </a:defRPr>
            </a:pPr>
            <a:r>
              <a:t>4 Cases (11.8% of False Negatives)</a:t>
            </a:r>
          </a:p>
          <a:p>
            <a:pPr>
              <a:spcBef>
                <a:spcPts val="800"/>
              </a:spcBef>
              <a:defRPr sz="850">
                <a:solidFill>
                  <a:srgbClr val="F1F5F9"/>
                </a:solidFill>
              </a:defRPr>
            </a:pPr>
            <a:r>
              <a:t>Variants had low review status or conflicting assertions that neutralized classification.</a:t>
            </a:r>
            <a:br/>
            <a:br/>
            <a:r>
              <a:t>• Example Genes: Low-confidence submissions with 0 stars.</a:t>
            </a:r>
            <a:br/>
            <a:br/>
            <a:r>
              <a:t>• Root Cause: Conflicting classifications (e.g., one lab submitted Benign, another Pathogenic).</a:t>
            </a:r>
            <a:br/>
            <a:br/>
            <a:r>
              <a:t>• Filter Rule: Engine filters uncurated single-submitter noise to prevent spurious alerts.</a:t>
            </a:r>
          </a:p>
        </p:txBody>
      </p:sp>
      <p:sp>
        <p:nvSpPr>
          <p:cNvPr id="10" name="TextBox 9"/>
          <p:cNvSpPr txBox="1"/>
          <p:nvPr/>
        </p:nvSpPr>
        <p:spPr>
          <a:xfrm>
            <a:off x="731520" y="6473952"/>
            <a:ext cx="10728655" cy="274320"/>
          </a:xfrm>
          <a:prstGeom prst="rect">
            <a:avLst/>
          </a:prstGeom>
          <a:noFill/>
        </p:spPr>
        <p:txBody>
          <a:bodyPr wrap="square" lIns="0" tIns="0" rIns="0" bIns="0">
            <a:spAutoFit/>
          </a:bodyPr>
          <a:lstStyle/>
          <a:p>
            <a:pPr>
              <a:defRPr sz="850">
                <a:solidFill>
                  <a:srgbClr val="64748B"/>
                </a:solidFill>
              </a:defRPr>
            </a:pPr>
            <a:r>
              <a:t>CuraCascade V2  |  Academic Defense  |  VIT School of Computer Science &amp; Engineering  |  Slide 22 of 25</a:t>
            </a:r>
          </a:p>
        </p:txBody>
      </p:sp>
    </p:spTree>
  </p:cSld>
  <p:clrMapOvr>
    <a:masterClrMapping/>
  </p:clrMapOvr>
  <p:transition spd="med">
    <p:fade/>
  </p:transition>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71426"/>
        </a:solidFill>
        <a:effectLst/>
      </p:bgPr>
    </p:bg>
    <p:spTree>
      <p:nvGrpSpPr>
        <p:cNvPr id="1" name=""/>
        <p:cNvGrpSpPr/>
        <p:nvPr/>
      </p:nvGrpSpPr>
      <p:grpSpPr/>
      <p:sp>
        <p:nvSpPr>
          <p:cNvPr id="2" name="Rectangle 1"/>
          <p:cNvSpPr/>
          <p:nvPr/>
        </p:nvSpPr>
        <p:spPr>
          <a:xfrm>
            <a:off x="731520" y="0"/>
            <a:ext cx="10728655" cy="36576"/>
          </a:xfrm>
          <a:prstGeom prst="rect">
            <a:avLst/>
          </a:prstGeom>
          <a:solidFill>
            <a:srgbClr val="00D4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1051560"/>
          </a:xfrm>
          <a:prstGeom prst="rect">
            <a:avLst/>
          </a:prstGeom>
          <a:noFill/>
        </p:spPr>
        <p:txBody>
          <a:bodyPr wrap="square" lIns="0" tIns="0" rIns="0" bIns="0">
            <a:spAutoFit/>
          </a:bodyPr>
          <a:lstStyle/>
          <a:p>
            <a:pPr>
              <a:defRPr sz="950" b="1">
                <a:solidFill>
                  <a:srgbClr val="00D4B2"/>
                </a:solidFill>
              </a:defRPr>
            </a:pPr>
            <a:r>
              <a:t>EXPLORATORY ANALYTICS</a:t>
            </a:r>
          </a:p>
          <a:p>
            <a:pPr>
              <a:spcBef>
                <a:spcPts val="200"/>
              </a:spcBef>
              <a:defRPr sz="2100" b="1">
                <a:solidFill>
                  <a:srgbClr val="FFFFFF"/>
                </a:solidFill>
              </a:defRPr>
            </a:pPr>
            <a:r>
              <a:t>Machine Learning Triage &amp; Latency Analytics</a:t>
            </a:r>
          </a:p>
          <a:p>
            <a:pPr>
              <a:spcBef>
                <a:spcPts val="200"/>
              </a:spcBef>
              <a:defRPr sz="1100">
                <a:solidFill>
                  <a:srgbClr val="94A3B8"/>
                </a:solidFill>
              </a:defRPr>
            </a:pPr>
            <a:r>
              <a:t>Balanced Random Forest feature prioritization and mandatory disclosure of retrospective temporal leakage</a:t>
            </a:r>
          </a:p>
        </p:txBody>
      </p:sp>
      <p:sp>
        <p:nvSpPr>
          <p:cNvPr id="4" name="Rounded Rectangle 3"/>
          <p:cNvSpPr/>
          <p:nvPr/>
        </p:nvSpPr>
        <p:spPr>
          <a:xfrm>
            <a:off x="731520" y="1554480"/>
            <a:ext cx="5120640" cy="4709160"/>
          </a:xfrm>
          <a:prstGeom prst="roundRect">
            <a:avLst/>
          </a:prstGeom>
          <a:solidFill>
            <a:srgbClr val="0F243A"/>
          </a:solidFill>
          <a:ln w="12700">
            <a:solidFill>
              <a:srgbClr val="1E40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91640"/>
            <a:ext cx="4754880" cy="4389120"/>
          </a:xfrm>
          <a:prstGeom prst="rect">
            <a:avLst/>
          </a:prstGeom>
          <a:noFill/>
        </p:spPr>
        <p:txBody>
          <a:bodyPr wrap="square">
            <a:spAutoFit/>
          </a:bodyPr>
          <a:lstStyle/>
          <a:p>
            <a:pPr>
              <a:defRPr sz="1100" b="1">
                <a:solidFill>
                  <a:srgbClr val="00D4B2"/>
                </a:solidFill>
              </a:defRPr>
            </a:pPr>
            <a:r>
              <a:t>BALANCED RANDOM FOREST (pipeline/ml_evaluator.py)</a:t>
            </a:r>
          </a:p>
          <a:p>
            <a:pPr>
              <a:spcBef>
                <a:spcPts val="400"/>
              </a:spcBef>
              <a:defRPr sz="950" b="1">
                <a:solidFill>
                  <a:srgbClr val="FFFFFF"/>
                </a:solidFill>
              </a:defRPr>
            </a:pPr>
            <a:r>
              <a:t>• Model Performance on 20% Stratified Test Split:</a:t>
            </a:r>
          </a:p>
          <a:p>
            <a:pPr>
              <a:spcBef>
                <a:spcPts val="200"/>
              </a:spcBef>
              <a:defRPr sz="1000" b="1">
                <a:solidFill>
                  <a:srgbClr val="38BDF8"/>
                </a:solidFill>
              </a:defRPr>
            </a:pPr>
            <a:r>
              <a:t>   - AUROC: 0.857  |  Brier Calibration Score: 0.1508</a:t>
            </a:r>
          </a:p>
          <a:p>
            <a:pPr>
              <a:spcBef>
                <a:spcPts val="600"/>
              </a:spcBef>
              <a:defRPr sz="950" b="1">
                <a:solidFill>
                  <a:srgbClr val="FFFFFF"/>
                </a:solidFill>
              </a:defRPr>
            </a:pPr>
            <a:r>
              <a:t>• Feature Importance Ranking across 7 Metadata Features:</a:t>
            </a:r>
          </a:p>
          <a:p>
            <a:pPr>
              <a:spcBef>
                <a:spcPts val="100"/>
              </a:spcBef>
              <a:defRPr sz="800">
                <a:solidFill>
                  <a:srgbClr val="F1F5F9"/>
                </a:solidFill>
              </a:defRPr>
            </a:pPr>
            <a:r>
              <a:t>   1. Review Status Stars: 0.32 weight (most predictive: 0-star has highest risk)</a:t>
            </a:r>
          </a:p>
          <a:p>
            <a:pPr>
              <a:spcBef>
                <a:spcPts val="100"/>
              </a:spcBef>
              <a:defRPr sz="800">
                <a:solidFill>
                  <a:srgbClr val="F1F5F9"/>
                </a:solidFill>
              </a:defRPr>
            </a:pPr>
            <a:r>
              <a:t>   • Total Submitter Count: 0.24 weight (single-submitter assertions are vulnerable)</a:t>
            </a:r>
          </a:p>
          <a:p>
            <a:pPr>
              <a:spcBef>
                <a:spcPts val="100"/>
              </a:spcBef>
              <a:defRPr sz="800">
                <a:solidFill>
                  <a:srgbClr val="F1F5F9"/>
                </a:solidFill>
              </a:defRPr>
            </a:pPr>
            <a:r>
              <a:t>   • In Silico Consensus: 0.18 weight (in silico tools disagree with refuted biology)</a:t>
            </a:r>
          </a:p>
          <a:p>
            <a:pPr>
              <a:spcBef>
                <a:spcPts val="100"/>
              </a:spcBef>
              <a:defRPr sz="800">
                <a:solidFill>
                  <a:srgbClr val="F1F5F9"/>
                </a:solidFill>
              </a:defRPr>
            </a:pPr>
            <a:r>
              <a:t>   • gnomAD Max Allele Freq: 0.11 weight (high AF flags benign polymorphisms)</a:t>
            </a:r>
          </a:p>
          <a:p>
            <a:pPr>
              <a:spcBef>
                <a:spcPts val="100"/>
              </a:spcBef>
              <a:defRPr sz="800">
                <a:solidFill>
                  <a:srgbClr val="F1F5F9"/>
                </a:solidFill>
              </a:defRPr>
            </a:pPr>
            <a:r>
              <a:t>   • Assertion Age (Days): 0.08 weight (older unreviewed assertions drift)</a:t>
            </a:r>
          </a:p>
          <a:p>
            <a:pPr>
              <a:spcBef>
                <a:spcPts val="100"/>
              </a:spcBef>
              <a:defRPr sz="800">
                <a:solidFill>
                  <a:srgbClr val="F1F5F9"/>
                </a:solidFill>
              </a:defRPr>
            </a:pPr>
            <a:r>
              <a:t>   • Panel Count: 0.05 weight (number of diagnostic panels including gene)</a:t>
            </a:r>
          </a:p>
          <a:p>
            <a:pPr>
              <a:spcBef>
                <a:spcPts val="100"/>
              </a:spcBef>
              <a:defRPr sz="800">
                <a:solidFill>
                  <a:srgbClr val="F1F5F9"/>
                </a:solidFill>
              </a:defRPr>
            </a:pPr>
            <a:r>
              <a:t>   • Literature Count: 0.02 weight (number of linked PubMed citations)</a:t>
            </a:r>
          </a:p>
        </p:txBody>
      </p:sp>
      <p:sp>
        <p:nvSpPr>
          <p:cNvPr id="6" name="Rounded Rectangle 5"/>
          <p:cNvSpPr/>
          <p:nvPr/>
        </p:nvSpPr>
        <p:spPr>
          <a:xfrm>
            <a:off x="6181344" y="1517904"/>
            <a:ext cx="5315407" cy="2999232"/>
          </a:xfrm>
          <a:prstGeom prst="roundRect">
            <a:avLst/>
          </a:prstGeom>
          <a:solidFill>
            <a:srgbClr val="0B1B2E"/>
          </a:solidFill>
          <a:ln w="12700">
            <a:solidFill>
              <a:srgbClr val="1E40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ropped_s11_forecast_roc_features.png"/>
          <p:cNvPicPr>
            <a:picLocks noChangeAspect="1"/>
          </p:cNvPicPr>
          <p:nvPr/>
        </p:nvPicPr>
        <p:blipFill>
          <a:blip r:embed="rId2"/>
          <a:stretch>
            <a:fillRect/>
          </a:stretch>
        </p:blipFill>
        <p:spPr>
          <a:xfrm>
            <a:off x="6217920" y="1554480"/>
            <a:ext cx="5242255" cy="2926080"/>
          </a:xfrm>
          <a:prstGeom prst="rect">
            <a:avLst/>
          </a:prstGeom>
        </p:spPr>
      </p:pic>
      <p:sp>
        <p:nvSpPr>
          <p:cNvPr id="8" name="Rounded Rectangle 7"/>
          <p:cNvSpPr/>
          <p:nvPr/>
        </p:nvSpPr>
        <p:spPr>
          <a:xfrm>
            <a:off x="6217920" y="4617720"/>
            <a:ext cx="5242255" cy="1645920"/>
          </a:xfrm>
          <a:prstGeom prst="roundRect">
            <a:avLst/>
          </a:prstGeom>
          <a:solidFill>
            <a:srgbClr val="16375A"/>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4709160"/>
            <a:ext cx="4876495" cy="1463040"/>
          </a:xfrm>
          <a:prstGeom prst="rect">
            <a:avLst/>
          </a:prstGeom>
          <a:noFill/>
        </p:spPr>
        <p:txBody>
          <a:bodyPr wrap="square">
            <a:spAutoFit/>
          </a:bodyPr>
          <a:lstStyle/>
          <a:p>
            <a:pPr>
              <a:defRPr sz="1000" b="1">
                <a:solidFill>
                  <a:srgbClr val="EF4444"/>
                </a:solidFill>
              </a:defRPr>
            </a:pPr>
            <a:r>
              <a:t>⚠️ MANDATORY SCIENTIFIC DISCLOSURE: TEMPORAL DATA LEAKAGE</a:t>
            </a:r>
          </a:p>
          <a:p>
            <a:pPr>
              <a:spcBef>
                <a:spcPts val="300"/>
              </a:spcBef>
              <a:defRPr sz="850">
                <a:solidFill>
                  <a:srgbClr val="FFFFFF"/>
                </a:solidFill>
              </a:defRPr>
            </a:pPr>
            <a:r>
              <a:t>This model was evaluated on a contemporary static snapshot (2024/2026), not historically reconstructed pre-downgrade databases. Metadata features contain retrospective temporal leakage. We present this model strictly as an exploratory feature-importance triage tool, never as a prospectively validated clinical predictor.</a:t>
            </a:r>
          </a:p>
        </p:txBody>
      </p:sp>
      <p:sp>
        <p:nvSpPr>
          <p:cNvPr id="10" name="TextBox 9"/>
          <p:cNvSpPr txBox="1"/>
          <p:nvPr/>
        </p:nvSpPr>
        <p:spPr>
          <a:xfrm>
            <a:off x="731520" y="6473952"/>
            <a:ext cx="10728655" cy="274320"/>
          </a:xfrm>
          <a:prstGeom prst="rect">
            <a:avLst/>
          </a:prstGeom>
          <a:noFill/>
        </p:spPr>
        <p:txBody>
          <a:bodyPr wrap="square" lIns="0" tIns="0" rIns="0" bIns="0">
            <a:spAutoFit/>
          </a:bodyPr>
          <a:lstStyle/>
          <a:p>
            <a:pPr>
              <a:defRPr sz="850">
                <a:solidFill>
                  <a:srgbClr val="64748B"/>
                </a:solidFill>
              </a:defRPr>
            </a:pPr>
            <a:r>
              <a:t>CuraCascade V2  |  Academic Defense  |  VIT School of Computer Science &amp; Engineering  |  Slide 23 of 25</a:t>
            </a:r>
          </a:p>
        </p:txBody>
      </p:sp>
    </p:spTree>
  </p:cSld>
  <p:clrMapOvr>
    <a:masterClrMapping/>
  </p:clrMapOvr>
  <p:transition spd="med">
    <p:fade/>
  </p:transition>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71426"/>
        </a:solidFill>
        <a:effectLst/>
      </p:bgPr>
    </p:bg>
    <p:spTree>
      <p:nvGrpSpPr>
        <p:cNvPr id="1" name=""/>
        <p:cNvGrpSpPr/>
        <p:nvPr/>
      </p:nvGrpSpPr>
      <p:grpSpPr/>
      <p:sp>
        <p:nvSpPr>
          <p:cNvPr id="2" name="Rectangle 1"/>
          <p:cNvSpPr/>
          <p:nvPr/>
        </p:nvSpPr>
        <p:spPr>
          <a:xfrm>
            <a:off x="731520" y="0"/>
            <a:ext cx="10728655" cy="36576"/>
          </a:xfrm>
          <a:prstGeom prst="rect">
            <a:avLst/>
          </a:prstGeom>
          <a:solidFill>
            <a:srgbClr val="00D4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1051560"/>
          </a:xfrm>
          <a:prstGeom prst="rect">
            <a:avLst/>
          </a:prstGeom>
          <a:noFill/>
        </p:spPr>
        <p:txBody>
          <a:bodyPr wrap="square" lIns="0" tIns="0" rIns="0" bIns="0">
            <a:spAutoFit/>
          </a:bodyPr>
          <a:lstStyle/>
          <a:p>
            <a:pPr>
              <a:defRPr sz="950" b="1">
                <a:solidFill>
                  <a:srgbClr val="00D4B2"/>
                </a:solidFill>
              </a:defRPr>
            </a:pPr>
            <a:r>
              <a:t>ENGINEERING RIGOR</a:t>
            </a:r>
          </a:p>
          <a:p>
            <a:pPr>
              <a:spcBef>
                <a:spcPts val="200"/>
              </a:spcBef>
              <a:defRPr sz="2100" b="1">
                <a:solidFill>
                  <a:srgbClr val="FFFFFF"/>
                </a:solidFill>
              </a:defRPr>
            </a:pPr>
            <a:r>
              <a:t>Engineering Rigor, Reproducibility &amp; Future Roadmap</a:t>
            </a:r>
          </a:p>
          <a:p>
            <a:pPr>
              <a:spcBef>
                <a:spcPts val="200"/>
              </a:spcBef>
              <a:defRPr sz="1100">
                <a:solidFill>
                  <a:srgbClr val="94A3B8"/>
                </a:solidFill>
              </a:defRPr>
            </a:pPr>
            <a:r>
              <a:t>Automated verification suite, database storage performance, and a clear three-phase research roadmap</a:t>
            </a:r>
          </a:p>
        </p:txBody>
      </p:sp>
      <p:sp>
        <p:nvSpPr>
          <p:cNvPr id="4" name="Rounded Rectangle 3"/>
          <p:cNvSpPr/>
          <p:nvPr/>
        </p:nvSpPr>
        <p:spPr>
          <a:xfrm>
            <a:off x="731520" y="1554480"/>
            <a:ext cx="5212080" cy="2240280"/>
          </a:xfrm>
          <a:prstGeom prst="roundRect">
            <a:avLst/>
          </a:prstGeom>
          <a:solidFill>
            <a:srgbClr val="0F243A"/>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91640"/>
            <a:ext cx="4846320" cy="1920240"/>
          </a:xfrm>
          <a:prstGeom prst="rect">
            <a:avLst/>
          </a:prstGeom>
          <a:noFill/>
        </p:spPr>
        <p:txBody>
          <a:bodyPr wrap="square">
            <a:spAutoFit/>
          </a:bodyPr>
          <a:lstStyle/>
          <a:p>
            <a:pPr>
              <a:defRPr sz="1100" b="1">
                <a:solidFill>
                  <a:srgbClr val="10B981"/>
                </a:solidFill>
              </a:defRPr>
            </a:pPr>
            <a:r>
              <a:t>AUTOMATED TEST SUITE (pytest -v)</a:t>
            </a:r>
          </a:p>
          <a:p>
            <a:pPr>
              <a:spcBef>
                <a:spcPts val="300"/>
              </a:spcBef>
              <a:defRPr sz="1300" b="1">
                <a:solidFill>
                  <a:srgbClr val="FFFFFF"/>
                </a:solidFill>
              </a:defRPr>
            </a:pPr>
            <a:r>
              <a:t>47 / 47 Tests Passed in 54.12s on Python 3.13</a:t>
            </a:r>
          </a:p>
          <a:p>
            <a:pPr>
              <a:spcBef>
                <a:spcPts val="200"/>
              </a:spcBef>
              <a:defRPr sz="850">
                <a:solidFill>
                  <a:srgbClr val="F1F5F9"/>
                </a:solidFill>
              </a:defRPr>
            </a:pPr>
            <a:r>
              <a:t>• tests/test_database.py: 3NF schemas, foreign keys, cascades, indexes.</a:t>
            </a:r>
          </a:p>
          <a:p>
            <a:pPr>
              <a:spcBef>
                <a:spcPts val="200"/>
              </a:spcBef>
              <a:defRPr sz="850">
                <a:solidFill>
                  <a:srgbClr val="F1F5F9"/>
                </a:solidFill>
              </a:defRPr>
            </a:pPr>
            <a:r>
              <a:t>• tests/test_ingestion.py: Parsers, corrupted line trapping, SHA-256.</a:t>
            </a:r>
          </a:p>
          <a:p>
            <a:pPr>
              <a:spcBef>
                <a:spcPts val="200"/>
              </a:spcBef>
              <a:defRPr sz="850">
                <a:solidFill>
                  <a:srgbClr val="F1F5F9"/>
                </a:solidFill>
              </a:defRPr>
            </a:pPr>
            <a:r>
              <a:t>• tests/test_audit_engine.py: Class A/B/C logic, crosswalks, refusal.</a:t>
            </a:r>
          </a:p>
          <a:p>
            <a:pPr>
              <a:spcBef>
                <a:spcPts val="200"/>
              </a:spcBef>
              <a:defRPr sz="850">
                <a:solidFill>
                  <a:srgbClr val="F1F5F9"/>
                </a:solidFill>
              </a:defRPr>
            </a:pPr>
            <a:r>
              <a:t>• tests/test_benchmark.py: Label firewall, confusion arithmetic, Wilson CIs.</a:t>
            </a:r>
          </a:p>
        </p:txBody>
      </p:sp>
      <p:sp>
        <p:nvSpPr>
          <p:cNvPr id="6" name="Rounded Rectangle 5"/>
          <p:cNvSpPr/>
          <p:nvPr/>
        </p:nvSpPr>
        <p:spPr>
          <a:xfrm>
            <a:off x="6248095" y="1554480"/>
            <a:ext cx="5212080" cy="2240280"/>
          </a:xfrm>
          <a:prstGeom prst="roundRect">
            <a:avLst/>
          </a:prstGeom>
          <a:solidFill>
            <a:srgbClr val="0F243A"/>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46520" y="1691640"/>
            <a:ext cx="4846320" cy="1920240"/>
          </a:xfrm>
          <a:prstGeom prst="rect">
            <a:avLst/>
          </a:prstGeom>
          <a:noFill/>
        </p:spPr>
        <p:txBody>
          <a:bodyPr wrap="square">
            <a:spAutoFit/>
          </a:bodyPr>
          <a:lstStyle/>
          <a:p>
            <a:pPr>
              <a:defRPr sz="1100" b="1">
                <a:solidFill>
                  <a:srgbClr val="38BDF8"/>
                </a:solidFill>
              </a:defRPr>
            </a:pPr>
            <a:r>
              <a:t>DUAL DATABASE STORAGE EFFICIENCY</a:t>
            </a:r>
          </a:p>
          <a:p>
            <a:pPr>
              <a:spcBef>
                <a:spcPts val="200"/>
              </a:spcBef>
              <a:defRPr sz="850">
                <a:solidFill>
                  <a:srgbClr val="F1F5F9"/>
                </a:solidFill>
              </a:defRPr>
            </a:pPr>
            <a:r>
              <a:t>• curacascade.db (Showcase): 136 KB SQLite file, 36 genes, 46 variants, sub-1ms lookups.</a:t>
            </a:r>
          </a:p>
          <a:p>
            <a:pPr>
              <a:spcBef>
                <a:spcPts val="200"/>
              </a:spcBef>
              <a:defRPr sz="850">
                <a:solidFill>
                  <a:srgbClr val="F1F5F9"/>
                </a:solidFill>
              </a:defRPr>
            </a:pPr>
            <a:r>
              <a:t>• curacascade_full.db (Full Corpus): 48.2 MB SQLite file, 3,033 genes, 51,251 findings, sub-10ms queries.</a:t>
            </a:r>
          </a:p>
          <a:p>
            <a:pPr>
              <a:spcBef>
                <a:spcPts val="200"/>
              </a:spcBef>
              <a:defRPr sz="850">
                <a:solidFill>
                  <a:srgbClr val="F1F5F9"/>
                </a:solidFill>
              </a:defRPr>
            </a:pPr>
            <a:r>
              <a:t>• DuckDB Vectorized Analytics: Scans 51,251 findings and computes quantiles in 12ms (33x faster).</a:t>
            </a:r>
          </a:p>
          <a:p>
            <a:pPr>
              <a:spcBef>
                <a:spcPts val="200"/>
              </a:spcBef>
              <a:defRPr sz="850">
                <a:solidFill>
                  <a:srgbClr val="F1F5F9"/>
                </a:solidFill>
              </a:defRPr>
            </a:pPr>
            <a:r>
              <a:t>• ACID Integrity: WAL mode enabled, zero lock contention during concurrent Streamlit reads.</a:t>
            </a:r>
          </a:p>
        </p:txBody>
      </p:sp>
      <p:sp>
        <p:nvSpPr>
          <p:cNvPr id="8" name="Rounded Rectangle 7"/>
          <p:cNvSpPr/>
          <p:nvPr/>
        </p:nvSpPr>
        <p:spPr>
          <a:xfrm>
            <a:off x="731520" y="3977639"/>
            <a:ext cx="3429000" cy="2286000"/>
          </a:xfrm>
          <a:prstGeom prst="roundRect">
            <a:avLst/>
          </a:prstGeom>
          <a:solidFill>
            <a:srgbClr val="0F243A"/>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4114800"/>
            <a:ext cx="3154680" cy="2011680"/>
          </a:xfrm>
          <a:prstGeom prst="rect">
            <a:avLst/>
          </a:prstGeom>
          <a:noFill/>
        </p:spPr>
        <p:txBody>
          <a:bodyPr wrap="square">
            <a:spAutoFit/>
          </a:bodyPr>
          <a:lstStyle/>
          <a:p>
            <a:pPr>
              <a:defRPr sz="1000" b="1">
                <a:solidFill>
                  <a:srgbClr val="38BDF8"/>
                </a:solidFill>
              </a:defRPr>
            </a:pPr>
            <a:r>
              <a:t>PHASE 1: REAL-TIME WEBHOOKS</a:t>
            </a:r>
          </a:p>
          <a:p>
            <a:pPr>
              <a:spcBef>
                <a:spcPts val="200"/>
              </a:spcBef>
              <a:defRPr sz="850" b="1">
                <a:solidFill>
                  <a:srgbClr val="FFFFFF"/>
                </a:solidFill>
              </a:defRPr>
            </a:pPr>
            <a:r>
              <a:t>Live ClinGen GraphQL API</a:t>
            </a:r>
          </a:p>
          <a:p>
            <a:pPr>
              <a:spcBef>
                <a:spcPts val="500"/>
              </a:spcBef>
              <a:defRPr sz="800">
                <a:solidFill>
                  <a:srgbClr val="94A3B8"/>
                </a:solidFill>
              </a:defRPr>
            </a:pPr>
            <a:r>
              <a:t>Replace periodic downloads with automated webhooks for instant zero-day discrepancy alerting.</a:t>
            </a:r>
          </a:p>
        </p:txBody>
      </p:sp>
      <p:sp>
        <p:nvSpPr>
          <p:cNvPr id="10" name="Rounded Rectangle 9"/>
          <p:cNvSpPr/>
          <p:nvPr/>
        </p:nvSpPr>
        <p:spPr>
          <a:xfrm>
            <a:off x="4379976" y="3977639"/>
            <a:ext cx="3429000" cy="2286000"/>
          </a:xfrm>
          <a:prstGeom prst="roundRect">
            <a:avLst/>
          </a:prstGeom>
          <a:solidFill>
            <a:srgbClr val="0F243A"/>
          </a:solidFill>
          <a:ln w="12700">
            <a:solidFill>
              <a:srgbClr val="00D4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17136" y="4114800"/>
            <a:ext cx="3154680" cy="2011680"/>
          </a:xfrm>
          <a:prstGeom prst="rect">
            <a:avLst/>
          </a:prstGeom>
          <a:noFill/>
        </p:spPr>
        <p:txBody>
          <a:bodyPr wrap="square">
            <a:spAutoFit/>
          </a:bodyPr>
          <a:lstStyle/>
          <a:p>
            <a:pPr>
              <a:defRPr sz="1000" b="1">
                <a:solidFill>
                  <a:srgbClr val="00D4B2"/>
                </a:solidFill>
              </a:defRPr>
            </a:pPr>
            <a:r>
              <a:t>PHASE 2: LLM-ASSISTED CURATION</a:t>
            </a:r>
          </a:p>
          <a:p>
            <a:pPr>
              <a:spcBef>
                <a:spcPts val="200"/>
              </a:spcBef>
              <a:defRPr sz="850" b="1">
                <a:solidFill>
                  <a:srgbClr val="FFFFFF"/>
                </a:solidFill>
              </a:defRPr>
            </a:pPr>
            <a:r>
              <a:t>Extractive Evidence Synthesis</a:t>
            </a:r>
          </a:p>
          <a:p>
            <a:pPr>
              <a:spcBef>
                <a:spcPts val="500"/>
              </a:spcBef>
              <a:defRPr sz="800">
                <a:solidFill>
                  <a:srgbClr val="94A3B8"/>
                </a:solidFill>
              </a:defRPr>
            </a:pPr>
            <a:r>
              <a:t>RAG pipeline querying open-access PubMed literature to extract proband counts and segregation data.</a:t>
            </a:r>
          </a:p>
        </p:txBody>
      </p:sp>
      <p:sp>
        <p:nvSpPr>
          <p:cNvPr id="12" name="Rounded Rectangle 11"/>
          <p:cNvSpPr/>
          <p:nvPr/>
        </p:nvSpPr>
        <p:spPr>
          <a:xfrm>
            <a:off x="8028432" y="3977639"/>
            <a:ext cx="3429000" cy="2286000"/>
          </a:xfrm>
          <a:prstGeom prst="roundRect">
            <a:avLst/>
          </a:prstGeom>
          <a:solidFill>
            <a:srgbClr val="0F243A"/>
          </a:solidFill>
          <a:ln w="1270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65592" y="4114800"/>
            <a:ext cx="3154680" cy="2011680"/>
          </a:xfrm>
          <a:prstGeom prst="rect">
            <a:avLst/>
          </a:prstGeom>
          <a:noFill/>
        </p:spPr>
        <p:txBody>
          <a:bodyPr wrap="square">
            <a:spAutoFit/>
          </a:bodyPr>
          <a:lstStyle/>
          <a:p>
            <a:pPr>
              <a:defRPr sz="1000" b="1">
                <a:solidFill>
                  <a:srgbClr val="A855F7"/>
                </a:solidFill>
              </a:defRPr>
            </a:pPr>
            <a:r>
              <a:t>PHASE 3: PATIENT CHART MATCHING</a:t>
            </a:r>
          </a:p>
          <a:p>
            <a:pPr>
              <a:spcBef>
                <a:spcPts val="200"/>
              </a:spcBef>
              <a:defRPr sz="850" b="1">
                <a:solidFill>
                  <a:srgbClr val="FFFFFF"/>
                </a:solidFill>
              </a:defRPr>
            </a:pPr>
            <a:r>
              <a:t>GA4GH Phenopackets &amp; HPO</a:t>
            </a:r>
          </a:p>
          <a:p>
            <a:pPr>
              <a:spcBef>
                <a:spcPts val="500"/>
              </a:spcBef>
              <a:defRPr sz="800">
                <a:solidFill>
                  <a:srgbClr val="94A3B8"/>
                </a:solidFill>
              </a:defRPr>
            </a:pPr>
            <a:r>
              <a:t>Integrate Human Phenotype Ontology terms to audit de-identified electronic patient records directly.</a:t>
            </a:r>
          </a:p>
        </p:txBody>
      </p:sp>
      <p:sp>
        <p:nvSpPr>
          <p:cNvPr id="14" name="TextBox 13"/>
          <p:cNvSpPr txBox="1"/>
          <p:nvPr/>
        </p:nvSpPr>
        <p:spPr>
          <a:xfrm>
            <a:off x="731520" y="6473952"/>
            <a:ext cx="10728655" cy="274320"/>
          </a:xfrm>
          <a:prstGeom prst="rect">
            <a:avLst/>
          </a:prstGeom>
          <a:noFill/>
        </p:spPr>
        <p:txBody>
          <a:bodyPr wrap="square" lIns="0" tIns="0" rIns="0" bIns="0">
            <a:spAutoFit/>
          </a:bodyPr>
          <a:lstStyle/>
          <a:p>
            <a:pPr>
              <a:defRPr sz="850">
                <a:solidFill>
                  <a:srgbClr val="64748B"/>
                </a:solidFill>
              </a:defRPr>
            </a:pPr>
            <a:r>
              <a:t>CuraCascade V2  |  Academic Defense  |  VIT School of Computer Science &amp; Engineering  |  Slide 24 of 25</a:t>
            </a:r>
          </a:p>
        </p:txBody>
      </p:sp>
    </p:spTree>
  </p:cSld>
  <p:clrMapOvr>
    <a:masterClrMapping/>
  </p:clrMapOvr>
  <p:transition spd="med">
    <p:fade/>
  </p:transition>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71426"/>
        </a:solidFill>
        <a:effectLst/>
      </p:bgPr>
    </p:bg>
    <p:spTree>
      <p:nvGrpSpPr>
        <p:cNvPr id="1" name=""/>
        <p:cNvGrpSpPr/>
        <p:nvPr/>
      </p:nvGrpSpPr>
      <p:grpSpPr/>
      <p:sp>
        <p:nvSpPr>
          <p:cNvPr id="2" name="Rectangle 1"/>
          <p:cNvSpPr/>
          <p:nvPr/>
        </p:nvSpPr>
        <p:spPr>
          <a:xfrm>
            <a:off x="731520" y="0"/>
            <a:ext cx="10728655" cy="36576"/>
          </a:xfrm>
          <a:prstGeom prst="rect">
            <a:avLst/>
          </a:prstGeom>
          <a:solidFill>
            <a:srgbClr val="00D4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1051560"/>
          </a:xfrm>
          <a:prstGeom prst="rect">
            <a:avLst/>
          </a:prstGeom>
          <a:noFill/>
        </p:spPr>
        <p:txBody>
          <a:bodyPr wrap="square" lIns="0" tIns="0" rIns="0" bIns="0">
            <a:spAutoFit/>
          </a:bodyPr>
          <a:lstStyle/>
          <a:p>
            <a:pPr>
              <a:defRPr sz="950" b="1">
                <a:solidFill>
                  <a:srgbClr val="00D4B2"/>
                </a:solidFill>
              </a:defRPr>
            </a:pPr>
            <a:r>
              <a:t>CONCLUSION</a:t>
            </a:r>
          </a:p>
          <a:p>
            <a:pPr>
              <a:spcBef>
                <a:spcPts val="200"/>
              </a:spcBef>
              <a:defRPr sz="2100" b="1">
                <a:solidFill>
                  <a:srgbClr val="FFFFFF"/>
                </a:solidFill>
              </a:defRPr>
            </a:pPr>
            <a:r>
              <a:t>Academic Defense Summary &amp; Conclusion</a:t>
            </a:r>
          </a:p>
          <a:p>
            <a:pPr>
              <a:spcBef>
                <a:spcPts val="200"/>
              </a:spcBef>
              <a:defRPr sz="1100">
                <a:solidFill>
                  <a:srgbClr val="94A3B8"/>
                </a:solidFill>
              </a:defRPr>
            </a:pPr>
            <a:r>
              <a:t>Summary of verified contributions, project resources, and open invitation for committee questions</a:t>
            </a:r>
          </a:p>
        </p:txBody>
      </p:sp>
      <p:sp>
        <p:nvSpPr>
          <p:cNvPr id="4" name="Rounded Rectangle 3"/>
          <p:cNvSpPr/>
          <p:nvPr/>
        </p:nvSpPr>
        <p:spPr>
          <a:xfrm>
            <a:off x="731520" y="1554480"/>
            <a:ext cx="5486400" cy="4709160"/>
          </a:xfrm>
          <a:prstGeom prst="roundRect">
            <a:avLst/>
          </a:prstGeom>
          <a:solidFill>
            <a:srgbClr val="0F243A"/>
          </a:solidFill>
          <a:ln w="12700">
            <a:solidFill>
              <a:srgbClr val="00D4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91640"/>
            <a:ext cx="5120640" cy="4389120"/>
          </a:xfrm>
          <a:prstGeom prst="rect">
            <a:avLst/>
          </a:prstGeom>
          <a:noFill/>
        </p:spPr>
        <p:txBody>
          <a:bodyPr wrap="square">
            <a:spAutoFit/>
          </a:bodyPr>
          <a:lstStyle/>
          <a:p>
            <a:pPr>
              <a:defRPr sz="1100" b="1">
                <a:solidFill>
                  <a:srgbClr val="00D4B2"/>
                </a:solidFill>
              </a:defRPr>
            </a:pPr>
            <a:r>
              <a:t>SUMMARY OF VERIFIED THESIS CONTRIBUTIONS</a:t>
            </a:r>
          </a:p>
          <a:p>
            <a:pPr>
              <a:spcBef>
                <a:spcPts val="600"/>
              </a:spcBef>
              <a:defRPr sz="950" b="1">
                <a:solidFill>
                  <a:srgbClr val="FFFFFF"/>
                </a:solidFill>
              </a:defRPr>
            </a:pPr>
            <a:r>
              <a:t>• Evidence Drift is Real &amp; Quantified</a:t>
            </a:r>
          </a:p>
          <a:p>
            <a:pPr>
              <a:defRPr sz="850">
                <a:solidFill>
                  <a:srgbClr val="F1F5F9"/>
                </a:solidFill>
              </a:defRPr>
            </a:pPr>
            <a:r>
              <a:t>  Documented a median propagation latency of 2.82 years (1,030 days) and 182,760 patient-years across 51,251 findings.</a:t>
            </a:r>
          </a:p>
          <a:p>
            <a:pPr>
              <a:spcBef>
                <a:spcPts val="600"/>
              </a:spcBef>
              <a:defRPr sz="950" b="1">
                <a:solidFill>
                  <a:srgbClr val="FFFFFF"/>
                </a:solidFill>
              </a:defRPr>
            </a:pPr>
            <a:r>
              <a:t>• Deterministic 100% Precision Auditing</a:t>
            </a:r>
          </a:p>
          <a:p>
            <a:pPr>
              <a:defRPr sz="850">
                <a:solidFill>
                  <a:srgbClr val="F1F5F9"/>
                </a:solidFill>
              </a:defRPr>
            </a:pPr>
            <a:r>
              <a:t>  Achieved 100.0% precision and zero false alarms on our independent 94-case benchmark cohort via 4-tier disease-aware matching.</a:t>
            </a:r>
          </a:p>
          <a:p>
            <a:pPr>
              <a:spcBef>
                <a:spcPts val="600"/>
              </a:spcBef>
              <a:defRPr sz="950" b="1">
                <a:solidFill>
                  <a:srgbClr val="FFFFFF"/>
                </a:solidFill>
              </a:defRPr>
            </a:pPr>
            <a:r>
              <a:t>• Conservative Safety-First Engineering</a:t>
            </a:r>
          </a:p>
          <a:p>
            <a:pPr>
              <a:defRPr sz="850">
                <a:solidFill>
                  <a:srgbClr val="F1F5F9"/>
                </a:solidFill>
              </a:defRPr>
            </a:pPr>
            <a:r>
              <a:t>  Deliberately accepted 34.6% recall rather than guessing on ambiguous terms, preserving clinical trust.</a:t>
            </a:r>
          </a:p>
          <a:p>
            <a:pPr>
              <a:spcBef>
                <a:spcPts val="600"/>
              </a:spcBef>
              <a:defRPr sz="950" b="1">
                <a:solidFill>
                  <a:srgbClr val="FFFFFF"/>
                </a:solidFill>
              </a:defRPr>
            </a:pPr>
            <a:r>
              <a:t>• Production Cloud Deployment</a:t>
            </a:r>
          </a:p>
          <a:p>
            <a:pPr>
              <a:defRPr sz="850">
                <a:solidFill>
                  <a:srgbClr val="F1F5F9"/>
                </a:solidFill>
              </a:defRPr>
            </a:pPr>
            <a:r>
              <a:t>  Live at curacascadev2.streamlit.app with full source code public on GitHub at uditshokeen14/curacascadeV2.</a:t>
            </a:r>
          </a:p>
          <a:p>
            <a:pPr>
              <a:spcBef>
                <a:spcPts val="600"/>
              </a:spcBef>
              <a:defRPr sz="950" b="1">
                <a:solidFill>
                  <a:srgbClr val="FFFFFF"/>
                </a:solidFill>
              </a:defRPr>
            </a:pPr>
            <a:r>
              <a:t>• Rigorous Verification Suite</a:t>
            </a:r>
          </a:p>
          <a:p>
            <a:pPr>
              <a:defRPr sz="850">
                <a:solidFill>
                  <a:srgbClr val="F1F5F9"/>
                </a:solidFill>
              </a:defRPr>
            </a:pPr>
            <a:r>
              <a:t>  47 automated unit and integration tests passing in 54s on Python 3.13 with 100% success rate.</a:t>
            </a:r>
          </a:p>
        </p:txBody>
      </p:sp>
      <p:sp>
        <p:nvSpPr>
          <p:cNvPr id="6" name="Rounded Rectangle 5"/>
          <p:cNvSpPr/>
          <p:nvPr/>
        </p:nvSpPr>
        <p:spPr>
          <a:xfrm>
            <a:off x="6492240" y="1554480"/>
            <a:ext cx="4967935" cy="2240280"/>
          </a:xfrm>
          <a:prstGeom prst="roundRect">
            <a:avLst/>
          </a:prstGeom>
          <a:solidFill>
            <a:srgbClr val="0F243A"/>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75120" y="1691640"/>
            <a:ext cx="4572000" cy="1920240"/>
          </a:xfrm>
          <a:prstGeom prst="rect">
            <a:avLst/>
          </a:prstGeom>
          <a:noFill/>
        </p:spPr>
        <p:txBody>
          <a:bodyPr wrap="square">
            <a:spAutoFit/>
          </a:bodyPr>
          <a:lstStyle/>
          <a:p>
            <a:pPr>
              <a:defRPr sz="1050" b="1">
                <a:solidFill>
                  <a:srgbClr val="38BDF8"/>
                </a:solidFill>
              </a:defRPr>
            </a:pPr>
            <a:r>
              <a:t>PROJECT REPOSITORY &amp; LIVE ACCESS</a:t>
            </a:r>
          </a:p>
          <a:p>
            <a:pPr>
              <a:spcBef>
                <a:spcPts val="400"/>
              </a:spcBef>
              <a:defRPr sz="900" b="1">
                <a:solidFill>
                  <a:srgbClr val="FFFFFF"/>
                </a:solidFill>
              </a:defRPr>
            </a:pPr>
            <a:r>
              <a:t>GitHub Repository (Source of Truth):</a:t>
            </a:r>
          </a:p>
          <a:p>
            <a:pPr>
              <a:defRPr sz="950">
                <a:solidFill>
                  <a:srgbClr val="00D4B2"/>
                </a:solidFill>
              </a:defRPr>
            </a:pPr>
            <a:r>
              <a:t>https://github.com/uditshokeen14/curacascadeV2</a:t>
            </a:r>
          </a:p>
          <a:p>
            <a:pPr>
              <a:spcBef>
                <a:spcPts val="400"/>
              </a:spcBef>
              <a:defRPr sz="900" b="1">
                <a:solidFill>
                  <a:srgbClr val="FFFFFF"/>
                </a:solidFill>
              </a:defRPr>
            </a:pPr>
            <a:r>
              <a:t>Live Streamlit Cloud Deployment:</a:t>
            </a:r>
          </a:p>
          <a:p>
            <a:pPr>
              <a:defRPr sz="950">
                <a:solidFill>
                  <a:srgbClr val="38BDF8"/>
                </a:solidFill>
              </a:defRPr>
            </a:pPr>
            <a:r>
              <a:t>https://curacascadev2.streamlit.app/</a:t>
            </a:r>
          </a:p>
        </p:txBody>
      </p:sp>
      <p:sp>
        <p:nvSpPr>
          <p:cNvPr id="8" name="Rounded Rectangle 7"/>
          <p:cNvSpPr/>
          <p:nvPr/>
        </p:nvSpPr>
        <p:spPr>
          <a:xfrm>
            <a:off x="6492240" y="4023360"/>
            <a:ext cx="4967935" cy="2240280"/>
          </a:xfrm>
          <a:prstGeom prst="roundRect">
            <a:avLst/>
          </a:prstGeom>
          <a:solidFill>
            <a:srgbClr val="16375A"/>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0" y="4160520"/>
            <a:ext cx="4572000" cy="1920240"/>
          </a:xfrm>
          <a:prstGeom prst="rect">
            <a:avLst/>
          </a:prstGeom>
          <a:noFill/>
        </p:spPr>
        <p:txBody>
          <a:bodyPr wrap="square">
            <a:spAutoFit/>
          </a:bodyPr>
          <a:lstStyle/>
          <a:p>
            <a:pPr>
              <a:defRPr sz="1100" b="1">
                <a:solidFill>
                  <a:srgbClr val="10B981"/>
                </a:solidFill>
              </a:defRPr>
            </a:pPr>
            <a:r>
              <a:t>DEFENSE CONCLUSION &amp; VIVA VOCE</a:t>
            </a:r>
          </a:p>
          <a:p>
            <a:pPr>
              <a:spcBef>
                <a:spcPts val="600"/>
              </a:spcBef>
              <a:defRPr sz="950">
                <a:solidFill>
                  <a:srgbClr val="FFFFFF"/>
                </a:solidFill>
              </a:defRPr>
            </a:pPr>
            <a:r>
              <a:t>Thank you to the examination committee, faculty members, and research mentors at VIT Vellore.</a:t>
            </a:r>
            <a:br/>
            <a:br/>
            <a:r>
              <a:t>CuraCascade V2 establishes a reproducible, evidence-based foundation for automated genomic database auditing.</a:t>
            </a:r>
            <a:br/>
            <a:br/>
            <a:r>
              <a:t>I am now ready to receive your questions.</a:t>
            </a:r>
          </a:p>
        </p:txBody>
      </p:sp>
      <p:sp>
        <p:nvSpPr>
          <p:cNvPr id="10" name="TextBox 9"/>
          <p:cNvSpPr txBox="1"/>
          <p:nvPr/>
        </p:nvSpPr>
        <p:spPr>
          <a:xfrm>
            <a:off x="731520" y="6473952"/>
            <a:ext cx="10728655" cy="274320"/>
          </a:xfrm>
          <a:prstGeom prst="rect">
            <a:avLst/>
          </a:prstGeom>
          <a:noFill/>
        </p:spPr>
        <p:txBody>
          <a:bodyPr wrap="square" lIns="0" tIns="0" rIns="0" bIns="0">
            <a:spAutoFit/>
          </a:bodyPr>
          <a:lstStyle/>
          <a:p>
            <a:pPr>
              <a:defRPr sz="850">
                <a:solidFill>
                  <a:srgbClr val="64748B"/>
                </a:solidFill>
              </a:defRPr>
            </a:pPr>
            <a:r>
              <a:t>CuraCascade V2  |  Academic Defense  |  VIT School of Computer Science &amp; Engineering  |  Slide 25 of 25</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